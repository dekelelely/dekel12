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DIAGRAM – how one AI question uses water and power (simplified)</a:t>
            </a:r>
          </a:p>
          <a:p>
            <a:endParaRPr lang="en-US" dirty="0"/>
          </a:p>
          <a:p>
            <a:r>
              <a:rPr lang="en-US" dirty="0"/>
              <a:t>1. You ask a question on your PC. It travels over the internet to a data center.</a:t>
            </a:r>
          </a:p>
          <a:p>
            <a:r>
              <a:rPr lang="en-US" dirty="0"/>
              <a:t>2–3. In the data center, AI chips do billions of calculations to write the answer.</a:t>
            </a:r>
          </a:p>
          <a:p>
            <a:r>
              <a:rPr lang="en-US" dirty="0"/>
              <a:t>4. All that work turns electricity into heat. The chips get hot.</a:t>
            </a:r>
          </a:p>
          <a:p>
            <a:r>
              <a:rPr lang="en-US" dirty="0"/>
              <a:t>5. Cooling: many data centers cool the chips by letting water evaporate in cooling towers. That water leaves as vapor.</a:t>
            </a:r>
          </a:p>
          <a:p>
            <a:r>
              <a:rPr lang="en-US" dirty="0"/>
              <a:t>6. The vapor rises, cools and forms clouds. It falls again as rain.</a:t>
            </a:r>
          </a:p>
          <a:p>
            <a:r>
              <a:rPr lang="en-US" dirty="0"/>
              <a:t>7. Rain flows through rivers to the sea.</a:t>
            </a:r>
          </a:p>
          <a:p>
            <a:r>
              <a:rPr lang="en-US" dirty="0"/>
              <a:t>8. Desalination plants turn sea water into fresh water. In Israel, most tap water comes from desalination. Fresh water goes back to the data center for cooling, so the circle closes.</a:t>
            </a:r>
          </a:p>
          <a:p>
            <a:r>
              <a:rPr lang="en-US" dirty="0"/>
              <a:t>Power plant: makes the electricity for the data center AND for the desalination plant. Here, water falling from a dam spins a turbine: its kinetic energy becomes electricity.</a:t>
            </a:r>
          </a:p>
          <a:p>
            <a:endParaRPr lang="en-US" dirty="0"/>
          </a:p>
          <a:p>
            <a:r>
              <a:rPr lang="en-US" b="1" dirty="0"/>
              <a:t>Be honest if asked: most electricity, especially in Israel, comes from gas plants. They heat water into steam, and the moving steam spins the turbine. These plants also evaporate cooling water. That is the off-site water on Slide 2 (about 12 times more than the data centers use on-site in the US).</a:t>
            </a:r>
          </a:p>
          <a:p>
            <a:r>
              <a:rPr lang="en-US" dirty="0"/>
              <a:t>Simplified: real water takes days to years to go around the cycle, and the rain does not fall back on the same data center.</a:t>
            </a:r>
          </a:p>
          <a:p>
            <a:r>
              <a:rPr lang="en-US" dirty="0"/>
              <a:t>Background: a blurred AI-generated image of a server hall.</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slideLayout" Target="../slideLayouts/slideLayout1.xml"/><Relationship Id="rId14"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365760" y="274320"/>
            <a:ext cx="1143000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How One AI Question Uses Water and Power</a:t>
            </a:r>
            <a:endParaRPr lang="en-US" sz="3400" dirty="0"/>
          </a:p>
        </p:txBody>
      </p:sp>
      <p:sp>
        <p:nvSpPr>
          <p:cNvPr id="3" name="Shape 1"/>
          <p:cNvSpPr/>
          <p:nvPr/>
        </p:nvSpPr>
        <p:spPr>
          <a:xfrm>
            <a:off x="2231136" y="5303520"/>
            <a:ext cx="429768" cy="0"/>
          </a:xfrm>
          <a:prstGeom prst="line">
            <a:avLst/>
          </a:prstGeom>
          <a:noFill/>
          <a:ln w="34925">
            <a:solidFill>
              <a:srgbClr val="C9D6E2"/>
            </a:solidFill>
            <a:prstDash val="solid"/>
            <a:tailEnd type="triangle"/>
          </a:ln>
        </p:spPr>
      </p:sp>
      <p:sp>
        <p:nvSpPr>
          <p:cNvPr id="4" name="Shape 2"/>
          <p:cNvSpPr/>
          <p:nvPr/>
        </p:nvSpPr>
        <p:spPr>
          <a:xfrm>
            <a:off x="4562856" y="5303520"/>
            <a:ext cx="429768" cy="0"/>
          </a:xfrm>
          <a:prstGeom prst="line">
            <a:avLst/>
          </a:prstGeom>
          <a:noFill/>
          <a:ln w="34925">
            <a:solidFill>
              <a:srgbClr val="C9D6E2"/>
            </a:solidFill>
            <a:prstDash val="solid"/>
            <a:tailEnd type="triangle"/>
          </a:ln>
        </p:spPr>
      </p:sp>
      <p:sp>
        <p:nvSpPr>
          <p:cNvPr id="5" name="Shape 3"/>
          <p:cNvSpPr/>
          <p:nvPr/>
        </p:nvSpPr>
        <p:spPr>
          <a:xfrm>
            <a:off x="6894576" y="5303520"/>
            <a:ext cx="429768" cy="0"/>
          </a:xfrm>
          <a:prstGeom prst="line">
            <a:avLst/>
          </a:prstGeom>
          <a:noFill/>
          <a:ln w="34925">
            <a:solidFill>
              <a:srgbClr val="FF7A45"/>
            </a:solidFill>
            <a:prstDash val="solid"/>
            <a:tailEnd type="triangle"/>
          </a:ln>
        </p:spPr>
      </p:sp>
      <p:sp>
        <p:nvSpPr>
          <p:cNvPr id="6" name="Shape 4"/>
          <p:cNvSpPr/>
          <p:nvPr/>
        </p:nvSpPr>
        <p:spPr>
          <a:xfrm>
            <a:off x="9226296" y="5303520"/>
            <a:ext cx="429768" cy="0"/>
          </a:xfrm>
          <a:prstGeom prst="line">
            <a:avLst/>
          </a:prstGeom>
          <a:noFill/>
          <a:ln w="34925">
            <a:solidFill>
              <a:srgbClr val="FF7A45"/>
            </a:solidFill>
            <a:prstDash val="solid"/>
            <a:tailEnd type="triangle"/>
          </a:ln>
        </p:spPr>
      </p:sp>
      <p:sp>
        <p:nvSpPr>
          <p:cNvPr id="7" name="Shape 5"/>
          <p:cNvSpPr/>
          <p:nvPr/>
        </p:nvSpPr>
        <p:spPr>
          <a:xfrm flipV="1">
            <a:off x="11018520" y="2551176"/>
            <a:ext cx="0" cy="2029968"/>
          </a:xfrm>
          <a:prstGeom prst="line">
            <a:avLst/>
          </a:prstGeom>
          <a:noFill/>
          <a:ln w="34925">
            <a:solidFill>
              <a:srgbClr val="4FC3F7"/>
            </a:solidFill>
            <a:prstDash val="solid"/>
            <a:tailEnd type="triangle"/>
          </a:ln>
        </p:spPr>
      </p:sp>
      <p:sp>
        <p:nvSpPr>
          <p:cNvPr id="8" name="caption-arrow"/>
          <p:cNvSpPr txBox="1"/>
          <p:nvPr/>
        </p:nvSpPr>
        <p:spPr>
          <a:xfrm>
            <a:off x="11091672" y="3429000"/>
            <a:ext cx="1325880" cy="274320"/>
          </a:xfrm>
          <a:prstGeom prst="rect">
            <a:avLst/>
          </a:prstGeom>
          <a:noFill/>
          <a:ln/>
        </p:spPr>
        <p:txBody>
          <a:bodyPr wrap="square" lIns="0" tIns="0" rIns="0" bIns="0" rtlCol="0" anchor="ctr"/>
          <a:lstStyle/>
          <a:p>
            <a:pPr algn="l" indent="0" marL="0">
              <a:buNone/>
            </a:pPr>
            <a:r>
              <a:rPr lang="en-US" sz="1300" b="1" i="1" dirty="0">
                <a:solidFill>
                  <a:srgbClr val="4FC3F7"/>
                </a:solidFill>
                <a:latin typeface="Calibri" pitchFamily="34" charset="0"/>
                <a:ea typeface="Calibri" pitchFamily="34" charset="-122"/>
                <a:cs typeface="Calibri" pitchFamily="34" charset="-120"/>
              </a:rPr>
              <a:t>vapor rises</a:t>
            </a:r>
            <a:endParaRPr lang="en-US" sz="1300" dirty="0"/>
          </a:p>
        </p:txBody>
      </p:sp>
      <p:sp>
        <p:nvSpPr>
          <p:cNvPr id="9" name="Shape 7"/>
          <p:cNvSpPr/>
          <p:nvPr/>
        </p:nvSpPr>
        <p:spPr>
          <a:xfrm>
            <a:off x="10195560" y="2551176"/>
            <a:ext cx="0" cy="1014984"/>
          </a:xfrm>
          <a:prstGeom prst="line">
            <a:avLst/>
          </a:prstGeom>
          <a:noFill/>
          <a:ln w="34925">
            <a:solidFill>
              <a:srgbClr val="4FC3F7"/>
            </a:solidFill>
            <a:prstDash val="solid"/>
          </a:ln>
        </p:spPr>
      </p:sp>
      <p:sp>
        <p:nvSpPr>
          <p:cNvPr id="10" name="Shape 8"/>
          <p:cNvSpPr/>
          <p:nvPr/>
        </p:nvSpPr>
        <p:spPr>
          <a:xfrm flipH="1">
            <a:off x="9226296" y="3566160"/>
            <a:ext cx="969264" cy="0"/>
          </a:xfrm>
          <a:prstGeom prst="line">
            <a:avLst/>
          </a:prstGeom>
          <a:noFill/>
          <a:ln w="34925">
            <a:solidFill>
              <a:srgbClr val="4FC3F7"/>
            </a:solidFill>
            <a:prstDash val="solid"/>
            <a:tailEnd type="triangle"/>
          </a:ln>
        </p:spPr>
      </p:sp>
      <p:sp>
        <p:nvSpPr>
          <p:cNvPr id="11" name="caption-arrow"/>
          <p:cNvSpPr txBox="1"/>
          <p:nvPr/>
        </p:nvSpPr>
        <p:spPr>
          <a:xfrm>
            <a:off x="9628632" y="2788920"/>
            <a:ext cx="502920" cy="274320"/>
          </a:xfrm>
          <a:prstGeom prst="rect">
            <a:avLst/>
          </a:prstGeom>
          <a:noFill/>
          <a:ln/>
        </p:spPr>
        <p:txBody>
          <a:bodyPr wrap="square" lIns="0" tIns="0" rIns="0" bIns="0" rtlCol="0" anchor="ctr"/>
          <a:lstStyle/>
          <a:p>
            <a:pPr algn="r" indent="0" marL="0">
              <a:buNone/>
            </a:pPr>
            <a:r>
              <a:rPr lang="en-US" sz="1300" b="1" i="1" dirty="0">
                <a:solidFill>
                  <a:srgbClr val="4FC3F7"/>
                </a:solidFill>
                <a:latin typeface="Calibri" pitchFamily="34" charset="0"/>
                <a:ea typeface="Calibri" pitchFamily="34" charset="-122"/>
                <a:cs typeface="Calibri" pitchFamily="34" charset="-120"/>
              </a:rPr>
              <a:t>rain</a:t>
            </a:r>
            <a:endParaRPr lang="en-US" sz="1300" dirty="0"/>
          </a:p>
        </p:txBody>
      </p:sp>
      <p:sp>
        <p:nvSpPr>
          <p:cNvPr id="12" name="Shape 10"/>
          <p:cNvSpPr/>
          <p:nvPr/>
        </p:nvSpPr>
        <p:spPr>
          <a:xfrm flipH="1">
            <a:off x="4562856" y="3566160"/>
            <a:ext cx="2761488" cy="0"/>
          </a:xfrm>
          <a:prstGeom prst="line">
            <a:avLst/>
          </a:prstGeom>
          <a:noFill/>
          <a:ln w="34925">
            <a:solidFill>
              <a:srgbClr val="4FC3F7"/>
            </a:solidFill>
            <a:prstDash val="solid"/>
            <a:tailEnd type="triangle"/>
          </a:ln>
        </p:spPr>
      </p:sp>
      <p:sp>
        <p:nvSpPr>
          <p:cNvPr id="13" name="caption-arrow"/>
          <p:cNvSpPr txBox="1"/>
          <p:nvPr/>
        </p:nvSpPr>
        <p:spPr>
          <a:xfrm>
            <a:off x="4800600" y="3236976"/>
            <a:ext cx="2286000" cy="274320"/>
          </a:xfrm>
          <a:prstGeom prst="rect">
            <a:avLst/>
          </a:prstGeom>
          <a:noFill/>
          <a:ln/>
        </p:spPr>
        <p:txBody>
          <a:bodyPr wrap="square" lIns="0" tIns="0" rIns="0" bIns="0" rtlCol="0" anchor="ctr"/>
          <a:lstStyle/>
          <a:p>
            <a:pPr algn="ctr" indent="0" marL="0">
              <a:buNone/>
            </a:pPr>
            <a:r>
              <a:rPr lang="en-US" sz="1300" b="1" i="1" dirty="0">
                <a:solidFill>
                  <a:srgbClr val="4FC3F7"/>
                </a:solidFill>
                <a:latin typeface="Calibri" pitchFamily="34" charset="0"/>
                <a:ea typeface="Calibri" pitchFamily="34" charset="-122"/>
                <a:cs typeface="Calibri" pitchFamily="34" charset="-120"/>
              </a:rPr>
              <a:t>sea water</a:t>
            </a:r>
            <a:endParaRPr lang="en-US" sz="1300" dirty="0"/>
          </a:p>
        </p:txBody>
      </p:sp>
      <p:sp>
        <p:nvSpPr>
          <p:cNvPr id="14" name="Shape 12"/>
          <p:cNvSpPr/>
          <p:nvPr/>
        </p:nvSpPr>
        <p:spPr>
          <a:xfrm>
            <a:off x="3611880" y="4288536"/>
            <a:ext cx="0" cy="292608"/>
          </a:xfrm>
          <a:prstGeom prst="line">
            <a:avLst/>
          </a:prstGeom>
          <a:noFill/>
          <a:ln w="34925">
            <a:solidFill>
              <a:srgbClr val="4FC3F7"/>
            </a:solidFill>
            <a:prstDash val="solid"/>
            <a:tailEnd type="triangle"/>
          </a:ln>
        </p:spPr>
      </p:sp>
      <p:sp>
        <p:nvSpPr>
          <p:cNvPr id="15" name="caption-arrow"/>
          <p:cNvSpPr txBox="1"/>
          <p:nvPr/>
        </p:nvSpPr>
        <p:spPr>
          <a:xfrm>
            <a:off x="3703320" y="4315968"/>
            <a:ext cx="1280160" cy="274320"/>
          </a:xfrm>
          <a:prstGeom prst="rect">
            <a:avLst/>
          </a:prstGeom>
          <a:noFill/>
          <a:ln/>
        </p:spPr>
        <p:txBody>
          <a:bodyPr wrap="square" lIns="0" tIns="0" rIns="0" bIns="0" rtlCol="0" anchor="ctr"/>
          <a:lstStyle/>
          <a:p>
            <a:pPr algn="l" indent="0" marL="0">
              <a:buNone/>
            </a:pPr>
            <a:r>
              <a:rPr lang="en-US" sz="1300" b="1" i="1" dirty="0">
                <a:solidFill>
                  <a:srgbClr val="4FC3F7"/>
                </a:solidFill>
                <a:latin typeface="Calibri" pitchFamily="34" charset="0"/>
                <a:ea typeface="Calibri" pitchFamily="34" charset="-122"/>
                <a:cs typeface="Calibri" pitchFamily="34" charset="-120"/>
              </a:rPr>
              <a:t>fresh water</a:t>
            </a:r>
            <a:endParaRPr lang="en-US" sz="1300" dirty="0"/>
          </a:p>
        </p:txBody>
      </p:sp>
      <p:sp>
        <p:nvSpPr>
          <p:cNvPr id="16" name="Shape 14"/>
          <p:cNvSpPr/>
          <p:nvPr/>
        </p:nvSpPr>
        <p:spPr>
          <a:xfrm flipH="1">
            <a:off x="2231136" y="1828800"/>
            <a:ext cx="7424928" cy="0"/>
          </a:xfrm>
          <a:prstGeom prst="line">
            <a:avLst/>
          </a:prstGeom>
          <a:noFill/>
          <a:ln w="34925">
            <a:solidFill>
              <a:srgbClr val="4FC3F7"/>
            </a:solidFill>
            <a:prstDash val="solid"/>
            <a:tailEnd type="triangle"/>
          </a:ln>
        </p:spPr>
      </p:sp>
      <p:sp>
        <p:nvSpPr>
          <p:cNvPr id="17" name="caption-arrow"/>
          <p:cNvSpPr txBox="1"/>
          <p:nvPr/>
        </p:nvSpPr>
        <p:spPr>
          <a:xfrm>
            <a:off x="2560320" y="1499616"/>
            <a:ext cx="6766560" cy="274320"/>
          </a:xfrm>
          <a:prstGeom prst="rect">
            <a:avLst/>
          </a:prstGeom>
          <a:noFill/>
          <a:ln/>
        </p:spPr>
        <p:txBody>
          <a:bodyPr wrap="square" lIns="0" tIns="0" rIns="0" bIns="0" rtlCol="0" anchor="ctr"/>
          <a:lstStyle/>
          <a:p>
            <a:pPr algn="ctr" indent="0" marL="0">
              <a:buNone/>
            </a:pPr>
            <a:r>
              <a:rPr lang="en-US" sz="1300" b="1" i="1" dirty="0">
                <a:solidFill>
                  <a:srgbClr val="4FC3F7"/>
                </a:solidFill>
                <a:latin typeface="Calibri" pitchFamily="34" charset="0"/>
                <a:ea typeface="Calibri" pitchFamily="34" charset="-122"/>
                <a:cs typeface="Calibri" pitchFamily="34" charset="-120"/>
              </a:rPr>
              <a:t>rain fills rivers and dams</a:t>
            </a:r>
            <a:endParaRPr lang="en-US" sz="1300" dirty="0"/>
          </a:p>
        </p:txBody>
      </p:sp>
      <p:sp>
        <p:nvSpPr>
          <p:cNvPr id="18" name="Shape 16"/>
          <p:cNvSpPr/>
          <p:nvPr/>
        </p:nvSpPr>
        <p:spPr>
          <a:xfrm>
            <a:off x="1280160" y="2551176"/>
            <a:ext cx="0" cy="292608"/>
          </a:xfrm>
          <a:prstGeom prst="line">
            <a:avLst/>
          </a:prstGeom>
          <a:noFill/>
          <a:ln w="34925">
            <a:solidFill>
              <a:srgbClr val="4FC3F7"/>
            </a:solidFill>
            <a:prstDash val="solid"/>
            <a:tailEnd type="triangle"/>
          </a:ln>
        </p:spPr>
      </p:sp>
      <p:sp>
        <p:nvSpPr>
          <p:cNvPr id="19" name="caption-arrow"/>
          <p:cNvSpPr txBox="1"/>
          <p:nvPr/>
        </p:nvSpPr>
        <p:spPr>
          <a:xfrm>
            <a:off x="1371600" y="2578608"/>
            <a:ext cx="1280160" cy="274320"/>
          </a:xfrm>
          <a:prstGeom prst="rect">
            <a:avLst/>
          </a:prstGeom>
          <a:noFill/>
          <a:ln/>
        </p:spPr>
        <p:txBody>
          <a:bodyPr wrap="square" lIns="0" tIns="0" rIns="0" bIns="0" rtlCol="0" anchor="ctr"/>
          <a:lstStyle/>
          <a:p>
            <a:pPr algn="l" indent="0" marL="0">
              <a:buNone/>
            </a:pPr>
            <a:r>
              <a:rPr lang="en-US" sz="1300" b="1" i="1" dirty="0">
                <a:solidFill>
                  <a:srgbClr val="4FC3F7"/>
                </a:solidFill>
                <a:latin typeface="Calibri" pitchFamily="34" charset="0"/>
                <a:ea typeface="Calibri" pitchFamily="34" charset="-122"/>
                <a:cs typeface="Calibri" pitchFamily="34" charset="-120"/>
              </a:rPr>
              <a:t>falling water</a:t>
            </a:r>
            <a:endParaRPr lang="en-US" sz="1300" dirty="0"/>
          </a:p>
        </p:txBody>
      </p:sp>
      <p:sp>
        <p:nvSpPr>
          <p:cNvPr id="20" name="Shape 18"/>
          <p:cNvSpPr/>
          <p:nvPr/>
        </p:nvSpPr>
        <p:spPr>
          <a:xfrm>
            <a:off x="2231136" y="3566160"/>
            <a:ext cx="429768" cy="0"/>
          </a:xfrm>
          <a:prstGeom prst="line">
            <a:avLst/>
          </a:prstGeom>
          <a:noFill/>
          <a:ln w="34925">
            <a:solidFill>
              <a:srgbClr val="F2A33A"/>
            </a:solidFill>
            <a:prstDash val="solid"/>
            <a:tailEnd type="triangle"/>
          </a:ln>
        </p:spPr>
      </p:sp>
      <p:sp>
        <p:nvSpPr>
          <p:cNvPr id="21" name="Shape 19"/>
          <p:cNvSpPr/>
          <p:nvPr/>
        </p:nvSpPr>
        <p:spPr>
          <a:xfrm>
            <a:off x="1920240" y="4288536"/>
            <a:ext cx="1325880" cy="292608"/>
          </a:xfrm>
          <a:prstGeom prst="line">
            <a:avLst/>
          </a:prstGeom>
          <a:noFill/>
          <a:ln w="34925">
            <a:solidFill>
              <a:srgbClr val="F2A33A"/>
            </a:solidFill>
            <a:prstDash val="solid"/>
            <a:tailEnd type="triangle"/>
          </a:ln>
        </p:spPr>
      </p:sp>
      <p:pic>
        <p:nvPicPr>
          <p:cNvPr id="22" name="Image 0" descr="preencoded.png">    </p:cNvPr>
          <p:cNvPicPr>
            <a:picLocks noChangeAspect="1"/>
          </p:cNvPicPr>
          <p:nvPr/>
        </p:nvPicPr>
        <p:blipFill>
          <a:blip r:embed="rId2"/>
          <a:stretch>
            <a:fillRect/>
          </a:stretch>
        </p:blipFill>
        <p:spPr>
          <a:xfrm>
            <a:off x="2340864" y="3182112"/>
            <a:ext cx="201168" cy="274320"/>
          </a:xfrm>
          <a:prstGeom prst="rect">
            <a:avLst/>
          </a:prstGeom>
        </p:spPr>
      </p:pic>
      <p:sp>
        <p:nvSpPr>
          <p:cNvPr id="23" name="Shape 20"/>
          <p:cNvSpPr/>
          <p:nvPr/>
        </p:nvSpPr>
        <p:spPr>
          <a:xfrm>
            <a:off x="365760" y="1143000"/>
            <a:ext cx="1828800" cy="1371600"/>
          </a:xfrm>
          <a:prstGeom prst="roundRect">
            <a:avLst>
              <a:gd name="adj" fmla="val 8000"/>
            </a:avLst>
          </a:prstGeom>
          <a:solidFill>
            <a:srgbClr val="0E1B2A">
              <a:alpha val="88000"/>
            </a:srgbClr>
          </a:solidFill>
          <a:ln w="19050">
            <a:solidFill>
              <a:srgbClr val="4FC3F7"/>
            </a:solidFill>
            <a:prstDash val="solid"/>
          </a:ln>
        </p:spPr>
      </p:sp>
      <p:pic>
        <p:nvPicPr>
          <p:cNvPr id="24" name="Image 1" descr="preencoded.png">    </p:cNvPr>
          <p:cNvPicPr>
            <a:picLocks noChangeAspect="1"/>
          </p:cNvPicPr>
          <p:nvPr/>
        </p:nvPicPr>
        <p:blipFill>
          <a:blip r:embed="rId3"/>
          <a:stretch>
            <a:fillRect/>
          </a:stretch>
        </p:blipFill>
        <p:spPr>
          <a:xfrm>
            <a:off x="1060704" y="1234440"/>
            <a:ext cx="438912" cy="438912"/>
          </a:xfrm>
          <a:prstGeom prst="rect">
            <a:avLst/>
          </a:prstGeom>
        </p:spPr>
      </p:pic>
      <p:sp>
        <p:nvSpPr>
          <p:cNvPr id="25" name="label-dam"/>
          <p:cNvSpPr txBox="1"/>
          <p:nvPr/>
        </p:nvSpPr>
        <p:spPr>
          <a:xfrm>
            <a:off x="365760" y="1691640"/>
            <a:ext cx="1828800" cy="347472"/>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River &amp; dam</a:t>
            </a:r>
            <a:endParaRPr lang="en-US" sz="2000" dirty="0"/>
          </a:p>
        </p:txBody>
      </p:sp>
      <p:sp>
        <p:nvSpPr>
          <p:cNvPr id="26" name="caption-sub-dam"/>
          <p:cNvSpPr txBox="1"/>
          <p:nvPr/>
        </p:nvSpPr>
        <p:spPr>
          <a:xfrm>
            <a:off x="438912" y="2039112"/>
            <a:ext cx="1682496" cy="438912"/>
          </a:xfrm>
          <a:prstGeom prst="rect">
            <a:avLst/>
          </a:prstGeom>
          <a:noFill/>
          <a:ln/>
        </p:spPr>
        <p:txBody>
          <a:bodyPr wrap="square" lIns="0" tIns="0" rIns="0" bIns="0" rtlCol="0" anchor="t"/>
          <a:lstStyle/>
          <a:p>
            <a:pPr algn="ctr" indent="0" marL="0">
              <a:buNone/>
            </a:pPr>
            <a:r>
              <a:rPr lang="en-US" sz="1300" dirty="0">
                <a:solidFill>
                  <a:srgbClr val="E3EBF1"/>
                </a:solidFill>
                <a:latin typeface="Calibri" pitchFamily="34" charset="0"/>
                <a:ea typeface="Calibri" pitchFamily="34" charset="-122"/>
                <a:cs typeface="Calibri" pitchFamily="34" charset="-120"/>
              </a:rPr>
              <a:t>Water falls from a height</a:t>
            </a:r>
            <a:endParaRPr lang="en-US" sz="1300" dirty="0"/>
          </a:p>
        </p:txBody>
      </p:sp>
      <p:sp>
        <p:nvSpPr>
          <p:cNvPr id="27" name="Shape 23"/>
          <p:cNvSpPr/>
          <p:nvPr/>
        </p:nvSpPr>
        <p:spPr>
          <a:xfrm>
            <a:off x="9692640" y="1143000"/>
            <a:ext cx="1828800" cy="1371600"/>
          </a:xfrm>
          <a:prstGeom prst="roundRect">
            <a:avLst>
              <a:gd name="adj" fmla="val 8000"/>
            </a:avLst>
          </a:prstGeom>
          <a:solidFill>
            <a:srgbClr val="0E1B2A">
              <a:alpha val="88000"/>
            </a:srgbClr>
          </a:solidFill>
          <a:ln w="19050">
            <a:solidFill>
              <a:srgbClr val="4FC3F7"/>
            </a:solidFill>
            <a:prstDash val="solid"/>
          </a:ln>
        </p:spPr>
      </p:sp>
      <p:pic>
        <p:nvPicPr>
          <p:cNvPr id="28" name="Image 2" descr="preencoded.png">    </p:cNvPr>
          <p:cNvPicPr>
            <a:picLocks noChangeAspect="1"/>
          </p:cNvPicPr>
          <p:nvPr/>
        </p:nvPicPr>
        <p:blipFill>
          <a:blip r:embed="rId4"/>
          <a:stretch>
            <a:fillRect/>
          </a:stretch>
        </p:blipFill>
        <p:spPr>
          <a:xfrm>
            <a:off x="10387584" y="1234440"/>
            <a:ext cx="438912" cy="438912"/>
          </a:xfrm>
          <a:prstGeom prst="rect">
            <a:avLst/>
          </a:prstGeom>
        </p:spPr>
      </p:pic>
      <p:sp>
        <p:nvSpPr>
          <p:cNvPr id="29" name="label-clouds"/>
          <p:cNvSpPr txBox="1"/>
          <p:nvPr/>
        </p:nvSpPr>
        <p:spPr>
          <a:xfrm>
            <a:off x="9692640" y="1691640"/>
            <a:ext cx="1828800" cy="347472"/>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Clouds</a:t>
            </a:r>
            <a:endParaRPr lang="en-US" sz="2000" dirty="0"/>
          </a:p>
        </p:txBody>
      </p:sp>
      <p:sp>
        <p:nvSpPr>
          <p:cNvPr id="30" name="caption-sub-clouds"/>
          <p:cNvSpPr txBox="1"/>
          <p:nvPr/>
        </p:nvSpPr>
        <p:spPr>
          <a:xfrm>
            <a:off x="9765792" y="2039112"/>
            <a:ext cx="1682496" cy="438912"/>
          </a:xfrm>
          <a:prstGeom prst="rect">
            <a:avLst/>
          </a:prstGeom>
          <a:noFill/>
          <a:ln/>
        </p:spPr>
        <p:txBody>
          <a:bodyPr wrap="square" lIns="0" tIns="0" rIns="0" bIns="0" rtlCol="0" anchor="t"/>
          <a:lstStyle/>
          <a:p>
            <a:pPr algn="ctr" indent="0" marL="0">
              <a:buNone/>
            </a:pPr>
            <a:r>
              <a:rPr lang="en-US" sz="1300" dirty="0">
                <a:solidFill>
                  <a:srgbClr val="E3EBF1"/>
                </a:solidFill>
                <a:latin typeface="Calibri" pitchFamily="34" charset="0"/>
                <a:ea typeface="Calibri" pitchFamily="34" charset="-122"/>
                <a:cs typeface="Calibri" pitchFamily="34" charset="-120"/>
              </a:rPr>
              <a:t>Vapor cools into rain</a:t>
            </a:r>
            <a:endParaRPr lang="en-US" sz="1300" dirty="0"/>
          </a:p>
        </p:txBody>
      </p:sp>
      <p:sp>
        <p:nvSpPr>
          <p:cNvPr id="31" name="Shape 26"/>
          <p:cNvSpPr/>
          <p:nvPr/>
        </p:nvSpPr>
        <p:spPr>
          <a:xfrm>
            <a:off x="9573768" y="1024128"/>
            <a:ext cx="347472" cy="347472"/>
          </a:xfrm>
          <a:prstGeom prst="ellipse">
            <a:avLst/>
          </a:prstGeom>
          <a:solidFill>
            <a:srgbClr val="F2A33A"/>
          </a:solidFill>
          <a:ln w="12700">
            <a:solidFill>
              <a:srgbClr val="0E1B2A"/>
            </a:solidFill>
            <a:prstDash val="solid"/>
          </a:ln>
        </p:spPr>
      </p:sp>
      <p:sp>
        <p:nvSpPr>
          <p:cNvPr id="32" name="caption-badge-clouds"/>
          <p:cNvSpPr txBox="1"/>
          <p:nvPr/>
        </p:nvSpPr>
        <p:spPr>
          <a:xfrm>
            <a:off x="9573768" y="1024128"/>
            <a:ext cx="347472" cy="347472"/>
          </a:xfrm>
          <a:prstGeom prst="rect">
            <a:avLst/>
          </a:prstGeom>
          <a:noFill/>
          <a:ln/>
        </p:spPr>
        <p:txBody>
          <a:bodyPr wrap="square" lIns="0" tIns="0" rIns="0" bIns="0" rtlCol="0" anchor="ctr"/>
          <a:lstStyle/>
          <a:p>
            <a:pPr algn="ctr" indent="0" marL="0">
              <a:buNone/>
            </a:pPr>
            <a:r>
              <a:rPr lang="en-US" sz="1400" b="1" dirty="0">
                <a:solidFill>
                  <a:srgbClr val="0E1B2A"/>
                </a:solidFill>
                <a:latin typeface="Calibri" pitchFamily="34" charset="0"/>
                <a:ea typeface="Calibri" pitchFamily="34" charset="-122"/>
                <a:cs typeface="Calibri" pitchFamily="34" charset="-120"/>
              </a:rPr>
              <a:t>6</a:t>
            </a:r>
            <a:endParaRPr lang="en-US" sz="1400" dirty="0"/>
          </a:p>
        </p:txBody>
      </p:sp>
      <p:sp>
        <p:nvSpPr>
          <p:cNvPr id="33" name="Shape 28"/>
          <p:cNvSpPr/>
          <p:nvPr/>
        </p:nvSpPr>
        <p:spPr>
          <a:xfrm>
            <a:off x="365760" y="2880360"/>
            <a:ext cx="1828800" cy="1371600"/>
          </a:xfrm>
          <a:prstGeom prst="roundRect">
            <a:avLst>
              <a:gd name="adj" fmla="val 8000"/>
            </a:avLst>
          </a:prstGeom>
          <a:solidFill>
            <a:srgbClr val="0E1B2A">
              <a:alpha val="88000"/>
            </a:srgbClr>
          </a:solidFill>
          <a:ln w="19050">
            <a:solidFill>
              <a:srgbClr val="F2A33A"/>
            </a:solidFill>
            <a:prstDash val="solid"/>
          </a:ln>
        </p:spPr>
      </p:sp>
      <p:pic>
        <p:nvPicPr>
          <p:cNvPr id="34" name="Image 3" descr="preencoded.png">    </p:cNvPr>
          <p:cNvPicPr>
            <a:picLocks noChangeAspect="1"/>
          </p:cNvPicPr>
          <p:nvPr/>
        </p:nvPicPr>
        <p:blipFill>
          <a:blip r:embed="rId5"/>
          <a:stretch>
            <a:fillRect/>
          </a:stretch>
        </p:blipFill>
        <p:spPr>
          <a:xfrm>
            <a:off x="1060704" y="2971800"/>
            <a:ext cx="438912" cy="438912"/>
          </a:xfrm>
          <a:prstGeom prst="rect">
            <a:avLst/>
          </a:prstGeom>
        </p:spPr>
      </p:pic>
      <p:sp>
        <p:nvSpPr>
          <p:cNvPr id="35" name="label-power"/>
          <p:cNvSpPr txBox="1"/>
          <p:nvPr/>
        </p:nvSpPr>
        <p:spPr>
          <a:xfrm>
            <a:off x="365760" y="3429000"/>
            <a:ext cx="1828800" cy="347472"/>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Power plant</a:t>
            </a:r>
            <a:endParaRPr lang="en-US" sz="2000" dirty="0"/>
          </a:p>
        </p:txBody>
      </p:sp>
      <p:sp>
        <p:nvSpPr>
          <p:cNvPr id="36" name="caption-sub-power"/>
          <p:cNvSpPr txBox="1"/>
          <p:nvPr/>
        </p:nvSpPr>
        <p:spPr>
          <a:xfrm>
            <a:off x="438912" y="3776472"/>
            <a:ext cx="1682496" cy="438912"/>
          </a:xfrm>
          <a:prstGeom prst="rect">
            <a:avLst/>
          </a:prstGeom>
          <a:noFill/>
          <a:ln/>
        </p:spPr>
        <p:txBody>
          <a:bodyPr wrap="square" lIns="0" tIns="0" rIns="0" bIns="0" rtlCol="0" anchor="t"/>
          <a:lstStyle/>
          <a:p>
            <a:pPr algn="ctr" indent="0" marL="0">
              <a:buNone/>
            </a:pPr>
            <a:r>
              <a:rPr lang="en-US" sz="1300" dirty="0">
                <a:solidFill>
                  <a:srgbClr val="E3EBF1"/>
                </a:solidFill>
                <a:latin typeface="Calibri" pitchFamily="34" charset="0"/>
                <a:ea typeface="Calibri" pitchFamily="34" charset="-122"/>
                <a:cs typeface="Calibri" pitchFamily="34" charset="-120"/>
              </a:rPr>
              <a:t>Falling water or steam spins a turbine</a:t>
            </a:r>
            <a:endParaRPr lang="en-US" sz="1300" dirty="0"/>
          </a:p>
        </p:txBody>
      </p:sp>
      <p:sp>
        <p:nvSpPr>
          <p:cNvPr id="37" name="Shape 31"/>
          <p:cNvSpPr/>
          <p:nvPr/>
        </p:nvSpPr>
        <p:spPr>
          <a:xfrm>
            <a:off x="2697480" y="2880360"/>
            <a:ext cx="1828800" cy="1371600"/>
          </a:xfrm>
          <a:prstGeom prst="roundRect">
            <a:avLst>
              <a:gd name="adj" fmla="val 8000"/>
            </a:avLst>
          </a:prstGeom>
          <a:solidFill>
            <a:srgbClr val="0E1B2A">
              <a:alpha val="88000"/>
            </a:srgbClr>
          </a:solidFill>
          <a:ln w="19050">
            <a:solidFill>
              <a:srgbClr val="4FC3F7"/>
            </a:solidFill>
            <a:prstDash val="solid"/>
          </a:ln>
        </p:spPr>
      </p:sp>
      <p:pic>
        <p:nvPicPr>
          <p:cNvPr id="38" name="Image 4" descr="preencoded.png">    </p:cNvPr>
          <p:cNvPicPr>
            <a:picLocks noChangeAspect="1"/>
          </p:cNvPicPr>
          <p:nvPr/>
        </p:nvPicPr>
        <p:blipFill>
          <a:blip r:embed="rId6"/>
          <a:stretch>
            <a:fillRect/>
          </a:stretch>
        </p:blipFill>
        <p:spPr>
          <a:xfrm>
            <a:off x="3392424" y="2971800"/>
            <a:ext cx="438912" cy="438912"/>
          </a:xfrm>
          <a:prstGeom prst="rect">
            <a:avLst/>
          </a:prstGeom>
        </p:spPr>
      </p:pic>
      <p:sp>
        <p:nvSpPr>
          <p:cNvPr id="39" name="label-desal"/>
          <p:cNvSpPr txBox="1"/>
          <p:nvPr/>
        </p:nvSpPr>
        <p:spPr>
          <a:xfrm>
            <a:off x="2697480" y="3429000"/>
            <a:ext cx="1828800" cy="347472"/>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Desalination</a:t>
            </a:r>
            <a:endParaRPr lang="en-US" sz="2000" dirty="0"/>
          </a:p>
        </p:txBody>
      </p:sp>
      <p:sp>
        <p:nvSpPr>
          <p:cNvPr id="40" name="caption-sub-desal"/>
          <p:cNvSpPr txBox="1"/>
          <p:nvPr/>
        </p:nvSpPr>
        <p:spPr>
          <a:xfrm>
            <a:off x="2770632" y="3776472"/>
            <a:ext cx="1682496" cy="438912"/>
          </a:xfrm>
          <a:prstGeom prst="rect">
            <a:avLst/>
          </a:prstGeom>
          <a:noFill/>
          <a:ln/>
        </p:spPr>
        <p:txBody>
          <a:bodyPr wrap="square" lIns="0" tIns="0" rIns="0" bIns="0" rtlCol="0" anchor="t"/>
          <a:lstStyle/>
          <a:p>
            <a:pPr algn="ctr" indent="0" marL="0">
              <a:buNone/>
            </a:pPr>
            <a:r>
              <a:rPr lang="en-US" sz="1300" dirty="0">
                <a:solidFill>
                  <a:srgbClr val="E3EBF1"/>
                </a:solidFill>
                <a:latin typeface="Calibri" pitchFamily="34" charset="0"/>
                <a:ea typeface="Calibri" pitchFamily="34" charset="-122"/>
                <a:cs typeface="Calibri" pitchFamily="34" charset="-120"/>
              </a:rPr>
              <a:t>Sea water becomes fresh water</a:t>
            </a:r>
            <a:endParaRPr lang="en-US" sz="1300" dirty="0"/>
          </a:p>
        </p:txBody>
      </p:sp>
      <p:sp>
        <p:nvSpPr>
          <p:cNvPr id="41" name="Shape 34"/>
          <p:cNvSpPr/>
          <p:nvPr/>
        </p:nvSpPr>
        <p:spPr>
          <a:xfrm>
            <a:off x="2578608" y="2761488"/>
            <a:ext cx="347472" cy="347472"/>
          </a:xfrm>
          <a:prstGeom prst="ellipse">
            <a:avLst/>
          </a:prstGeom>
          <a:solidFill>
            <a:srgbClr val="F2A33A"/>
          </a:solidFill>
          <a:ln w="12700">
            <a:solidFill>
              <a:srgbClr val="0E1B2A"/>
            </a:solidFill>
            <a:prstDash val="solid"/>
          </a:ln>
        </p:spPr>
      </p:sp>
      <p:sp>
        <p:nvSpPr>
          <p:cNvPr id="42" name="caption-badge-desal"/>
          <p:cNvSpPr txBox="1"/>
          <p:nvPr/>
        </p:nvSpPr>
        <p:spPr>
          <a:xfrm>
            <a:off x="2578608" y="2761488"/>
            <a:ext cx="347472" cy="347472"/>
          </a:xfrm>
          <a:prstGeom prst="rect">
            <a:avLst/>
          </a:prstGeom>
          <a:noFill/>
          <a:ln/>
        </p:spPr>
        <p:txBody>
          <a:bodyPr wrap="square" lIns="0" tIns="0" rIns="0" bIns="0" rtlCol="0" anchor="ctr"/>
          <a:lstStyle/>
          <a:p>
            <a:pPr algn="ctr" indent="0" marL="0">
              <a:buNone/>
            </a:pPr>
            <a:r>
              <a:rPr lang="en-US" sz="1400" b="1" dirty="0">
                <a:solidFill>
                  <a:srgbClr val="0E1B2A"/>
                </a:solidFill>
                <a:latin typeface="Calibri" pitchFamily="34" charset="0"/>
                <a:ea typeface="Calibri" pitchFamily="34" charset="-122"/>
                <a:cs typeface="Calibri" pitchFamily="34" charset="-120"/>
              </a:rPr>
              <a:t>8</a:t>
            </a:r>
            <a:endParaRPr lang="en-US" sz="1400" dirty="0"/>
          </a:p>
        </p:txBody>
      </p:sp>
      <p:sp>
        <p:nvSpPr>
          <p:cNvPr id="43" name="Shape 36"/>
          <p:cNvSpPr/>
          <p:nvPr/>
        </p:nvSpPr>
        <p:spPr>
          <a:xfrm>
            <a:off x="7360920" y="2880360"/>
            <a:ext cx="1828800" cy="1371600"/>
          </a:xfrm>
          <a:prstGeom prst="roundRect">
            <a:avLst>
              <a:gd name="adj" fmla="val 8000"/>
            </a:avLst>
          </a:prstGeom>
          <a:solidFill>
            <a:srgbClr val="0E1B2A">
              <a:alpha val="88000"/>
            </a:srgbClr>
          </a:solidFill>
          <a:ln w="19050">
            <a:solidFill>
              <a:srgbClr val="4FC3F7"/>
            </a:solidFill>
            <a:prstDash val="solid"/>
          </a:ln>
        </p:spPr>
      </p:sp>
      <p:pic>
        <p:nvPicPr>
          <p:cNvPr id="44" name="Image 5" descr="preencoded.png">    </p:cNvPr>
          <p:cNvPicPr>
            <a:picLocks noChangeAspect="1"/>
          </p:cNvPicPr>
          <p:nvPr/>
        </p:nvPicPr>
        <p:blipFill>
          <a:blip r:embed="rId7"/>
          <a:stretch>
            <a:fillRect/>
          </a:stretch>
        </p:blipFill>
        <p:spPr>
          <a:xfrm>
            <a:off x="8055864" y="2971800"/>
            <a:ext cx="438912" cy="438912"/>
          </a:xfrm>
          <a:prstGeom prst="rect">
            <a:avLst/>
          </a:prstGeom>
        </p:spPr>
      </p:pic>
      <p:sp>
        <p:nvSpPr>
          <p:cNvPr id="45" name="label-ocean"/>
          <p:cNvSpPr txBox="1"/>
          <p:nvPr/>
        </p:nvSpPr>
        <p:spPr>
          <a:xfrm>
            <a:off x="7360920" y="3429000"/>
            <a:ext cx="1828800" cy="347472"/>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Ocean</a:t>
            </a:r>
            <a:endParaRPr lang="en-US" sz="2000" dirty="0"/>
          </a:p>
        </p:txBody>
      </p:sp>
      <p:sp>
        <p:nvSpPr>
          <p:cNvPr id="46" name="caption-sub-ocean"/>
          <p:cNvSpPr txBox="1"/>
          <p:nvPr/>
        </p:nvSpPr>
        <p:spPr>
          <a:xfrm>
            <a:off x="7434072" y="3776472"/>
            <a:ext cx="1682496" cy="438912"/>
          </a:xfrm>
          <a:prstGeom prst="rect">
            <a:avLst/>
          </a:prstGeom>
          <a:noFill/>
          <a:ln/>
        </p:spPr>
        <p:txBody>
          <a:bodyPr wrap="square" lIns="0" tIns="0" rIns="0" bIns="0" rtlCol="0" anchor="t"/>
          <a:lstStyle/>
          <a:p>
            <a:pPr algn="ctr" indent="0" marL="0">
              <a:buNone/>
            </a:pPr>
            <a:r>
              <a:rPr lang="en-US" sz="1300" dirty="0">
                <a:solidFill>
                  <a:srgbClr val="E3EBF1"/>
                </a:solidFill>
                <a:latin typeface="Calibri" pitchFamily="34" charset="0"/>
                <a:ea typeface="Calibri" pitchFamily="34" charset="-122"/>
                <a:cs typeface="Calibri" pitchFamily="34" charset="-120"/>
              </a:rPr>
              <a:t>Rain flows to the sea</a:t>
            </a:r>
            <a:endParaRPr lang="en-US" sz="1300" dirty="0"/>
          </a:p>
        </p:txBody>
      </p:sp>
      <p:sp>
        <p:nvSpPr>
          <p:cNvPr id="47" name="Shape 39"/>
          <p:cNvSpPr/>
          <p:nvPr/>
        </p:nvSpPr>
        <p:spPr>
          <a:xfrm>
            <a:off x="7242048" y="2761488"/>
            <a:ext cx="347472" cy="347472"/>
          </a:xfrm>
          <a:prstGeom prst="ellipse">
            <a:avLst/>
          </a:prstGeom>
          <a:solidFill>
            <a:srgbClr val="F2A33A"/>
          </a:solidFill>
          <a:ln w="12700">
            <a:solidFill>
              <a:srgbClr val="0E1B2A"/>
            </a:solidFill>
            <a:prstDash val="solid"/>
          </a:ln>
        </p:spPr>
      </p:sp>
      <p:sp>
        <p:nvSpPr>
          <p:cNvPr id="48" name="caption-badge-ocean"/>
          <p:cNvSpPr txBox="1"/>
          <p:nvPr/>
        </p:nvSpPr>
        <p:spPr>
          <a:xfrm>
            <a:off x="7242048" y="2761488"/>
            <a:ext cx="347472" cy="347472"/>
          </a:xfrm>
          <a:prstGeom prst="rect">
            <a:avLst/>
          </a:prstGeom>
          <a:noFill/>
          <a:ln/>
        </p:spPr>
        <p:txBody>
          <a:bodyPr wrap="square" lIns="0" tIns="0" rIns="0" bIns="0" rtlCol="0" anchor="ctr"/>
          <a:lstStyle/>
          <a:p>
            <a:pPr algn="ctr" indent="0" marL="0">
              <a:buNone/>
            </a:pPr>
            <a:r>
              <a:rPr lang="en-US" sz="1400" b="1" dirty="0">
                <a:solidFill>
                  <a:srgbClr val="0E1B2A"/>
                </a:solidFill>
                <a:latin typeface="Calibri" pitchFamily="34" charset="0"/>
                <a:ea typeface="Calibri" pitchFamily="34" charset="-122"/>
                <a:cs typeface="Calibri" pitchFamily="34" charset="-120"/>
              </a:rPr>
              <a:t>7</a:t>
            </a:r>
            <a:endParaRPr lang="en-US" sz="1400" dirty="0"/>
          </a:p>
        </p:txBody>
      </p:sp>
      <p:sp>
        <p:nvSpPr>
          <p:cNvPr id="49" name="Shape 41"/>
          <p:cNvSpPr/>
          <p:nvPr/>
        </p:nvSpPr>
        <p:spPr>
          <a:xfrm>
            <a:off x="365760" y="4617720"/>
            <a:ext cx="1828800" cy="1371600"/>
          </a:xfrm>
          <a:prstGeom prst="roundRect">
            <a:avLst>
              <a:gd name="adj" fmla="val 8000"/>
            </a:avLst>
          </a:prstGeom>
          <a:solidFill>
            <a:srgbClr val="0E1B2A">
              <a:alpha val="88000"/>
            </a:srgbClr>
          </a:solidFill>
          <a:ln w="19050">
            <a:solidFill>
              <a:srgbClr val="C9D6E2"/>
            </a:solidFill>
            <a:prstDash val="solid"/>
          </a:ln>
        </p:spPr>
      </p:sp>
      <p:pic>
        <p:nvPicPr>
          <p:cNvPr id="50" name="Image 6" descr="preencoded.png">    </p:cNvPr>
          <p:cNvPicPr>
            <a:picLocks noChangeAspect="1"/>
          </p:cNvPicPr>
          <p:nvPr/>
        </p:nvPicPr>
        <p:blipFill>
          <a:blip r:embed="rId8"/>
          <a:stretch>
            <a:fillRect/>
          </a:stretch>
        </p:blipFill>
        <p:spPr>
          <a:xfrm>
            <a:off x="1060704" y="4709160"/>
            <a:ext cx="438912" cy="438912"/>
          </a:xfrm>
          <a:prstGeom prst="rect">
            <a:avLst/>
          </a:prstGeom>
        </p:spPr>
      </p:pic>
      <p:sp>
        <p:nvSpPr>
          <p:cNvPr id="51" name="label-pc"/>
          <p:cNvSpPr txBox="1"/>
          <p:nvPr/>
        </p:nvSpPr>
        <p:spPr>
          <a:xfrm>
            <a:off x="365760" y="5166360"/>
            <a:ext cx="1828800" cy="347472"/>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Your PC</a:t>
            </a:r>
            <a:endParaRPr lang="en-US" sz="2000" dirty="0"/>
          </a:p>
        </p:txBody>
      </p:sp>
      <p:sp>
        <p:nvSpPr>
          <p:cNvPr id="52" name="caption-sub-pc"/>
          <p:cNvSpPr txBox="1"/>
          <p:nvPr/>
        </p:nvSpPr>
        <p:spPr>
          <a:xfrm>
            <a:off x="438912" y="5513832"/>
            <a:ext cx="1682496" cy="438912"/>
          </a:xfrm>
          <a:prstGeom prst="rect">
            <a:avLst/>
          </a:prstGeom>
          <a:noFill/>
          <a:ln/>
        </p:spPr>
        <p:txBody>
          <a:bodyPr wrap="square" lIns="0" tIns="0" rIns="0" bIns="0" rtlCol="0" anchor="t"/>
          <a:lstStyle/>
          <a:p>
            <a:pPr algn="ctr" indent="0" marL="0">
              <a:buNone/>
            </a:pPr>
            <a:r>
              <a:rPr lang="en-US" sz="1300" dirty="0">
                <a:solidFill>
                  <a:srgbClr val="E3EBF1"/>
                </a:solidFill>
                <a:latin typeface="Calibri" pitchFamily="34" charset="0"/>
                <a:ea typeface="Calibri" pitchFamily="34" charset="-122"/>
                <a:cs typeface="Calibri" pitchFamily="34" charset="-120"/>
              </a:rPr>
              <a:t>You ask a question</a:t>
            </a:r>
            <a:endParaRPr lang="en-US" sz="1300" dirty="0"/>
          </a:p>
        </p:txBody>
      </p:sp>
      <p:sp>
        <p:nvSpPr>
          <p:cNvPr id="53" name="Shape 44"/>
          <p:cNvSpPr/>
          <p:nvPr/>
        </p:nvSpPr>
        <p:spPr>
          <a:xfrm>
            <a:off x="246888" y="4498848"/>
            <a:ext cx="347472" cy="347472"/>
          </a:xfrm>
          <a:prstGeom prst="ellipse">
            <a:avLst/>
          </a:prstGeom>
          <a:solidFill>
            <a:srgbClr val="F2A33A"/>
          </a:solidFill>
          <a:ln w="12700">
            <a:solidFill>
              <a:srgbClr val="0E1B2A"/>
            </a:solidFill>
            <a:prstDash val="solid"/>
          </a:ln>
        </p:spPr>
      </p:sp>
      <p:sp>
        <p:nvSpPr>
          <p:cNvPr id="54" name="caption-badge-pc"/>
          <p:cNvSpPr txBox="1"/>
          <p:nvPr/>
        </p:nvSpPr>
        <p:spPr>
          <a:xfrm>
            <a:off x="246888" y="4498848"/>
            <a:ext cx="347472" cy="347472"/>
          </a:xfrm>
          <a:prstGeom prst="rect">
            <a:avLst/>
          </a:prstGeom>
          <a:noFill/>
          <a:ln/>
        </p:spPr>
        <p:txBody>
          <a:bodyPr wrap="square" lIns="0" tIns="0" rIns="0" bIns="0" rtlCol="0" anchor="ctr"/>
          <a:lstStyle/>
          <a:p>
            <a:pPr algn="ctr" indent="0" marL="0">
              <a:buNone/>
            </a:pPr>
            <a:r>
              <a:rPr lang="en-US" sz="1400" b="1" dirty="0">
                <a:solidFill>
                  <a:srgbClr val="0E1B2A"/>
                </a:solidFill>
                <a:latin typeface="Calibri" pitchFamily="34" charset="0"/>
                <a:ea typeface="Calibri" pitchFamily="34" charset="-122"/>
                <a:cs typeface="Calibri" pitchFamily="34" charset="-120"/>
              </a:rPr>
              <a:t>1</a:t>
            </a:r>
            <a:endParaRPr lang="en-US" sz="1400" dirty="0"/>
          </a:p>
        </p:txBody>
      </p:sp>
      <p:sp>
        <p:nvSpPr>
          <p:cNvPr id="55" name="Shape 46"/>
          <p:cNvSpPr/>
          <p:nvPr/>
        </p:nvSpPr>
        <p:spPr>
          <a:xfrm>
            <a:off x="2697480" y="4617720"/>
            <a:ext cx="1828800" cy="1371600"/>
          </a:xfrm>
          <a:prstGeom prst="roundRect">
            <a:avLst>
              <a:gd name="adj" fmla="val 8000"/>
            </a:avLst>
          </a:prstGeom>
          <a:solidFill>
            <a:srgbClr val="0E1B2A">
              <a:alpha val="88000"/>
            </a:srgbClr>
          </a:solidFill>
          <a:ln w="19050">
            <a:solidFill>
              <a:srgbClr val="C9D6E2"/>
            </a:solidFill>
            <a:prstDash val="solid"/>
          </a:ln>
        </p:spPr>
      </p:sp>
      <p:pic>
        <p:nvPicPr>
          <p:cNvPr id="56" name="Image 7" descr="preencoded.png">    </p:cNvPr>
          <p:cNvPicPr>
            <a:picLocks noChangeAspect="1"/>
          </p:cNvPicPr>
          <p:nvPr/>
        </p:nvPicPr>
        <p:blipFill>
          <a:blip r:embed="rId9"/>
          <a:stretch>
            <a:fillRect/>
          </a:stretch>
        </p:blipFill>
        <p:spPr>
          <a:xfrm>
            <a:off x="3392424" y="4709160"/>
            <a:ext cx="438912" cy="438912"/>
          </a:xfrm>
          <a:prstGeom prst="rect">
            <a:avLst/>
          </a:prstGeom>
        </p:spPr>
      </p:pic>
      <p:sp>
        <p:nvSpPr>
          <p:cNvPr id="57" name="label-dc"/>
          <p:cNvSpPr txBox="1"/>
          <p:nvPr/>
        </p:nvSpPr>
        <p:spPr>
          <a:xfrm>
            <a:off x="2697480" y="5166360"/>
            <a:ext cx="1828800" cy="347472"/>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Data center</a:t>
            </a:r>
            <a:endParaRPr lang="en-US" sz="2000" dirty="0"/>
          </a:p>
        </p:txBody>
      </p:sp>
      <p:sp>
        <p:nvSpPr>
          <p:cNvPr id="58" name="caption-sub-dc"/>
          <p:cNvSpPr txBox="1"/>
          <p:nvPr/>
        </p:nvSpPr>
        <p:spPr>
          <a:xfrm>
            <a:off x="2770632" y="5513832"/>
            <a:ext cx="1682496" cy="438912"/>
          </a:xfrm>
          <a:prstGeom prst="rect">
            <a:avLst/>
          </a:prstGeom>
          <a:noFill/>
          <a:ln/>
        </p:spPr>
        <p:txBody>
          <a:bodyPr wrap="square" lIns="0" tIns="0" rIns="0" bIns="0" rtlCol="0" anchor="t"/>
          <a:lstStyle/>
          <a:p>
            <a:pPr algn="ctr" indent="0" marL="0">
              <a:buNone/>
            </a:pPr>
            <a:r>
              <a:rPr lang="en-US" sz="1300" dirty="0">
                <a:solidFill>
                  <a:srgbClr val="E3EBF1"/>
                </a:solidFill>
                <a:latin typeface="Calibri" pitchFamily="34" charset="0"/>
                <a:ea typeface="Calibri" pitchFamily="34" charset="-122"/>
                <a:cs typeface="Calibri" pitchFamily="34" charset="-120"/>
              </a:rPr>
              <a:t>Gets your question</a:t>
            </a:r>
            <a:endParaRPr lang="en-US" sz="1300" dirty="0"/>
          </a:p>
        </p:txBody>
      </p:sp>
      <p:sp>
        <p:nvSpPr>
          <p:cNvPr id="59" name="Shape 49"/>
          <p:cNvSpPr/>
          <p:nvPr/>
        </p:nvSpPr>
        <p:spPr>
          <a:xfrm>
            <a:off x="2578608" y="4498848"/>
            <a:ext cx="347472" cy="347472"/>
          </a:xfrm>
          <a:prstGeom prst="ellipse">
            <a:avLst/>
          </a:prstGeom>
          <a:solidFill>
            <a:srgbClr val="F2A33A"/>
          </a:solidFill>
          <a:ln w="12700">
            <a:solidFill>
              <a:srgbClr val="0E1B2A"/>
            </a:solidFill>
            <a:prstDash val="solid"/>
          </a:ln>
        </p:spPr>
      </p:sp>
      <p:sp>
        <p:nvSpPr>
          <p:cNvPr id="60" name="caption-badge-dc"/>
          <p:cNvSpPr txBox="1"/>
          <p:nvPr/>
        </p:nvSpPr>
        <p:spPr>
          <a:xfrm>
            <a:off x="2578608" y="4498848"/>
            <a:ext cx="347472" cy="347472"/>
          </a:xfrm>
          <a:prstGeom prst="rect">
            <a:avLst/>
          </a:prstGeom>
          <a:noFill/>
          <a:ln/>
        </p:spPr>
        <p:txBody>
          <a:bodyPr wrap="square" lIns="0" tIns="0" rIns="0" bIns="0" rtlCol="0" anchor="ctr"/>
          <a:lstStyle/>
          <a:p>
            <a:pPr algn="ctr" indent="0" marL="0">
              <a:buNone/>
            </a:pPr>
            <a:r>
              <a:rPr lang="en-US" sz="1400" b="1" dirty="0">
                <a:solidFill>
                  <a:srgbClr val="0E1B2A"/>
                </a:solidFill>
                <a:latin typeface="Calibri" pitchFamily="34" charset="0"/>
                <a:ea typeface="Calibri" pitchFamily="34" charset="-122"/>
                <a:cs typeface="Calibri" pitchFamily="34" charset="-120"/>
              </a:rPr>
              <a:t>2</a:t>
            </a:r>
            <a:endParaRPr lang="en-US" sz="1400" dirty="0"/>
          </a:p>
        </p:txBody>
      </p:sp>
      <p:sp>
        <p:nvSpPr>
          <p:cNvPr id="61" name="Shape 51"/>
          <p:cNvSpPr/>
          <p:nvPr/>
        </p:nvSpPr>
        <p:spPr>
          <a:xfrm>
            <a:off x="5029200" y="4617720"/>
            <a:ext cx="1828800" cy="1371600"/>
          </a:xfrm>
          <a:prstGeom prst="roundRect">
            <a:avLst>
              <a:gd name="adj" fmla="val 8000"/>
            </a:avLst>
          </a:prstGeom>
          <a:solidFill>
            <a:srgbClr val="0E1B2A">
              <a:alpha val="88000"/>
            </a:srgbClr>
          </a:solidFill>
          <a:ln w="19050">
            <a:solidFill>
              <a:srgbClr val="C9D6E2"/>
            </a:solidFill>
            <a:prstDash val="solid"/>
          </a:ln>
        </p:spPr>
      </p:sp>
      <p:pic>
        <p:nvPicPr>
          <p:cNvPr id="62" name="Image 8" descr="preencoded.png">    </p:cNvPr>
          <p:cNvPicPr>
            <a:picLocks noChangeAspect="1"/>
          </p:cNvPicPr>
          <p:nvPr/>
        </p:nvPicPr>
        <p:blipFill>
          <a:blip r:embed="rId10"/>
          <a:stretch>
            <a:fillRect/>
          </a:stretch>
        </p:blipFill>
        <p:spPr>
          <a:xfrm>
            <a:off x="5724144" y="4709160"/>
            <a:ext cx="438912" cy="438912"/>
          </a:xfrm>
          <a:prstGeom prst="rect">
            <a:avLst/>
          </a:prstGeom>
        </p:spPr>
      </p:pic>
      <p:sp>
        <p:nvSpPr>
          <p:cNvPr id="63" name="label-chips"/>
          <p:cNvSpPr txBox="1"/>
          <p:nvPr/>
        </p:nvSpPr>
        <p:spPr>
          <a:xfrm>
            <a:off x="5029200" y="5166360"/>
            <a:ext cx="1828800" cy="347472"/>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AI chips</a:t>
            </a:r>
            <a:endParaRPr lang="en-US" sz="2000" dirty="0"/>
          </a:p>
        </p:txBody>
      </p:sp>
      <p:sp>
        <p:nvSpPr>
          <p:cNvPr id="64" name="caption-sub-chips"/>
          <p:cNvSpPr txBox="1"/>
          <p:nvPr/>
        </p:nvSpPr>
        <p:spPr>
          <a:xfrm>
            <a:off x="5102352" y="5513832"/>
            <a:ext cx="1682496" cy="438912"/>
          </a:xfrm>
          <a:prstGeom prst="rect">
            <a:avLst/>
          </a:prstGeom>
          <a:noFill/>
          <a:ln/>
        </p:spPr>
        <p:txBody>
          <a:bodyPr wrap="square" lIns="0" tIns="0" rIns="0" bIns="0" rtlCol="0" anchor="t"/>
          <a:lstStyle/>
          <a:p>
            <a:pPr algn="ctr" indent="0" marL="0">
              <a:buNone/>
            </a:pPr>
            <a:r>
              <a:rPr lang="en-US" sz="1300" dirty="0">
                <a:solidFill>
                  <a:srgbClr val="E3EBF1"/>
                </a:solidFill>
                <a:latin typeface="Calibri" pitchFamily="34" charset="0"/>
                <a:ea typeface="Calibri" pitchFamily="34" charset="-122"/>
                <a:cs typeface="Calibri" pitchFamily="34" charset="-120"/>
              </a:rPr>
              <a:t>Billions of calculations</a:t>
            </a:r>
            <a:endParaRPr lang="en-US" sz="1300" dirty="0"/>
          </a:p>
        </p:txBody>
      </p:sp>
      <p:sp>
        <p:nvSpPr>
          <p:cNvPr id="65" name="Shape 54"/>
          <p:cNvSpPr/>
          <p:nvPr/>
        </p:nvSpPr>
        <p:spPr>
          <a:xfrm>
            <a:off x="4910328" y="4498848"/>
            <a:ext cx="347472" cy="347472"/>
          </a:xfrm>
          <a:prstGeom prst="ellipse">
            <a:avLst/>
          </a:prstGeom>
          <a:solidFill>
            <a:srgbClr val="F2A33A"/>
          </a:solidFill>
          <a:ln w="12700">
            <a:solidFill>
              <a:srgbClr val="0E1B2A"/>
            </a:solidFill>
            <a:prstDash val="solid"/>
          </a:ln>
        </p:spPr>
      </p:sp>
      <p:sp>
        <p:nvSpPr>
          <p:cNvPr id="66" name="caption-badge-chips"/>
          <p:cNvSpPr txBox="1"/>
          <p:nvPr/>
        </p:nvSpPr>
        <p:spPr>
          <a:xfrm>
            <a:off x="4910328" y="4498848"/>
            <a:ext cx="347472" cy="347472"/>
          </a:xfrm>
          <a:prstGeom prst="rect">
            <a:avLst/>
          </a:prstGeom>
          <a:noFill/>
          <a:ln/>
        </p:spPr>
        <p:txBody>
          <a:bodyPr wrap="square" lIns="0" tIns="0" rIns="0" bIns="0" rtlCol="0" anchor="ctr"/>
          <a:lstStyle/>
          <a:p>
            <a:pPr algn="ctr" indent="0" marL="0">
              <a:buNone/>
            </a:pPr>
            <a:r>
              <a:rPr lang="en-US" sz="1400" b="1" dirty="0">
                <a:solidFill>
                  <a:srgbClr val="0E1B2A"/>
                </a:solidFill>
                <a:latin typeface="Calibri" pitchFamily="34" charset="0"/>
                <a:ea typeface="Calibri" pitchFamily="34" charset="-122"/>
                <a:cs typeface="Calibri" pitchFamily="34" charset="-120"/>
              </a:rPr>
              <a:t>3</a:t>
            </a:r>
            <a:endParaRPr lang="en-US" sz="1400" dirty="0"/>
          </a:p>
        </p:txBody>
      </p:sp>
      <p:sp>
        <p:nvSpPr>
          <p:cNvPr id="67" name="Shape 56"/>
          <p:cNvSpPr/>
          <p:nvPr/>
        </p:nvSpPr>
        <p:spPr>
          <a:xfrm>
            <a:off x="7360920" y="4617720"/>
            <a:ext cx="1828800" cy="1371600"/>
          </a:xfrm>
          <a:prstGeom prst="roundRect">
            <a:avLst>
              <a:gd name="adj" fmla="val 8000"/>
            </a:avLst>
          </a:prstGeom>
          <a:solidFill>
            <a:srgbClr val="0E1B2A">
              <a:alpha val="88000"/>
            </a:srgbClr>
          </a:solidFill>
          <a:ln w="19050">
            <a:solidFill>
              <a:srgbClr val="FF7A45"/>
            </a:solidFill>
            <a:prstDash val="solid"/>
          </a:ln>
        </p:spPr>
      </p:sp>
      <p:pic>
        <p:nvPicPr>
          <p:cNvPr id="68" name="Image 9" descr="preencoded.png">    </p:cNvPr>
          <p:cNvPicPr>
            <a:picLocks noChangeAspect="1"/>
          </p:cNvPicPr>
          <p:nvPr/>
        </p:nvPicPr>
        <p:blipFill>
          <a:blip r:embed="rId11"/>
          <a:stretch>
            <a:fillRect/>
          </a:stretch>
        </p:blipFill>
        <p:spPr>
          <a:xfrm>
            <a:off x="8055864" y="4709160"/>
            <a:ext cx="438912" cy="438912"/>
          </a:xfrm>
          <a:prstGeom prst="rect">
            <a:avLst/>
          </a:prstGeom>
        </p:spPr>
      </p:pic>
      <p:sp>
        <p:nvSpPr>
          <p:cNvPr id="69" name="label-heat"/>
          <p:cNvSpPr txBox="1"/>
          <p:nvPr/>
        </p:nvSpPr>
        <p:spPr>
          <a:xfrm>
            <a:off x="7360920" y="5166360"/>
            <a:ext cx="1828800" cy="347472"/>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Heat</a:t>
            </a:r>
            <a:endParaRPr lang="en-US" sz="2000" dirty="0"/>
          </a:p>
        </p:txBody>
      </p:sp>
      <p:sp>
        <p:nvSpPr>
          <p:cNvPr id="70" name="caption-sub-heat"/>
          <p:cNvSpPr txBox="1"/>
          <p:nvPr/>
        </p:nvSpPr>
        <p:spPr>
          <a:xfrm>
            <a:off x="7434072" y="5513832"/>
            <a:ext cx="1682496" cy="438912"/>
          </a:xfrm>
          <a:prstGeom prst="rect">
            <a:avLst/>
          </a:prstGeom>
          <a:noFill/>
          <a:ln/>
        </p:spPr>
        <p:txBody>
          <a:bodyPr wrap="square" lIns="0" tIns="0" rIns="0" bIns="0" rtlCol="0" anchor="t"/>
          <a:lstStyle/>
          <a:p>
            <a:pPr algn="ctr" indent="0" marL="0">
              <a:buNone/>
            </a:pPr>
            <a:r>
              <a:rPr lang="en-US" sz="1300" dirty="0">
                <a:solidFill>
                  <a:srgbClr val="E3EBF1"/>
                </a:solidFill>
                <a:latin typeface="Calibri" pitchFamily="34" charset="0"/>
                <a:ea typeface="Calibri" pitchFamily="34" charset="-122"/>
                <a:cs typeface="Calibri" pitchFamily="34" charset="-120"/>
              </a:rPr>
              <a:t>The chips get hot</a:t>
            </a:r>
            <a:endParaRPr lang="en-US" sz="1300" dirty="0"/>
          </a:p>
        </p:txBody>
      </p:sp>
      <p:sp>
        <p:nvSpPr>
          <p:cNvPr id="71" name="Shape 59"/>
          <p:cNvSpPr/>
          <p:nvPr/>
        </p:nvSpPr>
        <p:spPr>
          <a:xfrm>
            <a:off x="7242048" y="4498848"/>
            <a:ext cx="347472" cy="347472"/>
          </a:xfrm>
          <a:prstGeom prst="ellipse">
            <a:avLst/>
          </a:prstGeom>
          <a:solidFill>
            <a:srgbClr val="F2A33A"/>
          </a:solidFill>
          <a:ln w="12700">
            <a:solidFill>
              <a:srgbClr val="0E1B2A"/>
            </a:solidFill>
            <a:prstDash val="solid"/>
          </a:ln>
        </p:spPr>
      </p:sp>
      <p:sp>
        <p:nvSpPr>
          <p:cNvPr id="72" name="caption-badge-heat"/>
          <p:cNvSpPr txBox="1"/>
          <p:nvPr/>
        </p:nvSpPr>
        <p:spPr>
          <a:xfrm>
            <a:off x="7242048" y="4498848"/>
            <a:ext cx="347472" cy="347472"/>
          </a:xfrm>
          <a:prstGeom prst="rect">
            <a:avLst/>
          </a:prstGeom>
          <a:noFill/>
          <a:ln/>
        </p:spPr>
        <p:txBody>
          <a:bodyPr wrap="square" lIns="0" tIns="0" rIns="0" bIns="0" rtlCol="0" anchor="ctr"/>
          <a:lstStyle/>
          <a:p>
            <a:pPr algn="ctr" indent="0" marL="0">
              <a:buNone/>
            </a:pPr>
            <a:r>
              <a:rPr lang="en-US" sz="1400" b="1" dirty="0">
                <a:solidFill>
                  <a:srgbClr val="0E1B2A"/>
                </a:solidFill>
                <a:latin typeface="Calibri" pitchFamily="34" charset="0"/>
                <a:ea typeface="Calibri" pitchFamily="34" charset="-122"/>
                <a:cs typeface="Calibri" pitchFamily="34" charset="-120"/>
              </a:rPr>
              <a:t>4</a:t>
            </a:r>
            <a:endParaRPr lang="en-US" sz="1400" dirty="0"/>
          </a:p>
        </p:txBody>
      </p:sp>
      <p:sp>
        <p:nvSpPr>
          <p:cNvPr id="73" name="Shape 61"/>
          <p:cNvSpPr/>
          <p:nvPr/>
        </p:nvSpPr>
        <p:spPr>
          <a:xfrm>
            <a:off x="9692640" y="4617720"/>
            <a:ext cx="1828800" cy="1371600"/>
          </a:xfrm>
          <a:prstGeom prst="roundRect">
            <a:avLst>
              <a:gd name="adj" fmla="val 8000"/>
            </a:avLst>
          </a:prstGeom>
          <a:solidFill>
            <a:srgbClr val="0E1B2A">
              <a:alpha val="88000"/>
            </a:srgbClr>
          </a:solidFill>
          <a:ln w="19050">
            <a:solidFill>
              <a:srgbClr val="4FC3F7"/>
            </a:solidFill>
            <a:prstDash val="solid"/>
          </a:ln>
        </p:spPr>
      </p:sp>
      <p:pic>
        <p:nvPicPr>
          <p:cNvPr id="74" name="Image 10" descr="preencoded.png">    </p:cNvPr>
          <p:cNvPicPr>
            <a:picLocks noChangeAspect="1"/>
          </p:cNvPicPr>
          <p:nvPr/>
        </p:nvPicPr>
        <p:blipFill>
          <a:blip r:embed="rId12"/>
          <a:stretch>
            <a:fillRect/>
          </a:stretch>
        </p:blipFill>
        <p:spPr>
          <a:xfrm>
            <a:off x="10387584" y="4709160"/>
            <a:ext cx="438912" cy="438912"/>
          </a:xfrm>
          <a:prstGeom prst="rect">
            <a:avLst/>
          </a:prstGeom>
        </p:spPr>
      </p:pic>
      <p:sp>
        <p:nvSpPr>
          <p:cNvPr id="75" name="label-cooling"/>
          <p:cNvSpPr txBox="1"/>
          <p:nvPr/>
        </p:nvSpPr>
        <p:spPr>
          <a:xfrm>
            <a:off x="9692640" y="5166360"/>
            <a:ext cx="1828800" cy="347472"/>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Cooling</a:t>
            </a:r>
            <a:endParaRPr lang="en-US" sz="2000" dirty="0"/>
          </a:p>
        </p:txBody>
      </p:sp>
      <p:sp>
        <p:nvSpPr>
          <p:cNvPr id="76" name="caption-sub-cooling"/>
          <p:cNvSpPr txBox="1"/>
          <p:nvPr/>
        </p:nvSpPr>
        <p:spPr>
          <a:xfrm>
            <a:off x="9765792" y="5513832"/>
            <a:ext cx="1682496" cy="438912"/>
          </a:xfrm>
          <a:prstGeom prst="rect">
            <a:avLst/>
          </a:prstGeom>
          <a:noFill/>
          <a:ln/>
        </p:spPr>
        <p:txBody>
          <a:bodyPr wrap="square" lIns="0" tIns="0" rIns="0" bIns="0" rtlCol="0" anchor="t"/>
          <a:lstStyle/>
          <a:p>
            <a:pPr algn="ctr" indent="0" marL="0">
              <a:buNone/>
            </a:pPr>
            <a:r>
              <a:rPr lang="en-US" sz="1300" dirty="0">
                <a:solidFill>
                  <a:srgbClr val="E3EBF1"/>
                </a:solidFill>
                <a:latin typeface="Calibri" pitchFamily="34" charset="0"/>
                <a:ea typeface="Calibri" pitchFamily="34" charset="-122"/>
                <a:cs typeface="Calibri" pitchFamily="34" charset="-120"/>
              </a:rPr>
              <a:t>Water evaporates</a:t>
            </a:r>
            <a:endParaRPr lang="en-US" sz="1300" dirty="0"/>
          </a:p>
        </p:txBody>
      </p:sp>
      <p:sp>
        <p:nvSpPr>
          <p:cNvPr id="77" name="Shape 64"/>
          <p:cNvSpPr/>
          <p:nvPr/>
        </p:nvSpPr>
        <p:spPr>
          <a:xfrm>
            <a:off x="9573768" y="4498848"/>
            <a:ext cx="347472" cy="347472"/>
          </a:xfrm>
          <a:prstGeom prst="ellipse">
            <a:avLst/>
          </a:prstGeom>
          <a:solidFill>
            <a:srgbClr val="F2A33A"/>
          </a:solidFill>
          <a:ln w="12700">
            <a:solidFill>
              <a:srgbClr val="0E1B2A"/>
            </a:solidFill>
            <a:prstDash val="solid"/>
          </a:ln>
        </p:spPr>
      </p:sp>
      <p:sp>
        <p:nvSpPr>
          <p:cNvPr id="78" name="caption-badge-cooling"/>
          <p:cNvSpPr txBox="1"/>
          <p:nvPr/>
        </p:nvSpPr>
        <p:spPr>
          <a:xfrm>
            <a:off x="9573768" y="4498848"/>
            <a:ext cx="347472" cy="347472"/>
          </a:xfrm>
          <a:prstGeom prst="rect">
            <a:avLst/>
          </a:prstGeom>
          <a:noFill/>
          <a:ln/>
        </p:spPr>
        <p:txBody>
          <a:bodyPr wrap="square" lIns="0" tIns="0" rIns="0" bIns="0" rtlCol="0" anchor="ctr"/>
          <a:lstStyle/>
          <a:p>
            <a:pPr algn="ctr" indent="0" marL="0">
              <a:buNone/>
            </a:pPr>
            <a:r>
              <a:rPr lang="en-US" sz="1400" b="1" dirty="0">
                <a:solidFill>
                  <a:srgbClr val="0E1B2A"/>
                </a:solidFill>
                <a:latin typeface="Calibri" pitchFamily="34" charset="0"/>
                <a:ea typeface="Calibri" pitchFamily="34" charset="-122"/>
                <a:cs typeface="Calibri" pitchFamily="34" charset="-120"/>
              </a:rPr>
              <a:t>5</a:t>
            </a:r>
            <a:endParaRPr lang="en-US" sz="1400" dirty="0"/>
          </a:p>
        </p:txBody>
      </p:sp>
      <p:sp>
        <p:nvSpPr>
          <p:cNvPr id="79" name="Shape 66"/>
          <p:cNvSpPr/>
          <p:nvPr/>
        </p:nvSpPr>
        <p:spPr>
          <a:xfrm>
            <a:off x="411480" y="6400800"/>
            <a:ext cx="411480" cy="0"/>
          </a:xfrm>
          <a:prstGeom prst="line">
            <a:avLst/>
          </a:prstGeom>
          <a:noFill/>
          <a:ln w="34925">
            <a:solidFill>
              <a:srgbClr val="C9D6E2"/>
            </a:solidFill>
            <a:prstDash val="solid"/>
            <a:tailEnd type="triangle"/>
          </a:ln>
        </p:spPr>
      </p:sp>
      <p:sp>
        <p:nvSpPr>
          <p:cNvPr id="80" name="caption-legend"/>
          <p:cNvSpPr txBox="1"/>
          <p:nvPr/>
        </p:nvSpPr>
        <p:spPr>
          <a:xfrm>
            <a:off x="914400" y="6263640"/>
            <a:ext cx="2377440" cy="274320"/>
          </a:xfrm>
          <a:prstGeom prst="rect">
            <a:avLst/>
          </a:prstGeom>
          <a:noFill/>
          <a:ln/>
        </p:spPr>
        <p:txBody>
          <a:bodyPr wrap="square" lIns="0" tIns="0" rIns="0" bIns="0" rtlCol="0" anchor="ctr"/>
          <a:lstStyle/>
          <a:p>
            <a:pPr indent="0" marL="0">
              <a:buNone/>
            </a:pPr>
            <a:r>
              <a:rPr lang="en-US" sz="1300" dirty="0">
                <a:solidFill>
                  <a:srgbClr val="E3EBF1"/>
                </a:solidFill>
                <a:latin typeface="Calibri" pitchFamily="34" charset="0"/>
                <a:ea typeface="Calibri" pitchFamily="34" charset="-122"/>
                <a:cs typeface="Calibri" pitchFamily="34" charset="-120"/>
              </a:rPr>
              <a:t>Your question &amp; computing</a:t>
            </a:r>
            <a:endParaRPr lang="en-US" sz="1300" dirty="0"/>
          </a:p>
        </p:txBody>
      </p:sp>
      <p:sp>
        <p:nvSpPr>
          <p:cNvPr id="81" name="Shape 68"/>
          <p:cNvSpPr/>
          <p:nvPr/>
        </p:nvSpPr>
        <p:spPr>
          <a:xfrm>
            <a:off x="3268980" y="6400800"/>
            <a:ext cx="411480" cy="0"/>
          </a:xfrm>
          <a:prstGeom prst="line">
            <a:avLst/>
          </a:prstGeom>
          <a:noFill/>
          <a:ln w="34925">
            <a:solidFill>
              <a:srgbClr val="FF7A45"/>
            </a:solidFill>
            <a:prstDash val="solid"/>
            <a:tailEnd type="triangle"/>
          </a:ln>
        </p:spPr>
      </p:sp>
      <p:sp>
        <p:nvSpPr>
          <p:cNvPr id="82" name="caption-legend"/>
          <p:cNvSpPr txBox="1"/>
          <p:nvPr/>
        </p:nvSpPr>
        <p:spPr>
          <a:xfrm>
            <a:off x="3771900" y="6263640"/>
            <a:ext cx="2377440" cy="274320"/>
          </a:xfrm>
          <a:prstGeom prst="rect">
            <a:avLst/>
          </a:prstGeom>
          <a:noFill/>
          <a:ln/>
        </p:spPr>
        <p:txBody>
          <a:bodyPr wrap="square" lIns="0" tIns="0" rIns="0" bIns="0" rtlCol="0" anchor="ctr"/>
          <a:lstStyle/>
          <a:p>
            <a:pPr indent="0" marL="0">
              <a:buNone/>
            </a:pPr>
            <a:r>
              <a:rPr lang="en-US" sz="1300" dirty="0">
                <a:solidFill>
                  <a:srgbClr val="E3EBF1"/>
                </a:solidFill>
                <a:latin typeface="Calibri" pitchFamily="34" charset="0"/>
                <a:ea typeface="Calibri" pitchFamily="34" charset="-122"/>
                <a:cs typeface="Calibri" pitchFamily="34" charset="-120"/>
              </a:rPr>
              <a:t>Heat</a:t>
            </a:r>
            <a:endParaRPr lang="en-US" sz="1300" dirty="0"/>
          </a:p>
        </p:txBody>
      </p:sp>
      <p:sp>
        <p:nvSpPr>
          <p:cNvPr id="83" name="Shape 70"/>
          <p:cNvSpPr/>
          <p:nvPr/>
        </p:nvSpPr>
        <p:spPr>
          <a:xfrm>
            <a:off x="4494276" y="6400800"/>
            <a:ext cx="411480" cy="0"/>
          </a:xfrm>
          <a:prstGeom prst="line">
            <a:avLst/>
          </a:prstGeom>
          <a:noFill/>
          <a:ln w="34925">
            <a:solidFill>
              <a:srgbClr val="4FC3F7"/>
            </a:solidFill>
            <a:prstDash val="solid"/>
            <a:tailEnd type="triangle"/>
          </a:ln>
        </p:spPr>
      </p:sp>
      <p:sp>
        <p:nvSpPr>
          <p:cNvPr id="84" name="caption-legend"/>
          <p:cNvSpPr txBox="1"/>
          <p:nvPr/>
        </p:nvSpPr>
        <p:spPr>
          <a:xfrm>
            <a:off x="4997196" y="6263640"/>
            <a:ext cx="2377440" cy="274320"/>
          </a:xfrm>
          <a:prstGeom prst="rect">
            <a:avLst/>
          </a:prstGeom>
          <a:noFill/>
          <a:ln/>
        </p:spPr>
        <p:txBody>
          <a:bodyPr wrap="square" lIns="0" tIns="0" rIns="0" bIns="0" rtlCol="0" anchor="ctr"/>
          <a:lstStyle/>
          <a:p>
            <a:pPr indent="0" marL="0">
              <a:buNone/>
            </a:pPr>
            <a:r>
              <a:rPr lang="en-US" sz="1300" dirty="0">
                <a:solidFill>
                  <a:srgbClr val="E3EBF1"/>
                </a:solidFill>
                <a:latin typeface="Calibri" pitchFamily="34" charset="0"/>
                <a:ea typeface="Calibri" pitchFamily="34" charset="-122"/>
                <a:cs typeface="Calibri" pitchFamily="34" charset="-120"/>
              </a:rPr>
              <a:t>Water</a:t>
            </a:r>
            <a:endParaRPr lang="en-US" sz="1300" dirty="0"/>
          </a:p>
        </p:txBody>
      </p:sp>
      <p:sp>
        <p:nvSpPr>
          <p:cNvPr id="85" name="Shape 72"/>
          <p:cNvSpPr/>
          <p:nvPr/>
        </p:nvSpPr>
        <p:spPr>
          <a:xfrm>
            <a:off x="5797296" y="6400800"/>
            <a:ext cx="411480" cy="0"/>
          </a:xfrm>
          <a:prstGeom prst="line">
            <a:avLst/>
          </a:prstGeom>
          <a:noFill/>
          <a:ln w="34925">
            <a:solidFill>
              <a:srgbClr val="F2A33A"/>
            </a:solidFill>
            <a:prstDash val="solid"/>
            <a:tailEnd type="triangle"/>
          </a:ln>
        </p:spPr>
      </p:sp>
      <p:sp>
        <p:nvSpPr>
          <p:cNvPr id="86" name="caption-legend"/>
          <p:cNvSpPr txBox="1"/>
          <p:nvPr/>
        </p:nvSpPr>
        <p:spPr>
          <a:xfrm>
            <a:off x="6300216" y="6263640"/>
            <a:ext cx="2377440" cy="274320"/>
          </a:xfrm>
          <a:prstGeom prst="rect">
            <a:avLst/>
          </a:prstGeom>
          <a:noFill/>
          <a:ln/>
        </p:spPr>
        <p:txBody>
          <a:bodyPr wrap="square" lIns="0" tIns="0" rIns="0" bIns="0" rtlCol="0" anchor="ctr"/>
          <a:lstStyle/>
          <a:p>
            <a:pPr indent="0" marL="0">
              <a:buNone/>
            </a:pPr>
            <a:r>
              <a:rPr lang="en-US" sz="1300" dirty="0">
                <a:solidFill>
                  <a:srgbClr val="E3EBF1"/>
                </a:solidFill>
                <a:latin typeface="Calibri" pitchFamily="34" charset="0"/>
                <a:ea typeface="Calibri" pitchFamily="34" charset="-122"/>
                <a:cs typeface="Calibri" pitchFamily="34" charset="-120"/>
              </a:rPr>
              <a:t>Electricity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One AI Question Uses Water and Power</dc:title>
  <dc:subject>PptxGenJS Presentation</dc:subject>
  <dc:creator>PptxGenJS</dc:creator>
  <cp:lastModifiedBy>PptxGenJS</cp:lastModifiedBy>
  <cp:revision>1</cp:revision>
  <dcterms:created xsi:type="dcterms:W3CDTF">2026-10-17T13:23:06Z</dcterms:created>
  <dcterms:modified xsi:type="dcterms:W3CDTF">2026-10-17T13:23:06Z</dcterms:modified>
</cp:coreProperties>
</file>