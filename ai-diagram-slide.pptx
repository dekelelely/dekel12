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DIAGRAM – how one AI question uses water and power (simplified)</a:t>
            </a:r>
          </a:p>
          <a:p>
            <a:endParaRPr lang="en-US" dirty="0"/>
          </a:p>
          <a:p>
            <a:r>
              <a:rPr lang="en-US" dirty="0"/>
              <a:t>1. You ask a question on your PC. It travels over the internet to a data center, and the answer comes back the same way.</a:t>
            </a:r>
          </a:p>
          <a:p>
            <a:r>
              <a:rPr lang="en-US" dirty="0"/>
              <a:t>2–3. In the data center, AI chips do billions of calculations. They run on electricity from the power plant.</a:t>
            </a:r>
          </a:p>
          <a:p>
            <a:r>
              <a:rPr lang="en-US" dirty="0"/>
              <a:t>4. All that work turns electricity into heat. Water flows past the chips and carries the heat away.</a:t>
            </a:r>
          </a:p>
          <a:p>
            <a:r>
              <a:rPr lang="en-US" dirty="0"/>
              <a:t>5. The hot water goes to a cooling tower. Some of it evaporates, and that cools the rest. The cooled water goes back to the chips: this is the inner cooling loop.</a:t>
            </a:r>
          </a:p>
          <a:p>
            <a:r>
              <a:rPr lang="en-US" dirty="0"/>
              <a:t>6. The vapor rises and forms clouds. It falls again as rain: some into rivers and dams, some into the sea.</a:t>
            </a:r>
          </a:p>
          <a:p>
            <a:r>
              <a:rPr lang="en-US" dirty="0"/>
              <a:t>7–8. Desalination plants turn sea water into fresh water. In Israel, most tap water comes from desalination. Fresh water refills the cooling loop, so the big water circle closes.</a:t>
            </a:r>
          </a:p>
          <a:p>
            <a:r>
              <a:rPr lang="en-US" dirty="0"/>
              <a:t>Power plant: makes the electricity for the data center AND for the desalination plant. Here, water falling from a dam spins a turbine: its kinetic energy becomes electricity.</a:t>
            </a:r>
          </a:p>
          <a:p>
            <a:endParaRPr lang="en-US" dirty="0"/>
          </a:p>
          <a:p>
            <a:r>
              <a:rPr lang="en-US" b="1" dirty="0"/>
              <a:t>Be honest if asked: most electricity, especially in Israel, comes from gas plants. They heat water into steam, and the moving steam spins the turbine. These plants also evaporate cooling water. That is the off-site water on Slide 2 (about 12 times more than US data centers use on-site).</a:t>
            </a:r>
          </a:p>
          <a:p>
            <a:r>
              <a:rPr lang="en-US" dirty="0"/>
              <a:t>Simplified: real water takes days to years to go around the cycle, and the rain does not fall back on the same data center.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slideLayout" Target="../slideLayouts/slideLayout1.xml"/><Relationship Id="rId1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212080"/>
            <a:ext cx="8503920" cy="1645920"/>
          </a:xfrm>
          <a:custGeom>
            <a:avLst/>
            <a:gdLst/>
            <a:ahLst/>
            <a:cxnLst/>
            <a:rect l="l" t="t" r="r" b="b"/>
            <a:pathLst>
              <a:path w="8503920" h="1645920">
                <a:moveTo>
                  <a:pt x="0" y="228600"/>
                </a:moveTo>
                <a:cubicBezTo>
                  <a:pt x="1463040" y="-91440"/>
                  <a:pt x="2926080" y="182880"/>
                  <a:pt x="4206240" y="45720"/>
                </a:cubicBezTo>
                <a:cubicBezTo>
                  <a:pt x="5669280" y="-137160"/>
                  <a:pt x="7498080" y="91440"/>
                  <a:pt x="8503920" y="411480"/>
                </a:cubicBezTo>
                <a:lnTo>
                  <a:pt x="8503920" y="1645920"/>
                </a:lnTo>
                <a:lnTo>
                  <a:pt x="0" y="1645920"/>
                </a:lnTo>
                <a:close/>
              </a:path>
            </a:pathLst>
          </a:custGeom>
          <a:solidFill>
            <a:srgbClr val="2E5A45">
              <a:alpha val="45000"/>
            </a:srgbClr>
          </a:solidFill>
          <a:ln/>
        </p:spPr>
      </p:sp>
      <p:sp>
        <p:nvSpPr>
          <p:cNvPr id="3" name="Shape 1"/>
          <p:cNvSpPr/>
          <p:nvPr/>
        </p:nvSpPr>
        <p:spPr>
          <a:xfrm>
            <a:off x="8138160" y="5440680"/>
            <a:ext cx="4114800" cy="1417320"/>
          </a:xfrm>
          <a:custGeom>
            <a:avLst/>
            <a:gdLst/>
            <a:ahLst/>
            <a:cxnLst/>
            <a:rect l="l" t="t" r="r" b="b"/>
            <a:pathLst>
              <a:path w="4114800" h="1417320">
                <a:moveTo>
                  <a:pt x="0" y="137160"/>
                </a:moveTo>
                <a:cubicBezTo>
                  <a:pt x="182880" y="-45720"/>
                  <a:pt x="502920" y="320040"/>
                  <a:pt x="685800" y="137160"/>
                </a:cubicBezTo>
                <a:cubicBezTo>
                  <a:pt x="868680" y="-45720"/>
                  <a:pt x="1188720" y="320040"/>
                  <a:pt x="1371600" y="137160"/>
                </a:cubicBezTo>
                <a:cubicBezTo>
                  <a:pt x="1554480" y="-45720"/>
                  <a:pt x="1874520" y="320040"/>
                  <a:pt x="2057400" y="137160"/>
                </a:cubicBezTo>
                <a:cubicBezTo>
                  <a:pt x="2240280" y="-45720"/>
                  <a:pt x="2560320" y="320040"/>
                  <a:pt x="2743200" y="137160"/>
                </a:cubicBezTo>
                <a:cubicBezTo>
                  <a:pt x="2926080" y="-45720"/>
                  <a:pt x="3246120" y="320040"/>
                  <a:pt x="3429000" y="137160"/>
                </a:cubicBezTo>
                <a:cubicBezTo>
                  <a:pt x="3611880" y="-45720"/>
                  <a:pt x="3931920" y="320040"/>
                  <a:pt x="4114800" y="137160"/>
                </a:cubicBezTo>
                <a:lnTo>
                  <a:pt x="4114800" y="1417320"/>
                </a:lnTo>
                <a:lnTo>
                  <a:pt x="0" y="1417320"/>
                </a:lnTo>
                <a:close/>
              </a:path>
            </a:pathLst>
          </a:custGeom>
          <a:solidFill>
            <a:srgbClr val="1E88C8">
              <a:alpha val="55000"/>
            </a:srgbClr>
          </a:solidFill>
          <a:ln/>
        </p:spPr>
      </p:sp>
      <p:sp>
        <p:nvSpPr>
          <p:cNvPr id="4" name="title"/>
          <p:cNvSpPr txBox="1"/>
          <p:nvPr/>
        </p:nvSpPr>
        <p:spPr>
          <a:xfrm>
            <a:off x="320040" y="164592"/>
            <a:ext cx="877824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How One AI Question Uses Water and Power</a:t>
            </a:r>
            <a:endParaRPr lang="en-US" sz="3000" dirty="0"/>
          </a:p>
        </p:txBody>
      </p:sp>
      <p:sp>
        <p:nvSpPr>
          <p:cNvPr id="5" name="Shape 3"/>
          <p:cNvSpPr/>
          <p:nvPr/>
        </p:nvSpPr>
        <p:spPr>
          <a:xfrm>
            <a:off x="4526280" y="2240280"/>
            <a:ext cx="4800600" cy="2880360"/>
          </a:xfrm>
          <a:prstGeom prst="roundRect">
            <a:avLst>
              <a:gd name="adj" fmla="val 5714"/>
            </a:avLst>
          </a:prstGeom>
          <a:solidFill>
            <a:srgbClr val="0B2239">
              <a:alpha val="92000"/>
            </a:srgbClr>
          </a:solidFill>
          <a:ln w="28575">
            <a:solidFill>
              <a:srgbClr val="C9D6E2"/>
            </a:solidFill>
            <a:prstDash val="solid"/>
          </a:ln>
        </p:spPr>
      </p:sp>
      <p:pic>
        <p:nvPicPr>
          <p:cNvPr id="6" name="Image 0" descr="preencoded.png">    </p:cNvPr>
          <p:cNvPicPr>
            <a:picLocks noChangeAspect="1"/>
          </p:cNvPicPr>
          <p:nvPr/>
        </p:nvPicPr>
        <p:blipFill>
          <a:blip r:embed="rId2"/>
          <a:stretch>
            <a:fillRect/>
          </a:stretch>
        </p:blipFill>
        <p:spPr>
          <a:xfrm>
            <a:off x="4800600" y="2368296"/>
            <a:ext cx="329184" cy="329184"/>
          </a:xfrm>
          <a:prstGeom prst="rect">
            <a:avLst/>
          </a:prstGeom>
        </p:spPr>
      </p:pic>
      <p:sp>
        <p:nvSpPr>
          <p:cNvPr id="7" name="label"/>
          <p:cNvSpPr txBox="1"/>
          <p:nvPr/>
        </p:nvSpPr>
        <p:spPr>
          <a:xfrm>
            <a:off x="5212080" y="2313432"/>
            <a:ext cx="237744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center</a:t>
            </a:r>
            <a:endParaRPr lang="en-US" sz="2000" dirty="0"/>
          </a:p>
        </p:txBody>
      </p:sp>
      <p:sp>
        <p:nvSpPr>
          <p:cNvPr id="8" name="Shape 5"/>
          <p:cNvSpPr/>
          <p:nvPr/>
        </p:nvSpPr>
        <p:spPr>
          <a:xfrm>
            <a:off x="4398264" y="2112264"/>
            <a:ext cx="329184" cy="329184"/>
          </a:xfrm>
          <a:prstGeom prst="ellipse">
            <a:avLst/>
          </a:prstGeom>
          <a:solidFill>
            <a:srgbClr val="F2A33A"/>
          </a:solidFill>
          <a:ln w="12700">
            <a:solidFill>
              <a:srgbClr val="0E1B2A"/>
            </a:solidFill>
            <a:prstDash val="solid"/>
          </a:ln>
        </p:spPr>
      </p:sp>
      <p:sp>
        <p:nvSpPr>
          <p:cNvPr id="9" name="caption-badge"/>
          <p:cNvSpPr txBox="1"/>
          <p:nvPr/>
        </p:nvSpPr>
        <p:spPr>
          <a:xfrm>
            <a:off x="4398264" y="2112264"/>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2</a:t>
            </a:r>
            <a:endParaRPr lang="en-US" sz="1400" dirty="0"/>
          </a:p>
        </p:txBody>
      </p:sp>
      <p:sp>
        <p:nvSpPr>
          <p:cNvPr id="10" name="Shape 7"/>
          <p:cNvSpPr/>
          <p:nvPr/>
        </p:nvSpPr>
        <p:spPr>
          <a:xfrm>
            <a:off x="5440680" y="3035808"/>
            <a:ext cx="667512" cy="512064"/>
          </a:xfrm>
          <a:custGeom>
            <a:avLst/>
            <a:gdLst/>
            <a:ahLst/>
            <a:cxnLst/>
            <a:rect l="l" t="t" r="r" b="b"/>
            <a:pathLst>
              <a:path w="667512" h="512064">
                <a:moveTo>
                  <a:pt x="0" y="512064"/>
                </a:moveTo>
                <a:cubicBezTo>
                  <a:pt x="0" y="118872"/>
                  <a:pt x="320040" y="0"/>
                  <a:pt x="667512" y="0"/>
                </a:cubicBezTo>
              </a:path>
            </a:pathLst>
          </a:custGeom>
          <a:noFill/>
          <a:ln w="34925">
            <a:solidFill>
              <a:srgbClr val="FF7A45"/>
            </a:solidFill>
            <a:prstDash val="solid"/>
            <a:tailEnd type="triangle"/>
          </a:ln>
        </p:spPr>
      </p:sp>
      <p:sp>
        <p:nvSpPr>
          <p:cNvPr id="11" name="Shape 8"/>
          <p:cNvSpPr/>
          <p:nvPr/>
        </p:nvSpPr>
        <p:spPr>
          <a:xfrm>
            <a:off x="7790688" y="3035808"/>
            <a:ext cx="667512" cy="512064"/>
          </a:xfrm>
          <a:custGeom>
            <a:avLst/>
            <a:gdLst/>
            <a:ahLst/>
            <a:cxnLst/>
            <a:rect l="l" t="t" r="r" b="b"/>
            <a:pathLst>
              <a:path w="667512" h="512064">
                <a:moveTo>
                  <a:pt x="0" y="0"/>
                </a:moveTo>
                <a:cubicBezTo>
                  <a:pt x="347472" y="0"/>
                  <a:pt x="667512" y="118872"/>
                  <a:pt x="667512" y="512064"/>
                </a:cubicBezTo>
              </a:path>
            </a:pathLst>
          </a:custGeom>
          <a:noFill/>
          <a:ln w="34925">
            <a:solidFill>
              <a:srgbClr val="FF7A45"/>
            </a:solidFill>
            <a:prstDash val="solid"/>
            <a:tailEnd type="triangle"/>
          </a:ln>
        </p:spPr>
      </p:sp>
      <p:sp>
        <p:nvSpPr>
          <p:cNvPr id="12" name="Shape 9"/>
          <p:cNvSpPr/>
          <p:nvPr/>
        </p:nvSpPr>
        <p:spPr>
          <a:xfrm>
            <a:off x="7790688" y="4133088"/>
            <a:ext cx="667512" cy="512064"/>
          </a:xfrm>
          <a:custGeom>
            <a:avLst/>
            <a:gdLst/>
            <a:ahLst/>
            <a:cxnLst/>
            <a:rect l="l" t="t" r="r" b="b"/>
            <a:pathLst>
              <a:path w="667512" h="512064">
                <a:moveTo>
                  <a:pt x="667512" y="0"/>
                </a:moveTo>
                <a:cubicBezTo>
                  <a:pt x="667512" y="393192"/>
                  <a:pt x="347472" y="512064"/>
                  <a:pt x="0" y="512064"/>
                </a:cubicBezTo>
              </a:path>
            </a:pathLst>
          </a:custGeom>
          <a:noFill/>
          <a:ln w="34925">
            <a:solidFill>
              <a:srgbClr val="4FC3F7"/>
            </a:solidFill>
            <a:prstDash val="solid"/>
            <a:tailEnd type="triangle"/>
          </a:ln>
        </p:spPr>
      </p:sp>
      <p:sp>
        <p:nvSpPr>
          <p:cNvPr id="13" name="Shape 10"/>
          <p:cNvSpPr/>
          <p:nvPr/>
        </p:nvSpPr>
        <p:spPr>
          <a:xfrm>
            <a:off x="5440680" y="4133088"/>
            <a:ext cx="667512" cy="512064"/>
          </a:xfrm>
          <a:custGeom>
            <a:avLst/>
            <a:gdLst/>
            <a:ahLst/>
            <a:cxnLst/>
            <a:rect l="l" t="t" r="r" b="b"/>
            <a:pathLst>
              <a:path w="667512" h="512064">
                <a:moveTo>
                  <a:pt x="667512" y="512064"/>
                </a:moveTo>
                <a:cubicBezTo>
                  <a:pt x="320040" y="512064"/>
                  <a:pt x="0" y="393192"/>
                  <a:pt x="0" y="0"/>
                </a:cubicBezTo>
              </a:path>
            </a:pathLst>
          </a:custGeom>
          <a:noFill/>
          <a:ln w="34925">
            <a:solidFill>
              <a:srgbClr val="4FC3F7"/>
            </a:solidFill>
            <a:prstDash val="solid"/>
            <a:tailEnd type="triangle"/>
          </a:ln>
        </p:spPr>
      </p:sp>
      <p:sp>
        <p:nvSpPr>
          <p:cNvPr id="14" name="caption-loop"/>
          <p:cNvSpPr txBox="1"/>
          <p:nvPr/>
        </p:nvSpPr>
        <p:spPr>
          <a:xfrm>
            <a:off x="6126480" y="3694176"/>
            <a:ext cx="1645920" cy="292608"/>
          </a:xfrm>
          <a:prstGeom prst="rect">
            <a:avLst/>
          </a:prstGeom>
          <a:noFill/>
          <a:ln/>
        </p:spPr>
        <p:txBody>
          <a:bodyPr wrap="square" lIns="0" tIns="0" rIns="0" bIns="0" rtlCol="0" anchor="ctr"/>
          <a:lstStyle/>
          <a:p>
            <a:pPr algn="ctr" indent="0" marL="0">
              <a:buNone/>
            </a:pPr>
            <a:r>
              <a:rPr lang="en-US" sz="1300" i="1" dirty="0">
                <a:solidFill>
                  <a:srgbClr val="E3EBF1"/>
                </a:solidFill>
                <a:latin typeface="Calibri" pitchFamily="34" charset="0"/>
                <a:ea typeface="Calibri" pitchFamily="34" charset="-122"/>
                <a:cs typeface="Calibri" pitchFamily="34" charset="-120"/>
              </a:rPr>
              <a:t>inner cooling loop</a:t>
            </a:r>
            <a:endParaRPr lang="en-US" sz="1300" dirty="0"/>
          </a:p>
        </p:txBody>
      </p:sp>
      <p:sp>
        <p:nvSpPr>
          <p:cNvPr id="15" name="Shape 12"/>
          <p:cNvSpPr/>
          <p:nvPr/>
        </p:nvSpPr>
        <p:spPr>
          <a:xfrm>
            <a:off x="4617720" y="3557016"/>
            <a:ext cx="1645920" cy="566928"/>
          </a:xfrm>
          <a:prstGeom prst="roundRect">
            <a:avLst>
              <a:gd name="adj" fmla="val 16129"/>
            </a:avLst>
          </a:prstGeom>
          <a:solidFill>
            <a:srgbClr val="0E1B2A"/>
          </a:solidFill>
          <a:ln w="19050">
            <a:solidFill>
              <a:srgbClr val="C9D6E2"/>
            </a:solidFill>
            <a:prstDash val="solid"/>
          </a:ln>
        </p:spPr>
      </p:sp>
      <p:pic>
        <p:nvPicPr>
          <p:cNvPr id="16" name="Image 1" descr="preencoded.png">    </p:cNvPr>
          <p:cNvPicPr>
            <a:picLocks noChangeAspect="1"/>
          </p:cNvPicPr>
          <p:nvPr/>
        </p:nvPicPr>
        <p:blipFill>
          <a:blip r:embed="rId3"/>
          <a:stretch>
            <a:fillRect/>
          </a:stretch>
        </p:blipFill>
        <p:spPr>
          <a:xfrm>
            <a:off x="4709160" y="3666744"/>
            <a:ext cx="347472" cy="347472"/>
          </a:xfrm>
          <a:prstGeom prst="rect">
            <a:avLst/>
          </a:prstGeom>
        </p:spPr>
      </p:pic>
      <p:sp>
        <p:nvSpPr>
          <p:cNvPr id="17" name="label"/>
          <p:cNvSpPr txBox="1"/>
          <p:nvPr/>
        </p:nvSpPr>
        <p:spPr>
          <a:xfrm>
            <a:off x="5093208" y="3557016"/>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AI chips</a:t>
            </a:r>
            <a:endParaRPr lang="en-US" sz="1800" dirty="0"/>
          </a:p>
        </p:txBody>
      </p:sp>
      <p:sp>
        <p:nvSpPr>
          <p:cNvPr id="18" name="Shape 14"/>
          <p:cNvSpPr/>
          <p:nvPr/>
        </p:nvSpPr>
        <p:spPr>
          <a:xfrm>
            <a:off x="6126480" y="2752344"/>
            <a:ext cx="1645920" cy="566928"/>
          </a:xfrm>
          <a:prstGeom prst="roundRect">
            <a:avLst>
              <a:gd name="adj" fmla="val 16129"/>
            </a:avLst>
          </a:prstGeom>
          <a:solidFill>
            <a:srgbClr val="0E1B2A"/>
          </a:solidFill>
          <a:ln w="19050">
            <a:solidFill>
              <a:srgbClr val="FF7A45"/>
            </a:solidFill>
            <a:prstDash val="solid"/>
          </a:ln>
        </p:spPr>
      </p:sp>
      <p:pic>
        <p:nvPicPr>
          <p:cNvPr id="19" name="Image 2" descr="preencoded.png">    </p:cNvPr>
          <p:cNvPicPr>
            <a:picLocks noChangeAspect="1"/>
          </p:cNvPicPr>
          <p:nvPr/>
        </p:nvPicPr>
        <p:blipFill>
          <a:blip r:embed="rId4"/>
          <a:stretch>
            <a:fillRect/>
          </a:stretch>
        </p:blipFill>
        <p:spPr>
          <a:xfrm>
            <a:off x="6217920" y="2862072"/>
            <a:ext cx="347472" cy="347472"/>
          </a:xfrm>
          <a:prstGeom prst="rect">
            <a:avLst/>
          </a:prstGeom>
        </p:spPr>
      </p:pic>
      <p:sp>
        <p:nvSpPr>
          <p:cNvPr id="20" name="label"/>
          <p:cNvSpPr txBox="1"/>
          <p:nvPr/>
        </p:nvSpPr>
        <p:spPr>
          <a:xfrm>
            <a:off x="6601968" y="2752344"/>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Heat</a:t>
            </a:r>
            <a:endParaRPr lang="en-US" sz="1800" dirty="0"/>
          </a:p>
        </p:txBody>
      </p:sp>
      <p:sp>
        <p:nvSpPr>
          <p:cNvPr id="21" name="Shape 16"/>
          <p:cNvSpPr/>
          <p:nvPr/>
        </p:nvSpPr>
        <p:spPr>
          <a:xfrm>
            <a:off x="7635240" y="3557016"/>
            <a:ext cx="1645920" cy="566928"/>
          </a:xfrm>
          <a:prstGeom prst="roundRect">
            <a:avLst>
              <a:gd name="adj" fmla="val 16129"/>
            </a:avLst>
          </a:prstGeom>
          <a:solidFill>
            <a:srgbClr val="0E1B2A"/>
          </a:solidFill>
          <a:ln w="19050">
            <a:solidFill>
              <a:srgbClr val="4FC3F7"/>
            </a:solidFill>
            <a:prstDash val="solid"/>
          </a:ln>
        </p:spPr>
      </p:sp>
      <p:pic>
        <p:nvPicPr>
          <p:cNvPr id="22" name="Image 3" descr="preencoded.png">    </p:cNvPr>
          <p:cNvPicPr>
            <a:picLocks noChangeAspect="1"/>
          </p:cNvPicPr>
          <p:nvPr/>
        </p:nvPicPr>
        <p:blipFill>
          <a:blip r:embed="rId5"/>
          <a:stretch>
            <a:fillRect/>
          </a:stretch>
        </p:blipFill>
        <p:spPr>
          <a:xfrm>
            <a:off x="7726680" y="3666744"/>
            <a:ext cx="347472" cy="347472"/>
          </a:xfrm>
          <a:prstGeom prst="rect">
            <a:avLst/>
          </a:prstGeom>
        </p:spPr>
      </p:pic>
      <p:sp>
        <p:nvSpPr>
          <p:cNvPr id="23" name="label"/>
          <p:cNvSpPr txBox="1"/>
          <p:nvPr/>
        </p:nvSpPr>
        <p:spPr>
          <a:xfrm>
            <a:off x="8110728" y="3557016"/>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Cooling tower</a:t>
            </a:r>
            <a:endParaRPr lang="en-US" sz="1800" dirty="0"/>
          </a:p>
        </p:txBody>
      </p:sp>
      <p:sp>
        <p:nvSpPr>
          <p:cNvPr id="24" name="Shape 18"/>
          <p:cNvSpPr/>
          <p:nvPr/>
        </p:nvSpPr>
        <p:spPr>
          <a:xfrm>
            <a:off x="6126480" y="4361688"/>
            <a:ext cx="1645920" cy="566928"/>
          </a:xfrm>
          <a:prstGeom prst="roundRect">
            <a:avLst>
              <a:gd name="adj" fmla="val 16129"/>
            </a:avLst>
          </a:prstGeom>
          <a:solidFill>
            <a:srgbClr val="0E1B2A"/>
          </a:solidFill>
          <a:ln w="19050">
            <a:solidFill>
              <a:srgbClr val="4FC3F7"/>
            </a:solidFill>
            <a:prstDash val="solid"/>
          </a:ln>
        </p:spPr>
      </p:sp>
      <p:pic>
        <p:nvPicPr>
          <p:cNvPr id="25" name="Image 4" descr="preencoded.png">    </p:cNvPr>
          <p:cNvPicPr>
            <a:picLocks noChangeAspect="1"/>
          </p:cNvPicPr>
          <p:nvPr/>
        </p:nvPicPr>
        <p:blipFill>
          <a:blip r:embed="rId6"/>
          <a:stretch>
            <a:fillRect/>
          </a:stretch>
        </p:blipFill>
        <p:spPr>
          <a:xfrm>
            <a:off x="6217920" y="4471416"/>
            <a:ext cx="347472" cy="347472"/>
          </a:xfrm>
          <a:prstGeom prst="rect">
            <a:avLst/>
          </a:prstGeom>
        </p:spPr>
      </p:pic>
      <p:sp>
        <p:nvSpPr>
          <p:cNvPr id="26" name="label"/>
          <p:cNvSpPr txBox="1"/>
          <p:nvPr/>
        </p:nvSpPr>
        <p:spPr>
          <a:xfrm>
            <a:off x="6601968" y="4361688"/>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Cool water</a:t>
            </a:r>
            <a:endParaRPr lang="en-US" sz="1800" dirty="0"/>
          </a:p>
        </p:txBody>
      </p:sp>
      <p:sp>
        <p:nvSpPr>
          <p:cNvPr id="27" name="Shape 20"/>
          <p:cNvSpPr/>
          <p:nvPr/>
        </p:nvSpPr>
        <p:spPr>
          <a:xfrm>
            <a:off x="4507992" y="3447288"/>
            <a:ext cx="274320" cy="274320"/>
          </a:xfrm>
          <a:prstGeom prst="ellipse">
            <a:avLst/>
          </a:prstGeom>
          <a:solidFill>
            <a:srgbClr val="F2A33A"/>
          </a:solidFill>
          <a:ln w="12700">
            <a:solidFill>
              <a:srgbClr val="0E1B2A"/>
            </a:solidFill>
            <a:prstDash val="solid"/>
          </a:ln>
        </p:spPr>
      </p:sp>
      <p:sp>
        <p:nvSpPr>
          <p:cNvPr id="28" name="caption-badge"/>
          <p:cNvSpPr txBox="1"/>
          <p:nvPr/>
        </p:nvSpPr>
        <p:spPr>
          <a:xfrm>
            <a:off x="4507992" y="344728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3</a:t>
            </a:r>
            <a:endParaRPr lang="en-US" sz="1200" dirty="0"/>
          </a:p>
        </p:txBody>
      </p:sp>
      <p:sp>
        <p:nvSpPr>
          <p:cNvPr id="29" name="Shape 22"/>
          <p:cNvSpPr/>
          <p:nvPr/>
        </p:nvSpPr>
        <p:spPr>
          <a:xfrm>
            <a:off x="6016752" y="2642616"/>
            <a:ext cx="274320" cy="274320"/>
          </a:xfrm>
          <a:prstGeom prst="ellipse">
            <a:avLst/>
          </a:prstGeom>
          <a:solidFill>
            <a:srgbClr val="F2A33A"/>
          </a:solidFill>
          <a:ln w="12700">
            <a:solidFill>
              <a:srgbClr val="0E1B2A"/>
            </a:solidFill>
            <a:prstDash val="solid"/>
          </a:ln>
        </p:spPr>
      </p:sp>
      <p:sp>
        <p:nvSpPr>
          <p:cNvPr id="30" name="caption-badge"/>
          <p:cNvSpPr txBox="1"/>
          <p:nvPr/>
        </p:nvSpPr>
        <p:spPr>
          <a:xfrm>
            <a:off x="6016752" y="2642616"/>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4</a:t>
            </a:r>
            <a:endParaRPr lang="en-US" sz="1200" dirty="0"/>
          </a:p>
        </p:txBody>
      </p:sp>
      <p:sp>
        <p:nvSpPr>
          <p:cNvPr id="31" name="Shape 24"/>
          <p:cNvSpPr/>
          <p:nvPr/>
        </p:nvSpPr>
        <p:spPr>
          <a:xfrm>
            <a:off x="7525512" y="3447288"/>
            <a:ext cx="274320" cy="274320"/>
          </a:xfrm>
          <a:prstGeom prst="ellipse">
            <a:avLst/>
          </a:prstGeom>
          <a:solidFill>
            <a:srgbClr val="F2A33A"/>
          </a:solidFill>
          <a:ln w="12700">
            <a:solidFill>
              <a:srgbClr val="0E1B2A"/>
            </a:solidFill>
            <a:prstDash val="solid"/>
          </a:ln>
        </p:spPr>
      </p:sp>
      <p:sp>
        <p:nvSpPr>
          <p:cNvPr id="32" name="caption-badge"/>
          <p:cNvSpPr txBox="1"/>
          <p:nvPr/>
        </p:nvSpPr>
        <p:spPr>
          <a:xfrm>
            <a:off x="7525512" y="344728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5</a:t>
            </a:r>
            <a:endParaRPr lang="en-US" sz="1200" dirty="0"/>
          </a:p>
        </p:txBody>
      </p:sp>
      <p:sp>
        <p:nvSpPr>
          <p:cNvPr id="33" name="Shape 26"/>
          <p:cNvSpPr/>
          <p:nvPr/>
        </p:nvSpPr>
        <p:spPr>
          <a:xfrm>
            <a:off x="320040" y="1097280"/>
            <a:ext cx="1828800" cy="1234440"/>
          </a:xfrm>
          <a:prstGeom prst="roundRect">
            <a:avLst>
              <a:gd name="adj" fmla="val 8889"/>
            </a:avLst>
          </a:prstGeom>
          <a:solidFill>
            <a:srgbClr val="0E1B2A">
              <a:alpha val="90000"/>
            </a:srgbClr>
          </a:solidFill>
          <a:ln w="19050">
            <a:solidFill>
              <a:srgbClr val="4FC3F7"/>
            </a:solidFill>
            <a:prstDash val="solid"/>
          </a:ln>
        </p:spPr>
      </p:sp>
      <p:pic>
        <p:nvPicPr>
          <p:cNvPr id="34" name="Image 5" descr="preencoded.png">    </p:cNvPr>
          <p:cNvPicPr>
            <a:picLocks noChangeAspect="1"/>
          </p:cNvPicPr>
          <p:nvPr/>
        </p:nvPicPr>
        <p:blipFill>
          <a:blip r:embed="rId7"/>
          <a:stretch>
            <a:fillRect/>
          </a:stretch>
        </p:blipFill>
        <p:spPr>
          <a:xfrm>
            <a:off x="1024128" y="1188720"/>
            <a:ext cx="420624" cy="420624"/>
          </a:xfrm>
          <a:prstGeom prst="rect">
            <a:avLst/>
          </a:prstGeom>
        </p:spPr>
      </p:pic>
      <p:sp>
        <p:nvSpPr>
          <p:cNvPr id="35" name="label"/>
          <p:cNvSpPr txBox="1"/>
          <p:nvPr/>
        </p:nvSpPr>
        <p:spPr>
          <a:xfrm>
            <a:off x="320040" y="1627632"/>
            <a:ext cx="1828800" cy="32918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River &amp; dam</a:t>
            </a:r>
            <a:endParaRPr lang="en-US" sz="2000" dirty="0"/>
          </a:p>
        </p:txBody>
      </p:sp>
      <p:sp>
        <p:nvSpPr>
          <p:cNvPr id="36" name="caption-sub"/>
          <p:cNvSpPr txBox="1"/>
          <p:nvPr/>
        </p:nvSpPr>
        <p:spPr>
          <a:xfrm>
            <a:off x="393192" y="1965960"/>
            <a:ext cx="1682496" cy="320040"/>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Water falls from a height</a:t>
            </a:r>
            <a:endParaRPr lang="en-US" sz="1300" dirty="0"/>
          </a:p>
        </p:txBody>
      </p:sp>
      <p:sp>
        <p:nvSpPr>
          <p:cNvPr id="37" name="Shape 29"/>
          <p:cNvSpPr/>
          <p:nvPr/>
        </p:nvSpPr>
        <p:spPr>
          <a:xfrm>
            <a:off x="320040" y="3291840"/>
            <a:ext cx="1828800" cy="1353312"/>
          </a:xfrm>
          <a:prstGeom prst="roundRect">
            <a:avLst>
              <a:gd name="adj" fmla="val 8108"/>
            </a:avLst>
          </a:prstGeom>
          <a:solidFill>
            <a:srgbClr val="0E1B2A">
              <a:alpha val="90000"/>
            </a:srgbClr>
          </a:solidFill>
          <a:ln w="19050">
            <a:solidFill>
              <a:srgbClr val="F2A33A"/>
            </a:solidFill>
            <a:prstDash val="solid"/>
          </a:ln>
        </p:spPr>
      </p:sp>
      <p:pic>
        <p:nvPicPr>
          <p:cNvPr id="38" name="Image 6" descr="preencoded.png">    </p:cNvPr>
          <p:cNvPicPr>
            <a:picLocks noChangeAspect="1"/>
          </p:cNvPicPr>
          <p:nvPr/>
        </p:nvPicPr>
        <p:blipFill>
          <a:blip r:embed="rId8"/>
          <a:stretch>
            <a:fillRect/>
          </a:stretch>
        </p:blipFill>
        <p:spPr>
          <a:xfrm>
            <a:off x="1024128" y="3383280"/>
            <a:ext cx="420624" cy="420624"/>
          </a:xfrm>
          <a:prstGeom prst="rect">
            <a:avLst/>
          </a:prstGeom>
        </p:spPr>
      </p:pic>
      <p:sp>
        <p:nvSpPr>
          <p:cNvPr id="39" name="label"/>
          <p:cNvSpPr txBox="1"/>
          <p:nvPr/>
        </p:nvSpPr>
        <p:spPr>
          <a:xfrm>
            <a:off x="320040" y="3822192"/>
            <a:ext cx="1828800" cy="32918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Power plant</a:t>
            </a:r>
            <a:endParaRPr lang="en-US" sz="2000" dirty="0"/>
          </a:p>
        </p:txBody>
      </p:sp>
      <p:sp>
        <p:nvSpPr>
          <p:cNvPr id="40" name="caption-sub"/>
          <p:cNvSpPr txBox="1"/>
          <p:nvPr/>
        </p:nvSpPr>
        <p:spPr>
          <a:xfrm>
            <a:off x="393192" y="4160520"/>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Falling water or steam spins a turbine</a:t>
            </a:r>
            <a:endParaRPr lang="en-US" sz="1300" dirty="0"/>
          </a:p>
        </p:txBody>
      </p:sp>
      <p:sp>
        <p:nvSpPr>
          <p:cNvPr id="41" name="Shape 32"/>
          <p:cNvSpPr/>
          <p:nvPr/>
        </p:nvSpPr>
        <p:spPr>
          <a:xfrm>
            <a:off x="2395728" y="2560320"/>
            <a:ext cx="1600200" cy="1051560"/>
          </a:xfrm>
          <a:prstGeom prst="roundRect">
            <a:avLst>
              <a:gd name="adj" fmla="val 10435"/>
            </a:avLst>
          </a:prstGeom>
          <a:solidFill>
            <a:srgbClr val="0E1B2A">
              <a:alpha val="90000"/>
            </a:srgbClr>
          </a:solidFill>
          <a:ln w="19050">
            <a:solidFill>
              <a:srgbClr val="C9D6E2"/>
            </a:solidFill>
            <a:prstDash val="solid"/>
          </a:ln>
        </p:spPr>
      </p:sp>
      <p:pic>
        <p:nvPicPr>
          <p:cNvPr id="42" name="Image 7" descr="preencoded.png">    </p:cNvPr>
          <p:cNvPicPr>
            <a:picLocks noChangeAspect="1"/>
          </p:cNvPicPr>
          <p:nvPr/>
        </p:nvPicPr>
        <p:blipFill>
          <a:blip r:embed="rId9"/>
          <a:stretch>
            <a:fillRect/>
          </a:stretch>
        </p:blipFill>
        <p:spPr>
          <a:xfrm>
            <a:off x="2985516" y="2651760"/>
            <a:ext cx="420624" cy="420624"/>
          </a:xfrm>
          <a:prstGeom prst="rect">
            <a:avLst/>
          </a:prstGeom>
        </p:spPr>
      </p:pic>
      <p:sp>
        <p:nvSpPr>
          <p:cNvPr id="43" name="label"/>
          <p:cNvSpPr txBox="1"/>
          <p:nvPr/>
        </p:nvSpPr>
        <p:spPr>
          <a:xfrm>
            <a:off x="2395728" y="3090672"/>
            <a:ext cx="1600200" cy="32918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Your PC</a:t>
            </a:r>
            <a:endParaRPr lang="en-US" sz="2000" dirty="0"/>
          </a:p>
        </p:txBody>
      </p:sp>
      <p:sp>
        <p:nvSpPr>
          <p:cNvPr id="44" name="caption-sub"/>
          <p:cNvSpPr txBox="1"/>
          <p:nvPr/>
        </p:nvSpPr>
        <p:spPr>
          <a:xfrm>
            <a:off x="2395728" y="3630168"/>
            <a:ext cx="1600200" cy="274320"/>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You ask a question</a:t>
            </a:r>
            <a:endParaRPr lang="en-US" sz="1300" dirty="0"/>
          </a:p>
        </p:txBody>
      </p:sp>
      <p:sp>
        <p:nvSpPr>
          <p:cNvPr id="45" name="Shape 35"/>
          <p:cNvSpPr/>
          <p:nvPr/>
        </p:nvSpPr>
        <p:spPr>
          <a:xfrm>
            <a:off x="2276856" y="2441448"/>
            <a:ext cx="329184" cy="329184"/>
          </a:xfrm>
          <a:prstGeom prst="ellipse">
            <a:avLst/>
          </a:prstGeom>
          <a:solidFill>
            <a:srgbClr val="F2A33A"/>
          </a:solidFill>
          <a:ln w="12700">
            <a:solidFill>
              <a:srgbClr val="0E1B2A"/>
            </a:solidFill>
            <a:prstDash val="solid"/>
          </a:ln>
        </p:spPr>
      </p:sp>
      <p:sp>
        <p:nvSpPr>
          <p:cNvPr id="46" name="caption-badge"/>
          <p:cNvSpPr txBox="1"/>
          <p:nvPr/>
        </p:nvSpPr>
        <p:spPr>
          <a:xfrm>
            <a:off x="2276856" y="2441448"/>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1</a:t>
            </a:r>
            <a:endParaRPr lang="en-US" sz="1400" dirty="0"/>
          </a:p>
        </p:txBody>
      </p:sp>
      <p:sp>
        <p:nvSpPr>
          <p:cNvPr id="47" name="Shape 37"/>
          <p:cNvSpPr/>
          <p:nvPr/>
        </p:nvSpPr>
        <p:spPr>
          <a:xfrm>
            <a:off x="4032504" y="3081528"/>
            <a:ext cx="466344" cy="18288"/>
          </a:xfrm>
          <a:custGeom>
            <a:avLst/>
            <a:gdLst/>
            <a:ahLst/>
            <a:cxnLst/>
            <a:rect l="l" t="t" r="r" b="b"/>
            <a:pathLst>
              <a:path w="466344" h="18288">
                <a:moveTo>
                  <a:pt x="0" y="0"/>
                </a:moveTo>
                <a:lnTo>
                  <a:pt x="466344" y="0"/>
                </a:lnTo>
              </a:path>
            </a:pathLst>
          </a:custGeom>
          <a:noFill/>
          <a:ln w="34925">
            <a:solidFill>
              <a:srgbClr val="C9D6E2"/>
            </a:solidFill>
            <a:prstDash val="solid"/>
            <a:headEnd type="triangle"/>
            <a:tailEnd type="triangle"/>
          </a:ln>
        </p:spPr>
      </p:sp>
      <p:sp>
        <p:nvSpPr>
          <p:cNvPr id="48" name="caption-arrow"/>
          <p:cNvSpPr txBox="1"/>
          <p:nvPr/>
        </p:nvSpPr>
        <p:spPr>
          <a:xfrm>
            <a:off x="3959352" y="2770632"/>
            <a:ext cx="603504" cy="274320"/>
          </a:xfrm>
          <a:prstGeom prst="rect">
            <a:avLst/>
          </a:prstGeom>
          <a:noFill/>
          <a:ln/>
        </p:spPr>
        <p:txBody>
          <a:bodyPr wrap="square" lIns="0" tIns="0" rIns="0" bIns="0" rtlCol="0" anchor="ctr"/>
          <a:lstStyle/>
          <a:p>
            <a:pPr algn="ctr" indent="0" marL="0">
              <a:buNone/>
            </a:pPr>
            <a:r>
              <a:rPr lang="en-US" sz="1300" b="1" i="1" dirty="0">
                <a:solidFill>
                  <a:srgbClr val="C9D6E2"/>
                </a:solidFill>
                <a:latin typeface="Calibri" pitchFamily="34" charset="0"/>
                <a:ea typeface="Calibri" pitchFamily="34" charset="-122"/>
                <a:cs typeface="Calibri" pitchFamily="34" charset="-120"/>
              </a:rPr>
              <a:t>internet</a:t>
            </a:r>
            <a:endParaRPr lang="en-US" sz="1300" dirty="0"/>
          </a:p>
        </p:txBody>
      </p:sp>
      <p:sp>
        <p:nvSpPr>
          <p:cNvPr id="49" name="Shape 39"/>
          <p:cNvSpPr/>
          <p:nvPr/>
        </p:nvSpPr>
        <p:spPr>
          <a:xfrm>
            <a:off x="1234440" y="2368296"/>
            <a:ext cx="18288" cy="886968"/>
          </a:xfrm>
          <a:custGeom>
            <a:avLst/>
            <a:gdLst/>
            <a:ahLst/>
            <a:cxnLst/>
            <a:rect l="l" t="t" r="r" b="b"/>
            <a:pathLst>
              <a:path w="18288" h="886968">
                <a:moveTo>
                  <a:pt x="0" y="0"/>
                </a:moveTo>
                <a:lnTo>
                  <a:pt x="0" y="886968"/>
                </a:lnTo>
              </a:path>
            </a:pathLst>
          </a:custGeom>
          <a:noFill/>
          <a:ln w="34925">
            <a:solidFill>
              <a:srgbClr val="4FC3F7"/>
            </a:solidFill>
            <a:prstDash val="solid"/>
            <a:tailEnd type="triangle"/>
          </a:ln>
        </p:spPr>
      </p:sp>
      <p:sp>
        <p:nvSpPr>
          <p:cNvPr id="50" name="caption-arrow"/>
          <p:cNvSpPr txBox="1"/>
          <p:nvPr/>
        </p:nvSpPr>
        <p:spPr>
          <a:xfrm>
            <a:off x="1325880" y="2670048"/>
            <a:ext cx="105156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falling water</a:t>
            </a:r>
            <a:endParaRPr lang="en-US" sz="1300" dirty="0"/>
          </a:p>
        </p:txBody>
      </p:sp>
      <p:sp>
        <p:nvSpPr>
          <p:cNvPr id="51" name="Shape 41"/>
          <p:cNvSpPr/>
          <p:nvPr/>
        </p:nvSpPr>
        <p:spPr>
          <a:xfrm>
            <a:off x="2185416" y="4069080"/>
            <a:ext cx="2313432" cy="18288"/>
          </a:xfrm>
          <a:custGeom>
            <a:avLst/>
            <a:gdLst/>
            <a:ahLst/>
            <a:cxnLst/>
            <a:rect l="l" t="t" r="r" b="b"/>
            <a:pathLst>
              <a:path w="2313432" h="18288">
                <a:moveTo>
                  <a:pt x="0" y="0"/>
                </a:moveTo>
                <a:lnTo>
                  <a:pt x="2313432" y="0"/>
                </a:lnTo>
              </a:path>
            </a:pathLst>
          </a:custGeom>
          <a:noFill/>
          <a:ln w="34925">
            <a:solidFill>
              <a:srgbClr val="F2A33A"/>
            </a:solidFill>
            <a:prstDash val="solid"/>
            <a:tailEnd type="triangle"/>
          </a:ln>
        </p:spPr>
      </p:sp>
      <p:sp>
        <p:nvSpPr>
          <p:cNvPr id="52" name="caption-arrow"/>
          <p:cNvSpPr txBox="1"/>
          <p:nvPr/>
        </p:nvSpPr>
        <p:spPr>
          <a:xfrm>
            <a:off x="2514600" y="3767328"/>
            <a:ext cx="1463040" cy="274320"/>
          </a:xfrm>
          <a:prstGeom prst="rect">
            <a:avLst/>
          </a:prstGeom>
          <a:noFill/>
          <a:ln/>
        </p:spPr>
        <p:txBody>
          <a:bodyPr wrap="square" lIns="0" tIns="0" rIns="0" bIns="0" rtlCol="0" anchor="ctr"/>
          <a:lstStyle/>
          <a:p>
            <a:pPr algn="ctr" indent="0" marL="0">
              <a:buNone/>
            </a:pPr>
            <a:r>
              <a:rPr lang="en-US" sz="1300" b="1" i="1" dirty="0">
                <a:solidFill>
                  <a:srgbClr val="F2A33A"/>
                </a:solidFill>
                <a:latin typeface="Calibri" pitchFamily="34" charset="0"/>
                <a:ea typeface="Calibri" pitchFamily="34" charset="-122"/>
                <a:cs typeface="Calibri" pitchFamily="34" charset="-120"/>
              </a:rPr>
              <a:t>electricity</a:t>
            </a:r>
            <a:endParaRPr lang="en-US" sz="1300" dirty="0"/>
          </a:p>
        </p:txBody>
      </p:sp>
      <p:pic>
        <p:nvPicPr>
          <p:cNvPr id="53" name="Image 8" descr="preencoded.png">    </p:cNvPr>
          <p:cNvPicPr>
            <a:picLocks noChangeAspect="1"/>
          </p:cNvPicPr>
          <p:nvPr/>
        </p:nvPicPr>
        <p:blipFill>
          <a:blip r:embed="rId10"/>
          <a:stretch>
            <a:fillRect/>
          </a:stretch>
        </p:blipFill>
        <p:spPr>
          <a:xfrm>
            <a:off x="2258568" y="3776472"/>
            <a:ext cx="256032" cy="256032"/>
          </a:xfrm>
          <a:prstGeom prst="rect">
            <a:avLst/>
          </a:prstGeom>
        </p:spPr>
      </p:pic>
      <p:pic>
        <p:nvPicPr>
          <p:cNvPr id="54" name="Image 9" descr="preencoded.png">    </p:cNvPr>
          <p:cNvPicPr>
            <a:picLocks noChangeAspect="1"/>
          </p:cNvPicPr>
          <p:nvPr/>
        </p:nvPicPr>
        <p:blipFill>
          <a:blip r:embed="rId11"/>
          <a:stretch>
            <a:fillRect/>
          </a:stretch>
        </p:blipFill>
        <p:spPr>
          <a:xfrm>
            <a:off x="10012680" y="566928"/>
            <a:ext cx="868680" cy="868680"/>
          </a:xfrm>
          <a:prstGeom prst="rect">
            <a:avLst/>
          </a:prstGeom>
        </p:spPr>
      </p:pic>
      <p:sp>
        <p:nvSpPr>
          <p:cNvPr id="55" name="label"/>
          <p:cNvSpPr txBox="1"/>
          <p:nvPr/>
        </p:nvSpPr>
        <p:spPr>
          <a:xfrm>
            <a:off x="9646920" y="1417320"/>
            <a:ext cx="16002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Clouds</a:t>
            </a:r>
            <a:endParaRPr lang="en-US" sz="2000" dirty="0"/>
          </a:p>
        </p:txBody>
      </p:sp>
      <p:sp>
        <p:nvSpPr>
          <p:cNvPr id="56" name="Shape 44"/>
          <p:cNvSpPr/>
          <p:nvPr/>
        </p:nvSpPr>
        <p:spPr>
          <a:xfrm>
            <a:off x="9802368" y="548640"/>
            <a:ext cx="329184" cy="329184"/>
          </a:xfrm>
          <a:prstGeom prst="ellipse">
            <a:avLst/>
          </a:prstGeom>
          <a:solidFill>
            <a:srgbClr val="F2A33A"/>
          </a:solidFill>
          <a:ln w="12700">
            <a:solidFill>
              <a:srgbClr val="0E1B2A"/>
            </a:solidFill>
            <a:prstDash val="solid"/>
          </a:ln>
        </p:spPr>
      </p:sp>
      <p:sp>
        <p:nvSpPr>
          <p:cNvPr id="57" name="caption-badge"/>
          <p:cNvSpPr txBox="1"/>
          <p:nvPr/>
        </p:nvSpPr>
        <p:spPr>
          <a:xfrm>
            <a:off x="9802368" y="548640"/>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6</a:t>
            </a:r>
            <a:endParaRPr lang="en-US" sz="1400" dirty="0"/>
          </a:p>
        </p:txBody>
      </p:sp>
      <p:sp>
        <p:nvSpPr>
          <p:cNvPr id="58" name="Shape 46"/>
          <p:cNvSpPr/>
          <p:nvPr/>
        </p:nvSpPr>
        <p:spPr>
          <a:xfrm>
            <a:off x="9052560" y="1554480"/>
            <a:ext cx="914400" cy="1975104"/>
          </a:xfrm>
          <a:custGeom>
            <a:avLst/>
            <a:gdLst/>
            <a:ahLst/>
            <a:cxnLst/>
            <a:rect l="l" t="t" r="r" b="b"/>
            <a:pathLst>
              <a:path w="914400" h="1975104">
                <a:moveTo>
                  <a:pt x="0" y="1975104"/>
                </a:moveTo>
                <a:cubicBezTo>
                  <a:pt x="45720" y="1188720"/>
                  <a:pt x="411480" y="274320"/>
                  <a:pt x="914400" y="0"/>
                </a:cubicBezTo>
              </a:path>
            </a:pathLst>
          </a:custGeom>
          <a:noFill/>
          <a:ln w="34925">
            <a:solidFill>
              <a:srgbClr val="4FC3F7"/>
            </a:solidFill>
            <a:prstDash val="solid"/>
            <a:tailEnd type="triangle"/>
          </a:ln>
        </p:spPr>
      </p:sp>
      <p:sp>
        <p:nvSpPr>
          <p:cNvPr id="59" name="caption-arrow"/>
          <p:cNvSpPr txBox="1"/>
          <p:nvPr/>
        </p:nvSpPr>
        <p:spPr>
          <a:xfrm>
            <a:off x="8138160" y="1874520"/>
            <a:ext cx="1143000" cy="274320"/>
          </a:xfrm>
          <a:prstGeom prst="rect">
            <a:avLst/>
          </a:prstGeom>
          <a:noFill/>
          <a:ln/>
        </p:spPr>
        <p:txBody>
          <a:bodyPr wrap="square" lIns="0" tIns="0" rIns="0" bIns="0" rtlCol="0" anchor="ctr"/>
          <a:lstStyle/>
          <a:p>
            <a:pPr algn="r" indent="0" marL="0">
              <a:buNone/>
            </a:pPr>
            <a:r>
              <a:rPr lang="en-US" sz="1300" b="1" i="1" dirty="0">
                <a:solidFill>
                  <a:srgbClr val="4FC3F7"/>
                </a:solidFill>
                <a:latin typeface="Calibri" pitchFamily="34" charset="0"/>
                <a:ea typeface="Calibri" pitchFamily="34" charset="-122"/>
                <a:cs typeface="Calibri" pitchFamily="34" charset="-120"/>
              </a:rPr>
              <a:t>vapor rises</a:t>
            </a:r>
            <a:endParaRPr lang="en-US" sz="1300" dirty="0"/>
          </a:p>
        </p:txBody>
      </p:sp>
      <p:sp>
        <p:nvSpPr>
          <p:cNvPr id="60" name="Shape 48"/>
          <p:cNvSpPr/>
          <p:nvPr/>
        </p:nvSpPr>
        <p:spPr>
          <a:xfrm>
            <a:off x="2194560" y="841248"/>
            <a:ext cx="7754112" cy="576072"/>
          </a:xfrm>
          <a:custGeom>
            <a:avLst/>
            <a:gdLst/>
            <a:ahLst/>
            <a:cxnLst/>
            <a:rect l="l" t="t" r="r" b="b"/>
            <a:pathLst>
              <a:path w="7754112" h="576072">
                <a:moveTo>
                  <a:pt x="7754112" y="182880"/>
                </a:moveTo>
                <a:cubicBezTo>
                  <a:pt x="5486400" y="0"/>
                  <a:pt x="1828800" y="0"/>
                  <a:pt x="0" y="576072"/>
                </a:cubicBezTo>
              </a:path>
            </a:pathLst>
          </a:custGeom>
          <a:noFill/>
          <a:ln w="34925">
            <a:solidFill>
              <a:srgbClr val="4FC3F7"/>
            </a:solidFill>
            <a:prstDash val="solid"/>
            <a:tailEnd type="triangle"/>
          </a:ln>
        </p:spPr>
      </p:sp>
      <p:sp>
        <p:nvSpPr>
          <p:cNvPr id="61" name="caption-arrow"/>
          <p:cNvSpPr txBox="1"/>
          <p:nvPr/>
        </p:nvSpPr>
        <p:spPr>
          <a:xfrm>
            <a:off x="4023360" y="1069848"/>
            <a:ext cx="3108960" cy="274320"/>
          </a:xfrm>
          <a:prstGeom prst="rect">
            <a:avLst/>
          </a:prstGeom>
          <a:noFill/>
          <a:ln/>
        </p:spPr>
        <p:txBody>
          <a:bodyPr wrap="square" lIns="0" tIns="0" rIns="0" bIns="0" rtlCol="0" anchor="ctr"/>
          <a:lstStyle/>
          <a:p>
            <a:pPr algn="ctr" indent="0" marL="0">
              <a:buNone/>
            </a:pPr>
            <a:r>
              <a:rPr lang="en-US" sz="1300" b="1" i="1" dirty="0">
                <a:solidFill>
                  <a:srgbClr val="4FC3F7"/>
                </a:solidFill>
                <a:latin typeface="Calibri" pitchFamily="34" charset="0"/>
                <a:ea typeface="Calibri" pitchFamily="34" charset="-122"/>
                <a:cs typeface="Calibri" pitchFamily="34" charset="-120"/>
              </a:rPr>
              <a:t>rain fills rivers and dams</a:t>
            </a:r>
            <a:endParaRPr lang="en-US" sz="1300" dirty="0"/>
          </a:p>
        </p:txBody>
      </p:sp>
      <p:sp>
        <p:nvSpPr>
          <p:cNvPr id="62" name="Shape 50"/>
          <p:cNvSpPr/>
          <p:nvPr/>
        </p:nvSpPr>
        <p:spPr>
          <a:xfrm>
            <a:off x="10607040" y="1801368"/>
            <a:ext cx="18288" cy="3703320"/>
          </a:xfrm>
          <a:custGeom>
            <a:avLst/>
            <a:gdLst/>
            <a:ahLst/>
            <a:cxnLst/>
            <a:rect l="l" t="t" r="r" b="b"/>
            <a:pathLst>
              <a:path w="18288" h="3703320">
                <a:moveTo>
                  <a:pt x="0" y="0"/>
                </a:moveTo>
                <a:lnTo>
                  <a:pt x="0" y="3703320"/>
                </a:lnTo>
              </a:path>
            </a:pathLst>
          </a:custGeom>
          <a:noFill/>
          <a:ln w="34925">
            <a:solidFill>
              <a:srgbClr val="4FC3F7"/>
            </a:solidFill>
            <a:prstDash val="solid"/>
            <a:tailEnd type="triangle"/>
          </a:ln>
        </p:spPr>
      </p:sp>
      <p:sp>
        <p:nvSpPr>
          <p:cNvPr id="63" name="caption-arrow"/>
          <p:cNvSpPr txBox="1"/>
          <p:nvPr/>
        </p:nvSpPr>
        <p:spPr>
          <a:xfrm>
            <a:off x="10698480" y="3520440"/>
            <a:ext cx="73152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rain</a:t>
            </a:r>
            <a:endParaRPr lang="en-US" sz="1300" dirty="0"/>
          </a:p>
        </p:txBody>
      </p:sp>
      <p:pic>
        <p:nvPicPr>
          <p:cNvPr id="64" name="Image 10" descr="preencoded.png">    </p:cNvPr>
          <p:cNvPicPr>
            <a:picLocks noChangeAspect="1"/>
          </p:cNvPicPr>
          <p:nvPr/>
        </p:nvPicPr>
        <p:blipFill>
          <a:blip r:embed="rId12"/>
          <a:stretch>
            <a:fillRect/>
          </a:stretch>
        </p:blipFill>
        <p:spPr>
          <a:xfrm>
            <a:off x="9646920" y="5925312"/>
            <a:ext cx="457200" cy="457200"/>
          </a:xfrm>
          <a:prstGeom prst="rect">
            <a:avLst/>
          </a:prstGeom>
        </p:spPr>
      </p:pic>
      <p:sp>
        <p:nvSpPr>
          <p:cNvPr id="65" name="label"/>
          <p:cNvSpPr txBox="1"/>
          <p:nvPr/>
        </p:nvSpPr>
        <p:spPr>
          <a:xfrm>
            <a:off x="10195560" y="5870448"/>
            <a:ext cx="1097280" cy="5486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Sea</a:t>
            </a:r>
            <a:endParaRPr lang="en-US" sz="2000" dirty="0"/>
          </a:p>
        </p:txBody>
      </p:sp>
      <p:sp>
        <p:nvSpPr>
          <p:cNvPr id="66" name="Shape 53"/>
          <p:cNvSpPr/>
          <p:nvPr/>
        </p:nvSpPr>
        <p:spPr>
          <a:xfrm>
            <a:off x="9418320" y="5779008"/>
            <a:ext cx="274320" cy="274320"/>
          </a:xfrm>
          <a:prstGeom prst="ellipse">
            <a:avLst/>
          </a:prstGeom>
          <a:solidFill>
            <a:srgbClr val="F2A33A"/>
          </a:solidFill>
          <a:ln w="12700">
            <a:solidFill>
              <a:srgbClr val="0E1B2A"/>
            </a:solidFill>
            <a:prstDash val="solid"/>
          </a:ln>
        </p:spPr>
      </p:sp>
      <p:sp>
        <p:nvSpPr>
          <p:cNvPr id="67" name="caption-badge"/>
          <p:cNvSpPr txBox="1"/>
          <p:nvPr/>
        </p:nvSpPr>
        <p:spPr>
          <a:xfrm>
            <a:off x="9418320" y="577900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7</a:t>
            </a:r>
            <a:endParaRPr lang="en-US" sz="1200" dirty="0"/>
          </a:p>
        </p:txBody>
      </p:sp>
      <p:sp>
        <p:nvSpPr>
          <p:cNvPr id="68" name="Shape 55"/>
          <p:cNvSpPr/>
          <p:nvPr/>
        </p:nvSpPr>
        <p:spPr>
          <a:xfrm>
            <a:off x="5760720" y="5486400"/>
            <a:ext cx="2377440" cy="1097280"/>
          </a:xfrm>
          <a:prstGeom prst="roundRect">
            <a:avLst>
              <a:gd name="adj" fmla="val 10000"/>
            </a:avLst>
          </a:prstGeom>
          <a:solidFill>
            <a:srgbClr val="0E1B2A">
              <a:alpha val="90000"/>
            </a:srgbClr>
          </a:solidFill>
          <a:ln w="19050">
            <a:solidFill>
              <a:srgbClr val="4FC3F7"/>
            </a:solidFill>
            <a:prstDash val="solid"/>
          </a:ln>
        </p:spPr>
      </p:sp>
      <p:pic>
        <p:nvPicPr>
          <p:cNvPr id="69" name="Image 11" descr="preencoded.png">    </p:cNvPr>
          <p:cNvPicPr>
            <a:picLocks noChangeAspect="1"/>
          </p:cNvPicPr>
          <p:nvPr/>
        </p:nvPicPr>
        <p:blipFill>
          <a:blip r:embed="rId13"/>
          <a:stretch>
            <a:fillRect/>
          </a:stretch>
        </p:blipFill>
        <p:spPr>
          <a:xfrm>
            <a:off x="5897880" y="5788152"/>
            <a:ext cx="475488" cy="475488"/>
          </a:xfrm>
          <a:prstGeom prst="rect">
            <a:avLst/>
          </a:prstGeom>
        </p:spPr>
      </p:pic>
      <p:sp>
        <p:nvSpPr>
          <p:cNvPr id="70" name="label"/>
          <p:cNvSpPr txBox="1"/>
          <p:nvPr/>
        </p:nvSpPr>
        <p:spPr>
          <a:xfrm>
            <a:off x="6446520" y="5596128"/>
            <a:ext cx="164592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Desalination</a:t>
            </a:r>
            <a:endParaRPr lang="en-US" sz="2000" dirty="0"/>
          </a:p>
        </p:txBody>
      </p:sp>
      <p:sp>
        <p:nvSpPr>
          <p:cNvPr id="71" name="caption-sub"/>
          <p:cNvSpPr txBox="1"/>
          <p:nvPr/>
        </p:nvSpPr>
        <p:spPr>
          <a:xfrm>
            <a:off x="6446520" y="6016752"/>
            <a:ext cx="1645920" cy="457200"/>
          </a:xfrm>
          <a:prstGeom prst="rect">
            <a:avLst/>
          </a:prstGeom>
          <a:noFill/>
          <a:ln/>
        </p:spPr>
        <p:txBody>
          <a:bodyPr wrap="square" lIns="0" tIns="0" rIns="0" bIns="0" rtlCol="0" anchor="t"/>
          <a:lstStyle/>
          <a:p>
            <a:pPr indent="0" marL="0">
              <a:buNone/>
            </a:pPr>
            <a:r>
              <a:rPr lang="en-US" sz="1300" dirty="0">
                <a:solidFill>
                  <a:srgbClr val="E3EBF1"/>
                </a:solidFill>
                <a:latin typeface="Calibri" pitchFamily="34" charset="0"/>
                <a:ea typeface="Calibri" pitchFamily="34" charset="-122"/>
                <a:cs typeface="Calibri" pitchFamily="34" charset="-120"/>
              </a:rPr>
              <a:t>Sea water → fresh water</a:t>
            </a:r>
            <a:endParaRPr lang="en-US" sz="1300" dirty="0"/>
          </a:p>
        </p:txBody>
      </p:sp>
      <p:sp>
        <p:nvSpPr>
          <p:cNvPr id="72" name="Shape 58"/>
          <p:cNvSpPr/>
          <p:nvPr/>
        </p:nvSpPr>
        <p:spPr>
          <a:xfrm>
            <a:off x="5632704" y="5358384"/>
            <a:ext cx="329184" cy="329184"/>
          </a:xfrm>
          <a:prstGeom prst="ellipse">
            <a:avLst/>
          </a:prstGeom>
          <a:solidFill>
            <a:srgbClr val="F2A33A"/>
          </a:solidFill>
          <a:ln w="12700">
            <a:solidFill>
              <a:srgbClr val="0E1B2A"/>
            </a:solidFill>
            <a:prstDash val="solid"/>
          </a:ln>
        </p:spPr>
      </p:sp>
      <p:sp>
        <p:nvSpPr>
          <p:cNvPr id="73" name="caption-badge"/>
          <p:cNvSpPr txBox="1"/>
          <p:nvPr/>
        </p:nvSpPr>
        <p:spPr>
          <a:xfrm>
            <a:off x="5632704" y="5358384"/>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8</a:t>
            </a:r>
            <a:endParaRPr lang="en-US" sz="1400" dirty="0"/>
          </a:p>
        </p:txBody>
      </p:sp>
      <p:sp>
        <p:nvSpPr>
          <p:cNvPr id="74" name="Shape 60"/>
          <p:cNvSpPr/>
          <p:nvPr/>
        </p:nvSpPr>
        <p:spPr>
          <a:xfrm>
            <a:off x="8174736" y="6053328"/>
            <a:ext cx="374904" cy="18288"/>
          </a:xfrm>
          <a:custGeom>
            <a:avLst/>
            <a:gdLst/>
            <a:ahLst/>
            <a:cxnLst/>
            <a:rect l="l" t="t" r="r" b="b"/>
            <a:pathLst>
              <a:path w="374904" h="18288">
                <a:moveTo>
                  <a:pt x="374904" y="0"/>
                </a:moveTo>
                <a:lnTo>
                  <a:pt x="0" y="0"/>
                </a:lnTo>
              </a:path>
            </a:pathLst>
          </a:custGeom>
          <a:noFill/>
          <a:ln w="34925">
            <a:solidFill>
              <a:srgbClr val="4FC3F7"/>
            </a:solidFill>
            <a:prstDash val="solid"/>
            <a:tailEnd type="triangle"/>
          </a:ln>
        </p:spPr>
      </p:sp>
      <p:sp>
        <p:nvSpPr>
          <p:cNvPr id="75" name="caption-arrow"/>
          <p:cNvSpPr txBox="1"/>
          <p:nvPr/>
        </p:nvSpPr>
        <p:spPr>
          <a:xfrm>
            <a:off x="8229600" y="6382512"/>
            <a:ext cx="1188720" cy="274320"/>
          </a:xfrm>
          <a:prstGeom prst="rect">
            <a:avLst/>
          </a:prstGeom>
          <a:noFill/>
          <a:ln/>
        </p:spPr>
        <p:txBody>
          <a:bodyPr wrap="square" lIns="0" tIns="0" rIns="0" bIns="0" rtlCol="0" anchor="ctr"/>
          <a:lstStyle/>
          <a:p>
            <a:pPr algn="ctr" indent="0" marL="0">
              <a:buNone/>
            </a:pPr>
            <a:r>
              <a:rPr lang="en-US" sz="1300" b="1" i="1" dirty="0">
                <a:solidFill>
                  <a:srgbClr val="4FC3F7"/>
                </a:solidFill>
                <a:latin typeface="Calibri" pitchFamily="34" charset="0"/>
                <a:ea typeface="Calibri" pitchFamily="34" charset="-122"/>
                <a:cs typeface="Calibri" pitchFamily="34" charset="-120"/>
              </a:rPr>
              <a:t>sea water</a:t>
            </a:r>
            <a:endParaRPr lang="en-US" sz="1300" dirty="0"/>
          </a:p>
        </p:txBody>
      </p:sp>
      <p:sp>
        <p:nvSpPr>
          <p:cNvPr id="76" name="Shape 62"/>
          <p:cNvSpPr/>
          <p:nvPr/>
        </p:nvSpPr>
        <p:spPr>
          <a:xfrm>
            <a:off x="6949440" y="5148072"/>
            <a:ext cx="18288" cy="301752"/>
          </a:xfrm>
          <a:custGeom>
            <a:avLst/>
            <a:gdLst/>
            <a:ahLst/>
            <a:cxnLst/>
            <a:rect l="l" t="t" r="r" b="b"/>
            <a:pathLst>
              <a:path w="18288" h="301752">
                <a:moveTo>
                  <a:pt x="0" y="301752"/>
                </a:moveTo>
                <a:lnTo>
                  <a:pt x="0" y="0"/>
                </a:lnTo>
              </a:path>
            </a:pathLst>
          </a:custGeom>
          <a:noFill/>
          <a:ln w="34925">
            <a:solidFill>
              <a:srgbClr val="4FC3F7"/>
            </a:solidFill>
            <a:prstDash val="solid"/>
            <a:tailEnd type="triangle"/>
          </a:ln>
        </p:spPr>
      </p:sp>
      <p:sp>
        <p:nvSpPr>
          <p:cNvPr id="77" name="caption-arrow"/>
          <p:cNvSpPr txBox="1"/>
          <p:nvPr/>
        </p:nvSpPr>
        <p:spPr>
          <a:xfrm>
            <a:off x="5623560" y="5184648"/>
            <a:ext cx="1234440" cy="274320"/>
          </a:xfrm>
          <a:prstGeom prst="rect">
            <a:avLst/>
          </a:prstGeom>
          <a:noFill/>
          <a:ln/>
        </p:spPr>
        <p:txBody>
          <a:bodyPr wrap="square" lIns="0" tIns="0" rIns="0" bIns="0" rtlCol="0" anchor="ctr"/>
          <a:lstStyle/>
          <a:p>
            <a:pPr algn="r" indent="0" marL="0">
              <a:buNone/>
            </a:pPr>
            <a:r>
              <a:rPr lang="en-US" sz="1300" b="1" i="1" dirty="0">
                <a:solidFill>
                  <a:srgbClr val="4FC3F7"/>
                </a:solidFill>
                <a:latin typeface="Calibri" pitchFamily="34" charset="0"/>
                <a:ea typeface="Calibri" pitchFamily="34" charset="-122"/>
                <a:cs typeface="Calibri" pitchFamily="34" charset="-120"/>
              </a:rPr>
              <a:t>fresh water</a:t>
            </a:r>
            <a:endParaRPr lang="en-US" sz="1300" dirty="0"/>
          </a:p>
        </p:txBody>
      </p:sp>
      <p:sp>
        <p:nvSpPr>
          <p:cNvPr id="78" name="Shape 64"/>
          <p:cNvSpPr/>
          <p:nvPr/>
        </p:nvSpPr>
        <p:spPr>
          <a:xfrm>
            <a:off x="1234440" y="4681728"/>
            <a:ext cx="4489704" cy="1353312"/>
          </a:xfrm>
          <a:custGeom>
            <a:avLst/>
            <a:gdLst/>
            <a:ahLst/>
            <a:cxnLst/>
            <a:rect l="l" t="t" r="r" b="b"/>
            <a:pathLst>
              <a:path w="4489704" h="1353312">
                <a:moveTo>
                  <a:pt x="0" y="0"/>
                </a:moveTo>
                <a:lnTo>
                  <a:pt x="0" y="1353312"/>
                </a:lnTo>
                <a:lnTo>
                  <a:pt x="4489704" y="1353312"/>
                </a:lnTo>
              </a:path>
            </a:pathLst>
          </a:custGeom>
          <a:noFill/>
          <a:ln w="34925">
            <a:solidFill>
              <a:srgbClr val="F2A33A"/>
            </a:solidFill>
            <a:prstDash val="solid"/>
            <a:tailEnd type="triangle"/>
          </a:ln>
        </p:spPr>
      </p:sp>
      <p:sp>
        <p:nvSpPr>
          <p:cNvPr id="79" name="caption-arrow"/>
          <p:cNvSpPr txBox="1"/>
          <p:nvPr/>
        </p:nvSpPr>
        <p:spPr>
          <a:xfrm>
            <a:off x="2103120" y="5733288"/>
            <a:ext cx="1463040" cy="274320"/>
          </a:xfrm>
          <a:prstGeom prst="rect">
            <a:avLst/>
          </a:prstGeom>
          <a:noFill/>
          <a:ln/>
        </p:spPr>
        <p:txBody>
          <a:bodyPr wrap="square" lIns="0" tIns="0" rIns="0" bIns="0" rtlCol="0" anchor="ctr"/>
          <a:lstStyle/>
          <a:p>
            <a:pPr algn="ctr" indent="0" marL="0">
              <a:buNone/>
            </a:pPr>
            <a:r>
              <a:rPr lang="en-US" sz="1300" b="1" i="1" dirty="0">
                <a:solidFill>
                  <a:srgbClr val="F2A33A"/>
                </a:solidFill>
                <a:latin typeface="Calibri" pitchFamily="34" charset="0"/>
                <a:ea typeface="Calibri" pitchFamily="34" charset="-122"/>
                <a:cs typeface="Calibri" pitchFamily="34" charset="-120"/>
              </a:rPr>
              <a:t>electricity</a:t>
            </a:r>
            <a:endParaRPr lang="en-US" sz="1300" dirty="0"/>
          </a:p>
        </p:txBody>
      </p:sp>
      <p:pic>
        <p:nvPicPr>
          <p:cNvPr id="80" name="Image 12" descr="preencoded.png">    </p:cNvPr>
          <p:cNvPicPr>
            <a:picLocks noChangeAspect="1"/>
          </p:cNvPicPr>
          <p:nvPr/>
        </p:nvPicPr>
        <p:blipFill>
          <a:blip r:embed="rId14"/>
          <a:stretch>
            <a:fillRect/>
          </a:stretch>
        </p:blipFill>
        <p:spPr>
          <a:xfrm>
            <a:off x="1828800" y="5742432"/>
            <a:ext cx="256032" cy="256032"/>
          </a:xfrm>
          <a:prstGeom prst="rect">
            <a:avLst/>
          </a:prstGeom>
        </p:spPr>
      </p:pic>
      <p:sp>
        <p:nvSpPr>
          <p:cNvPr id="81" name="Shape 66"/>
          <p:cNvSpPr/>
          <p:nvPr/>
        </p:nvSpPr>
        <p:spPr>
          <a:xfrm>
            <a:off x="365760" y="6556248"/>
            <a:ext cx="365760" cy="0"/>
          </a:xfrm>
          <a:prstGeom prst="line">
            <a:avLst/>
          </a:prstGeom>
          <a:noFill/>
          <a:ln w="31750">
            <a:solidFill>
              <a:srgbClr val="C9D6E2"/>
            </a:solidFill>
            <a:prstDash val="solid"/>
            <a:tailEnd type="triangle"/>
          </a:ln>
        </p:spPr>
      </p:sp>
      <p:sp>
        <p:nvSpPr>
          <p:cNvPr id="82" name="caption-legend"/>
          <p:cNvSpPr txBox="1"/>
          <p:nvPr/>
        </p:nvSpPr>
        <p:spPr>
          <a:xfrm>
            <a:off x="804672"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Question &amp; computing</a:t>
            </a:r>
            <a:endParaRPr lang="en-US" sz="1200" dirty="0"/>
          </a:p>
        </p:txBody>
      </p:sp>
      <p:sp>
        <p:nvSpPr>
          <p:cNvPr id="83" name="Shape 68"/>
          <p:cNvSpPr/>
          <p:nvPr/>
        </p:nvSpPr>
        <p:spPr>
          <a:xfrm>
            <a:off x="2587752" y="6556248"/>
            <a:ext cx="365760" cy="0"/>
          </a:xfrm>
          <a:prstGeom prst="line">
            <a:avLst/>
          </a:prstGeom>
          <a:noFill/>
          <a:ln w="31750">
            <a:solidFill>
              <a:srgbClr val="FF7A45"/>
            </a:solidFill>
            <a:prstDash val="solid"/>
            <a:tailEnd type="triangle"/>
          </a:ln>
        </p:spPr>
      </p:sp>
      <p:sp>
        <p:nvSpPr>
          <p:cNvPr id="84" name="caption-legend"/>
          <p:cNvSpPr txBox="1"/>
          <p:nvPr/>
        </p:nvSpPr>
        <p:spPr>
          <a:xfrm>
            <a:off x="3026664"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Heat</a:t>
            </a:r>
            <a:endParaRPr lang="en-US" sz="1200" dirty="0"/>
          </a:p>
        </p:txBody>
      </p:sp>
      <p:sp>
        <p:nvSpPr>
          <p:cNvPr id="85" name="Shape 70"/>
          <p:cNvSpPr/>
          <p:nvPr/>
        </p:nvSpPr>
        <p:spPr>
          <a:xfrm>
            <a:off x="3639312" y="6556248"/>
            <a:ext cx="365760" cy="0"/>
          </a:xfrm>
          <a:prstGeom prst="line">
            <a:avLst/>
          </a:prstGeom>
          <a:noFill/>
          <a:ln w="31750">
            <a:solidFill>
              <a:srgbClr val="4FC3F7"/>
            </a:solidFill>
            <a:prstDash val="solid"/>
            <a:tailEnd type="triangle"/>
          </a:ln>
        </p:spPr>
      </p:sp>
      <p:sp>
        <p:nvSpPr>
          <p:cNvPr id="86" name="caption-legend"/>
          <p:cNvSpPr txBox="1"/>
          <p:nvPr/>
        </p:nvSpPr>
        <p:spPr>
          <a:xfrm>
            <a:off x="4078224"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Water</a:t>
            </a:r>
            <a:endParaRPr lang="en-US" sz="1200" dirty="0"/>
          </a:p>
        </p:txBody>
      </p:sp>
      <p:sp>
        <p:nvSpPr>
          <p:cNvPr id="87" name="Shape 72"/>
          <p:cNvSpPr/>
          <p:nvPr/>
        </p:nvSpPr>
        <p:spPr>
          <a:xfrm>
            <a:off x="4764024" y="6556248"/>
            <a:ext cx="365760" cy="0"/>
          </a:xfrm>
          <a:prstGeom prst="line">
            <a:avLst/>
          </a:prstGeom>
          <a:noFill/>
          <a:ln w="31750">
            <a:solidFill>
              <a:srgbClr val="F2A33A"/>
            </a:solidFill>
            <a:prstDash val="solid"/>
            <a:tailEnd type="triangle"/>
          </a:ln>
        </p:spPr>
      </p:sp>
      <p:sp>
        <p:nvSpPr>
          <p:cNvPr id="88" name="caption-legend"/>
          <p:cNvSpPr txBox="1"/>
          <p:nvPr/>
        </p:nvSpPr>
        <p:spPr>
          <a:xfrm>
            <a:off x="5202936"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Electricity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One AI Question Uses Water and Power</dc:title>
  <dc:subject>PptxGenJS Presentation</dc:subject>
  <dc:creator>PptxGenJS</dc:creator>
  <cp:lastModifiedBy>PptxGenJS</cp:lastModifiedBy>
  <cp:revision>1</cp:revision>
  <dcterms:created xsi:type="dcterms:W3CDTF">2026-10-17T13:38:30Z</dcterms:created>
  <dcterms:modified xsi:type="dcterms:W3CDTF">2026-10-17T13:38:30Z</dcterms:modified>
</cp:coreProperties>
</file>