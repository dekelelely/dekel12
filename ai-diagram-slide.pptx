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chatbot a question on your phone or PC. It travels over the internet to a data center, and the answer comes back the same way.</a:t>
            </a:r>
          </a:p>
          <a:p>
            <a:r>
              <a:rPr lang="en-US" dirty="0"/>
              <a:t>2–3. In the data center, AI chips do billions of calculations. They run on electricity from the power plant.</a:t>
            </a:r>
          </a:p>
          <a:p>
            <a:r>
              <a:rPr lang="en-US" dirty="0"/>
              <a:t>4. All that work turns electricity into heat. Water flows past the chips and carries the heat away.</a:t>
            </a:r>
          </a:p>
          <a:p>
            <a:r>
              <a:rPr lang="en-US" dirty="0"/>
              <a:t>5. The hot water goes to a cooling tower. Some of it evaporates, and that cools the rest. The cooled water goes back to the chips: this is the inner cooling loop.</a:t>
            </a:r>
          </a:p>
          <a:p>
            <a:r>
              <a:rPr lang="en-US" dirty="0"/>
              <a:t>6. The vapor rises and forms clouds. It falls again as rain: some into rivers and dams, some into the sea.</a:t>
            </a:r>
          </a:p>
          <a:p>
            <a:r>
              <a:rPr lang="en-US" dirty="0"/>
              <a:t>7–8. Desalination plants turn sea water into fresh water. In Israel, most tap water comes from desalination. Fresh water refills the cooling loop, so the big water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US data centers use on-site).</a:t>
            </a:r>
          </a:p>
          <a:p>
            <a:r>
              <a:rPr lang="en-US" dirty="0"/>
              <a:t>Simplified: real water takes days to years to go around the cycle, and the rain does not fall back on the same data center.</a:t>
            </a:r>
          </a:p>
          <a:p>
            <a:r>
              <a:rPr lang="en-US" dirty="0"/>
              <a:t>Photos: our team's pictures of a phone, server racks (behind the data center) and a desalination plant.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212080"/>
            <a:ext cx="8503920" cy="1645920"/>
          </a:xfrm>
          <a:custGeom>
            <a:avLst/>
            <a:gdLst/>
            <a:ahLst/>
            <a:cxnLst/>
            <a:rect l="l" t="t" r="r" b="b"/>
            <a:pathLst>
              <a:path w="8503920" h="1645920">
                <a:moveTo>
                  <a:pt x="0" y="228600"/>
                </a:moveTo>
                <a:cubicBezTo>
                  <a:pt x="1463040" y="-91440"/>
                  <a:pt x="2926080" y="182880"/>
                  <a:pt x="4206240" y="45720"/>
                </a:cubicBezTo>
                <a:cubicBezTo>
                  <a:pt x="5669280" y="-137160"/>
                  <a:pt x="7498080" y="91440"/>
                  <a:pt x="8503920" y="411480"/>
                </a:cubicBezTo>
                <a:lnTo>
                  <a:pt x="8503920" y="1645920"/>
                </a:lnTo>
                <a:lnTo>
                  <a:pt x="0" y="1645920"/>
                </a:lnTo>
                <a:close/>
              </a:path>
            </a:pathLst>
          </a:custGeom>
          <a:solidFill>
            <a:srgbClr val="2E5A45">
              <a:alpha val="45000"/>
            </a:srgbClr>
          </a:solidFill>
          <a:ln/>
        </p:spPr>
      </p:sp>
      <p:sp>
        <p:nvSpPr>
          <p:cNvPr id="3" name="Shape 1"/>
          <p:cNvSpPr/>
          <p:nvPr/>
        </p:nvSpPr>
        <p:spPr>
          <a:xfrm>
            <a:off x="8138160" y="5440680"/>
            <a:ext cx="4114800" cy="1417320"/>
          </a:xfrm>
          <a:custGeom>
            <a:avLst/>
            <a:gdLst/>
            <a:ahLst/>
            <a:cxnLst/>
            <a:rect l="l" t="t" r="r" b="b"/>
            <a:pathLst>
              <a:path w="4114800" h="1417320">
                <a:moveTo>
                  <a:pt x="0" y="137160"/>
                </a:moveTo>
                <a:cubicBezTo>
                  <a:pt x="182880" y="-45720"/>
                  <a:pt x="502920" y="320040"/>
                  <a:pt x="685800" y="137160"/>
                </a:cubicBezTo>
                <a:cubicBezTo>
                  <a:pt x="868680" y="-45720"/>
                  <a:pt x="1188720" y="320040"/>
                  <a:pt x="1371600" y="137160"/>
                </a:cubicBezTo>
                <a:cubicBezTo>
                  <a:pt x="1554480" y="-45720"/>
                  <a:pt x="1874520" y="320040"/>
                  <a:pt x="2057400" y="137160"/>
                </a:cubicBezTo>
                <a:cubicBezTo>
                  <a:pt x="2240280" y="-45720"/>
                  <a:pt x="2560320" y="320040"/>
                  <a:pt x="2743200" y="137160"/>
                </a:cubicBezTo>
                <a:cubicBezTo>
                  <a:pt x="2926080" y="-45720"/>
                  <a:pt x="3246120" y="320040"/>
                  <a:pt x="3429000" y="137160"/>
                </a:cubicBezTo>
                <a:cubicBezTo>
                  <a:pt x="3611880" y="-45720"/>
                  <a:pt x="3931920" y="320040"/>
                  <a:pt x="4114800" y="137160"/>
                </a:cubicBezTo>
                <a:lnTo>
                  <a:pt x="4114800" y="1417320"/>
                </a:lnTo>
                <a:lnTo>
                  <a:pt x="0" y="1417320"/>
                </a:lnTo>
                <a:close/>
              </a:path>
            </a:pathLst>
          </a:custGeom>
          <a:solidFill>
            <a:srgbClr val="1E88C8">
              <a:alpha val="55000"/>
            </a:srgbClr>
          </a:solidFill>
          <a:ln/>
        </p:spPr>
      </p:sp>
      <p:sp>
        <p:nvSpPr>
          <p:cNvPr id="4" name="title"/>
          <p:cNvSpPr txBox="1"/>
          <p:nvPr/>
        </p:nvSpPr>
        <p:spPr>
          <a:xfrm>
            <a:off x="320040" y="164592"/>
            <a:ext cx="877824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One AI Question Uses Water and Power</a:t>
            </a:r>
            <a:endParaRPr lang="en-US" sz="3000" dirty="0"/>
          </a:p>
        </p:txBody>
      </p:sp>
      <p:pic>
        <p:nvPicPr>
          <p:cNvPr id="5" name="Image 0" descr="preencoded.png">    </p:cNvPr>
          <p:cNvPicPr>
            <a:picLocks noChangeAspect="1"/>
          </p:cNvPicPr>
          <p:nvPr/>
        </p:nvPicPr>
        <p:blipFill>
          <a:blip r:embed="rId2"/>
          <a:stretch>
            <a:fillRect/>
          </a:stretch>
        </p:blipFill>
        <p:spPr>
          <a:xfrm>
            <a:off x="4526280" y="2240280"/>
            <a:ext cx="4800600" cy="2880360"/>
          </a:xfrm>
          <a:prstGeom prst="rect">
            <a:avLst/>
          </a:prstGeom>
        </p:spPr>
      </p:pic>
      <p:sp>
        <p:nvSpPr>
          <p:cNvPr id="6" name="Shape 3"/>
          <p:cNvSpPr/>
          <p:nvPr/>
        </p:nvSpPr>
        <p:spPr>
          <a:xfrm>
            <a:off x="4526280" y="2240280"/>
            <a:ext cx="4800600" cy="2880360"/>
          </a:xfrm>
          <a:prstGeom prst="roundRect">
            <a:avLst>
              <a:gd name="adj" fmla="val 5714"/>
            </a:avLst>
          </a:prstGeom>
          <a:ln w="28575">
            <a:solidFill>
              <a:srgbClr val="C9D6E2"/>
            </a:solidFill>
            <a:prstDash val="solid"/>
          </a:ln>
        </p:spPr>
      </p:sp>
      <p:pic>
        <p:nvPicPr>
          <p:cNvPr id="7" name="Image 1" descr="preencoded.png">    </p:cNvPr>
          <p:cNvPicPr>
            <a:picLocks noChangeAspect="1"/>
          </p:cNvPicPr>
          <p:nvPr/>
        </p:nvPicPr>
        <p:blipFill>
          <a:blip r:embed="rId3"/>
          <a:stretch>
            <a:fillRect/>
          </a:stretch>
        </p:blipFill>
        <p:spPr>
          <a:xfrm>
            <a:off x="4800600" y="2368296"/>
            <a:ext cx="329184" cy="329184"/>
          </a:xfrm>
          <a:prstGeom prst="rect">
            <a:avLst/>
          </a:prstGeom>
        </p:spPr>
      </p:pic>
      <p:sp>
        <p:nvSpPr>
          <p:cNvPr id="8" name="label"/>
          <p:cNvSpPr txBox="1"/>
          <p:nvPr/>
        </p:nvSpPr>
        <p:spPr>
          <a:xfrm>
            <a:off x="5212080" y="2313432"/>
            <a:ext cx="237744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9" name="Shape 5"/>
          <p:cNvSpPr/>
          <p:nvPr/>
        </p:nvSpPr>
        <p:spPr>
          <a:xfrm>
            <a:off x="4398264" y="2112264"/>
            <a:ext cx="329184" cy="329184"/>
          </a:xfrm>
          <a:prstGeom prst="ellipse">
            <a:avLst/>
          </a:prstGeom>
          <a:solidFill>
            <a:srgbClr val="F2A33A"/>
          </a:solidFill>
          <a:ln w="12700">
            <a:solidFill>
              <a:srgbClr val="0E1B2A"/>
            </a:solidFill>
            <a:prstDash val="solid"/>
          </a:ln>
        </p:spPr>
      </p:sp>
      <p:sp>
        <p:nvSpPr>
          <p:cNvPr id="10" name="caption-badge"/>
          <p:cNvSpPr txBox="1"/>
          <p:nvPr/>
        </p:nvSpPr>
        <p:spPr>
          <a:xfrm>
            <a:off x="4398264" y="211226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11" name="Shape 7"/>
          <p:cNvSpPr/>
          <p:nvPr/>
        </p:nvSpPr>
        <p:spPr>
          <a:xfrm>
            <a:off x="5440680" y="3035808"/>
            <a:ext cx="667512" cy="512064"/>
          </a:xfrm>
          <a:custGeom>
            <a:avLst/>
            <a:gdLst/>
            <a:ahLst/>
            <a:cxnLst/>
            <a:rect l="l" t="t" r="r" b="b"/>
            <a:pathLst>
              <a:path w="667512" h="512064">
                <a:moveTo>
                  <a:pt x="0" y="512064"/>
                </a:moveTo>
                <a:cubicBezTo>
                  <a:pt x="0" y="118872"/>
                  <a:pt x="320040" y="0"/>
                  <a:pt x="667512" y="0"/>
                </a:cubicBezTo>
              </a:path>
            </a:pathLst>
          </a:custGeom>
          <a:noFill/>
          <a:ln w="34925">
            <a:solidFill>
              <a:srgbClr val="FF7A45"/>
            </a:solidFill>
            <a:prstDash val="solid"/>
            <a:tailEnd type="triangle"/>
          </a:ln>
        </p:spPr>
      </p:sp>
      <p:sp>
        <p:nvSpPr>
          <p:cNvPr id="12" name="Shape 8"/>
          <p:cNvSpPr/>
          <p:nvPr/>
        </p:nvSpPr>
        <p:spPr>
          <a:xfrm>
            <a:off x="7790688" y="3035808"/>
            <a:ext cx="667512" cy="512064"/>
          </a:xfrm>
          <a:custGeom>
            <a:avLst/>
            <a:gdLst/>
            <a:ahLst/>
            <a:cxnLst/>
            <a:rect l="l" t="t" r="r" b="b"/>
            <a:pathLst>
              <a:path w="667512" h="512064">
                <a:moveTo>
                  <a:pt x="0" y="0"/>
                </a:moveTo>
                <a:cubicBezTo>
                  <a:pt x="347472" y="0"/>
                  <a:pt x="667512" y="118872"/>
                  <a:pt x="667512" y="512064"/>
                </a:cubicBezTo>
              </a:path>
            </a:pathLst>
          </a:custGeom>
          <a:noFill/>
          <a:ln w="34925">
            <a:solidFill>
              <a:srgbClr val="FF7A45"/>
            </a:solidFill>
            <a:prstDash val="solid"/>
            <a:tailEnd type="triangle"/>
          </a:ln>
        </p:spPr>
      </p:sp>
      <p:sp>
        <p:nvSpPr>
          <p:cNvPr id="13" name="Shape 9"/>
          <p:cNvSpPr/>
          <p:nvPr/>
        </p:nvSpPr>
        <p:spPr>
          <a:xfrm>
            <a:off x="7790688" y="4133088"/>
            <a:ext cx="667512" cy="512064"/>
          </a:xfrm>
          <a:custGeom>
            <a:avLst/>
            <a:gdLst/>
            <a:ahLst/>
            <a:cxnLst/>
            <a:rect l="l" t="t" r="r" b="b"/>
            <a:pathLst>
              <a:path w="667512" h="512064">
                <a:moveTo>
                  <a:pt x="667512" y="0"/>
                </a:moveTo>
                <a:cubicBezTo>
                  <a:pt x="667512" y="393192"/>
                  <a:pt x="347472" y="512064"/>
                  <a:pt x="0" y="512064"/>
                </a:cubicBezTo>
              </a:path>
            </a:pathLst>
          </a:custGeom>
          <a:noFill/>
          <a:ln w="34925">
            <a:solidFill>
              <a:srgbClr val="4FC3F7"/>
            </a:solidFill>
            <a:prstDash val="solid"/>
            <a:tailEnd type="triangle"/>
          </a:ln>
        </p:spPr>
      </p:sp>
      <p:sp>
        <p:nvSpPr>
          <p:cNvPr id="14" name="Shape 10"/>
          <p:cNvSpPr/>
          <p:nvPr/>
        </p:nvSpPr>
        <p:spPr>
          <a:xfrm>
            <a:off x="5440680" y="4133088"/>
            <a:ext cx="667512" cy="512064"/>
          </a:xfrm>
          <a:custGeom>
            <a:avLst/>
            <a:gdLst/>
            <a:ahLst/>
            <a:cxnLst/>
            <a:rect l="l" t="t" r="r" b="b"/>
            <a:pathLst>
              <a:path w="667512" h="512064">
                <a:moveTo>
                  <a:pt x="667512" y="512064"/>
                </a:moveTo>
                <a:cubicBezTo>
                  <a:pt x="320040" y="512064"/>
                  <a:pt x="0" y="393192"/>
                  <a:pt x="0" y="0"/>
                </a:cubicBezTo>
              </a:path>
            </a:pathLst>
          </a:custGeom>
          <a:noFill/>
          <a:ln w="34925">
            <a:solidFill>
              <a:srgbClr val="4FC3F7"/>
            </a:solidFill>
            <a:prstDash val="solid"/>
            <a:tailEnd type="triangle"/>
          </a:ln>
        </p:spPr>
      </p:sp>
      <p:sp>
        <p:nvSpPr>
          <p:cNvPr id="15" name="caption-loop"/>
          <p:cNvSpPr txBox="1"/>
          <p:nvPr/>
        </p:nvSpPr>
        <p:spPr>
          <a:xfrm>
            <a:off x="6126480" y="3694176"/>
            <a:ext cx="1645920" cy="292608"/>
          </a:xfrm>
          <a:prstGeom prst="rect">
            <a:avLst/>
          </a:prstGeom>
          <a:noFill/>
          <a:ln/>
        </p:spPr>
        <p:txBody>
          <a:bodyPr wrap="square" lIns="0" tIns="0" rIns="0" bIns="0" rtlCol="0" anchor="ctr"/>
          <a:lstStyle/>
          <a:p>
            <a:pPr algn="ctr" indent="0" marL="0">
              <a:buNone/>
            </a:pPr>
            <a:r>
              <a:rPr lang="en-US" sz="1300" i="1" dirty="0">
                <a:solidFill>
                  <a:srgbClr val="E3EBF1"/>
                </a:solidFill>
                <a:latin typeface="Calibri" pitchFamily="34" charset="0"/>
                <a:ea typeface="Calibri" pitchFamily="34" charset="-122"/>
                <a:cs typeface="Calibri" pitchFamily="34" charset="-120"/>
              </a:rPr>
              <a:t>inner cooling loop</a:t>
            </a:r>
            <a:endParaRPr lang="en-US" sz="1300" dirty="0"/>
          </a:p>
        </p:txBody>
      </p:sp>
      <p:sp>
        <p:nvSpPr>
          <p:cNvPr id="16" name="Shape 12"/>
          <p:cNvSpPr/>
          <p:nvPr/>
        </p:nvSpPr>
        <p:spPr>
          <a:xfrm>
            <a:off x="4617720" y="3557016"/>
            <a:ext cx="1645920" cy="566928"/>
          </a:xfrm>
          <a:prstGeom prst="roundRect">
            <a:avLst>
              <a:gd name="adj" fmla="val 16129"/>
            </a:avLst>
          </a:prstGeom>
          <a:solidFill>
            <a:srgbClr val="0E1B2A"/>
          </a:solidFill>
          <a:ln w="19050">
            <a:solidFill>
              <a:srgbClr val="C9D6E2"/>
            </a:solidFill>
            <a:prstDash val="solid"/>
          </a:ln>
        </p:spPr>
      </p:sp>
      <p:pic>
        <p:nvPicPr>
          <p:cNvPr id="17" name="Image 2" descr="preencoded.png">    </p:cNvPr>
          <p:cNvPicPr>
            <a:picLocks noChangeAspect="1"/>
          </p:cNvPicPr>
          <p:nvPr/>
        </p:nvPicPr>
        <p:blipFill>
          <a:blip r:embed="rId4"/>
          <a:stretch>
            <a:fillRect/>
          </a:stretch>
        </p:blipFill>
        <p:spPr>
          <a:xfrm>
            <a:off x="4709160" y="3666744"/>
            <a:ext cx="347472" cy="347472"/>
          </a:xfrm>
          <a:prstGeom prst="rect">
            <a:avLst/>
          </a:prstGeom>
        </p:spPr>
      </p:pic>
      <p:sp>
        <p:nvSpPr>
          <p:cNvPr id="18" name="label"/>
          <p:cNvSpPr txBox="1"/>
          <p:nvPr/>
        </p:nvSpPr>
        <p:spPr>
          <a:xfrm>
            <a:off x="509320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AI chips</a:t>
            </a:r>
            <a:endParaRPr lang="en-US" sz="1800" dirty="0"/>
          </a:p>
        </p:txBody>
      </p:sp>
      <p:sp>
        <p:nvSpPr>
          <p:cNvPr id="19" name="Shape 14"/>
          <p:cNvSpPr/>
          <p:nvPr/>
        </p:nvSpPr>
        <p:spPr>
          <a:xfrm>
            <a:off x="6126480" y="2752344"/>
            <a:ext cx="1645920" cy="566928"/>
          </a:xfrm>
          <a:prstGeom prst="roundRect">
            <a:avLst>
              <a:gd name="adj" fmla="val 16129"/>
            </a:avLst>
          </a:prstGeom>
          <a:solidFill>
            <a:srgbClr val="0E1B2A"/>
          </a:solidFill>
          <a:ln w="19050">
            <a:solidFill>
              <a:srgbClr val="FF7A45"/>
            </a:solidFill>
            <a:prstDash val="solid"/>
          </a:ln>
        </p:spPr>
      </p:sp>
      <p:pic>
        <p:nvPicPr>
          <p:cNvPr id="20" name="Image 3" descr="preencoded.png">    </p:cNvPr>
          <p:cNvPicPr>
            <a:picLocks noChangeAspect="1"/>
          </p:cNvPicPr>
          <p:nvPr/>
        </p:nvPicPr>
        <p:blipFill>
          <a:blip r:embed="rId5"/>
          <a:stretch>
            <a:fillRect/>
          </a:stretch>
        </p:blipFill>
        <p:spPr>
          <a:xfrm>
            <a:off x="6217920" y="2862072"/>
            <a:ext cx="347472" cy="347472"/>
          </a:xfrm>
          <a:prstGeom prst="rect">
            <a:avLst/>
          </a:prstGeom>
        </p:spPr>
      </p:pic>
      <p:sp>
        <p:nvSpPr>
          <p:cNvPr id="21" name="label"/>
          <p:cNvSpPr txBox="1"/>
          <p:nvPr/>
        </p:nvSpPr>
        <p:spPr>
          <a:xfrm>
            <a:off x="6601968" y="2752344"/>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Heat</a:t>
            </a:r>
            <a:endParaRPr lang="en-US" sz="1800" dirty="0"/>
          </a:p>
        </p:txBody>
      </p:sp>
      <p:sp>
        <p:nvSpPr>
          <p:cNvPr id="22" name="Shape 16"/>
          <p:cNvSpPr/>
          <p:nvPr/>
        </p:nvSpPr>
        <p:spPr>
          <a:xfrm>
            <a:off x="7635240" y="3557016"/>
            <a:ext cx="1645920" cy="566928"/>
          </a:xfrm>
          <a:prstGeom prst="roundRect">
            <a:avLst>
              <a:gd name="adj" fmla="val 16129"/>
            </a:avLst>
          </a:prstGeom>
          <a:solidFill>
            <a:srgbClr val="0E1B2A"/>
          </a:solidFill>
          <a:ln w="19050">
            <a:solidFill>
              <a:srgbClr val="4FC3F7"/>
            </a:solidFill>
            <a:prstDash val="solid"/>
          </a:ln>
        </p:spPr>
      </p:sp>
      <p:pic>
        <p:nvPicPr>
          <p:cNvPr id="23" name="Image 4" descr="preencoded.png">    </p:cNvPr>
          <p:cNvPicPr>
            <a:picLocks noChangeAspect="1"/>
          </p:cNvPicPr>
          <p:nvPr/>
        </p:nvPicPr>
        <p:blipFill>
          <a:blip r:embed="rId6"/>
          <a:stretch>
            <a:fillRect/>
          </a:stretch>
        </p:blipFill>
        <p:spPr>
          <a:xfrm>
            <a:off x="7726680" y="3666744"/>
            <a:ext cx="347472" cy="347472"/>
          </a:xfrm>
          <a:prstGeom prst="rect">
            <a:avLst/>
          </a:prstGeom>
        </p:spPr>
      </p:pic>
      <p:sp>
        <p:nvSpPr>
          <p:cNvPr id="24" name="label"/>
          <p:cNvSpPr txBox="1"/>
          <p:nvPr/>
        </p:nvSpPr>
        <p:spPr>
          <a:xfrm>
            <a:off x="811072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Cooling tower</a:t>
            </a:r>
            <a:endParaRPr lang="en-US" sz="1800" dirty="0"/>
          </a:p>
        </p:txBody>
      </p:sp>
      <p:sp>
        <p:nvSpPr>
          <p:cNvPr id="25" name="Shape 18"/>
          <p:cNvSpPr/>
          <p:nvPr/>
        </p:nvSpPr>
        <p:spPr>
          <a:xfrm>
            <a:off x="6126480" y="4361688"/>
            <a:ext cx="1645920" cy="566928"/>
          </a:xfrm>
          <a:prstGeom prst="roundRect">
            <a:avLst>
              <a:gd name="adj" fmla="val 16129"/>
            </a:avLst>
          </a:prstGeom>
          <a:solidFill>
            <a:srgbClr val="0E1B2A"/>
          </a:solidFill>
          <a:ln w="19050">
            <a:solidFill>
              <a:srgbClr val="4FC3F7"/>
            </a:solidFill>
            <a:prstDash val="solid"/>
          </a:ln>
        </p:spPr>
      </p:sp>
      <p:pic>
        <p:nvPicPr>
          <p:cNvPr id="26" name="Image 5" descr="preencoded.png">    </p:cNvPr>
          <p:cNvPicPr>
            <a:picLocks noChangeAspect="1"/>
          </p:cNvPicPr>
          <p:nvPr/>
        </p:nvPicPr>
        <p:blipFill>
          <a:blip r:embed="rId7"/>
          <a:stretch>
            <a:fillRect/>
          </a:stretch>
        </p:blipFill>
        <p:spPr>
          <a:xfrm>
            <a:off x="6217920" y="4471416"/>
            <a:ext cx="347472" cy="347472"/>
          </a:xfrm>
          <a:prstGeom prst="rect">
            <a:avLst/>
          </a:prstGeom>
        </p:spPr>
      </p:pic>
      <p:sp>
        <p:nvSpPr>
          <p:cNvPr id="27" name="label"/>
          <p:cNvSpPr txBox="1"/>
          <p:nvPr/>
        </p:nvSpPr>
        <p:spPr>
          <a:xfrm>
            <a:off x="6601968" y="4361688"/>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 water</a:t>
            </a:r>
            <a:endParaRPr lang="en-US" sz="1800" dirty="0"/>
          </a:p>
        </p:txBody>
      </p:sp>
      <p:sp>
        <p:nvSpPr>
          <p:cNvPr id="28" name="Shape 20"/>
          <p:cNvSpPr/>
          <p:nvPr/>
        </p:nvSpPr>
        <p:spPr>
          <a:xfrm>
            <a:off x="4507992" y="3447288"/>
            <a:ext cx="274320" cy="274320"/>
          </a:xfrm>
          <a:prstGeom prst="ellipse">
            <a:avLst/>
          </a:prstGeom>
          <a:solidFill>
            <a:srgbClr val="F2A33A"/>
          </a:solidFill>
          <a:ln w="12700">
            <a:solidFill>
              <a:srgbClr val="0E1B2A"/>
            </a:solidFill>
            <a:prstDash val="solid"/>
          </a:ln>
        </p:spPr>
      </p:sp>
      <p:sp>
        <p:nvSpPr>
          <p:cNvPr id="29" name="caption-badge"/>
          <p:cNvSpPr txBox="1"/>
          <p:nvPr/>
        </p:nvSpPr>
        <p:spPr>
          <a:xfrm>
            <a:off x="450799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3</a:t>
            </a:r>
            <a:endParaRPr lang="en-US" sz="1200" dirty="0"/>
          </a:p>
        </p:txBody>
      </p:sp>
      <p:sp>
        <p:nvSpPr>
          <p:cNvPr id="30" name="Shape 22"/>
          <p:cNvSpPr/>
          <p:nvPr/>
        </p:nvSpPr>
        <p:spPr>
          <a:xfrm>
            <a:off x="6016752" y="2642616"/>
            <a:ext cx="274320" cy="274320"/>
          </a:xfrm>
          <a:prstGeom prst="ellipse">
            <a:avLst/>
          </a:prstGeom>
          <a:solidFill>
            <a:srgbClr val="F2A33A"/>
          </a:solidFill>
          <a:ln w="12700">
            <a:solidFill>
              <a:srgbClr val="0E1B2A"/>
            </a:solidFill>
            <a:prstDash val="solid"/>
          </a:ln>
        </p:spPr>
      </p:sp>
      <p:sp>
        <p:nvSpPr>
          <p:cNvPr id="31" name="caption-badge"/>
          <p:cNvSpPr txBox="1"/>
          <p:nvPr/>
        </p:nvSpPr>
        <p:spPr>
          <a:xfrm>
            <a:off x="6016752" y="2642616"/>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4</a:t>
            </a:r>
            <a:endParaRPr lang="en-US" sz="1200" dirty="0"/>
          </a:p>
        </p:txBody>
      </p:sp>
      <p:sp>
        <p:nvSpPr>
          <p:cNvPr id="32" name="Shape 24"/>
          <p:cNvSpPr/>
          <p:nvPr/>
        </p:nvSpPr>
        <p:spPr>
          <a:xfrm>
            <a:off x="7525512" y="3447288"/>
            <a:ext cx="274320" cy="274320"/>
          </a:xfrm>
          <a:prstGeom prst="ellipse">
            <a:avLst/>
          </a:prstGeom>
          <a:solidFill>
            <a:srgbClr val="F2A33A"/>
          </a:solidFill>
          <a:ln w="12700">
            <a:solidFill>
              <a:srgbClr val="0E1B2A"/>
            </a:solidFill>
            <a:prstDash val="solid"/>
          </a:ln>
        </p:spPr>
      </p:sp>
      <p:sp>
        <p:nvSpPr>
          <p:cNvPr id="33" name="caption-badge"/>
          <p:cNvSpPr txBox="1"/>
          <p:nvPr/>
        </p:nvSpPr>
        <p:spPr>
          <a:xfrm>
            <a:off x="752551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5</a:t>
            </a:r>
            <a:endParaRPr lang="en-US" sz="1200" dirty="0"/>
          </a:p>
        </p:txBody>
      </p:sp>
      <p:sp>
        <p:nvSpPr>
          <p:cNvPr id="34" name="Shape 26"/>
          <p:cNvSpPr/>
          <p:nvPr/>
        </p:nvSpPr>
        <p:spPr>
          <a:xfrm>
            <a:off x="320040" y="1097280"/>
            <a:ext cx="1828800" cy="1234440"/>
          </a:xfrm>
          <a:prstGeom prst="roundRect">
            <a:avLst>
              <a:gd name="adj" fmla="val 8889"/>
            </a:avLst>
          </a:prstGeom>
          <a:solidFill>
            <a:srgbClr val="0E1B2A">
              <a:alpha val="90000"/>
            </a:srgbClr>
          </a:solidFill>
          <a:ln w="19050">
            <a:solidFill>
              <a:srgbClr val="4FC3F7"/>
            </a:solidFill>
            <a:prstDash val="solid"/>
          </a:ln>
        </p:spPr>
      </p:sp>
      <p:pic>
        <p:nvPicPr>
          <p:cNvPr id="35" name="Image 6" descr="preencoded.png">    </p:cNvPr>
          <p:cNvPicPr>
            <a:picLocks noChangeAspect="1"/>
          </p:cNvPicPr>
          <p:nvPr/>
        </p:nvPicPr>
        <p:blipFill>
          <a:blip r:embed="rId8"/>
          <a:stretch>
            <a:fillRect/>
          </a:stretch>
        </p:blipFill>
        <p:spPr>
          <a:xfrm>
            <a:off x="1024128" y="1188720"/>
            <a:ext cx="420624" cy="420624"/>
          </a:xfrm>
          <a:prstGeom prst="rect">
            <a:avLst/>
          </a:prstGeom>
        </p:spPr>
      </p:pic>
      <p:sp>
        <p:nvSpPr>
          <p:cNvPr id="36" name="label"/>
          <p:cNvSpPr txBox="1"/>
          <p:nvPr/>
        </p:nvSpPr>
        <p:spPr>
          <a:xfrm>
            <a:off x="320040" y="162763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37" name="caption-sub"/>
          <p:cNvSpPr txBox="1"/>
          <p:nvPr/>
        </p:nvSpPr>
        <p:spPr>
          <a:xfrm>
            <a:off x="393192" y="1965960"/>
            <a:ext cx="1682496" cy="32004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sp>
        <p:nvSpPr>
          <p:cNvPr id="38" name="Shape 29"/>
          <p:cNvSpPr/>
          <p:nvPr/>
        </p:nvSpPr>
        <p:spPr>
          <a:xfrm>
            <a:off x="320040" y="3291840"/>
            <a:ext cx="1828800" cy="1353312"/>
          </a:xfrm>
          <a:prstGeom prst="roundRect">
            <a:avLst>
              <a:gd name="adj" fmla="val 8108"/>
            </a:avLst>
          </a:prstGeom>
          <a:solidFill>
            <a:srgbClr val="0E1B2A">
              <a:alpha val="90000"/>
            </a:srgbClr>
          </a:solidFill>
          <a:ln w="19050">
            <a:solidFill>
              <a:srgbClr val="F2A33A"/>
            </a:solidFill>
            <a:prstDash val="solid"/>
          </a:ln>
        </p:spPr>
      </p:sp>
      <p:pic>
        <p:nvPicPr>
          <p:cNvPr id="39" name="Image 7" descr="preencoded.png">    </p:cNvPr>
          <p:cNvPicPr>
            <a:picLocks noChangeAspect="1"/>
          </p:cNvPicPr>
          <p:nvPr/>
        </p:nvPicPr>
        <p:blipFill>
          <a:blip r:embed="rId9"/>
          <a:stretch>
            <a:fillRect/>
          </a:stretch>
        </p:blipFill>
        <p:spPr>
          <a:xfrm>
            <a:off x="1024128" y="3383280"/>
            <a:ext cx="420624" cy="420624"/>
          </a:xfrm>
          <a:prstGeom prst="rect">
            <a:avLst/>
          </a:prstGeom>
        </p:spPr>
      </p:pic>
      <p:sp>
        <p:nvSpPr>
          <p:cNvPr id="40" name="label"/>
          <p:cNvSpPr txBox="1"/>
          <p:nvPr/>
        </p:nvSpPr>
        <p:spPr>
          <a:xfrm>
            <a:off x="320040" y="382219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41" name="caption-sub"/>
          <p:cNvSpPr txBox="1"/>
          <p:nvPr/>
        </p:nvSpPr>
        <p:spPr>
          <a:xfrm>
            <a:off x="393192" y="4160520"/>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Falling water or steam spins a turbine</a:t>
            </a:r>
            <a:endParaRPr lang="en-US" sz="1300" dirty="0"/>
          </a:p>
        </p:txBody>
      </p:sp>
      <p:pic>
        <p:nvPicPr>
          <p:cNvPr id="42" name="Image 8" descr="preencoded.png">    </p:cNvPr>
          <p:cNvPicPr>
            <a:picLocks noChangeAspect="1"/>
          </p:cNvPicPr>
          <p:nvPr/>
        </p:nvPicPr>
        <p:blipFill>
          <a:blip r:embed="rId10"/>
          <a:stretch>
            <a:fillRect/>
          </a:stretch>
        </p:blipFill>
        <p:spPr>
          <a:xfrm>
            <a:off x="2395728" y="2560320"/>
            <a:ext cx="1600200" cy="1051560"/>
          </a:xfrm>
          <a:prstGeom prst="rect">
            <a:avLst/>
          </a:prstGeom>
        </p:spPr>
      </p:pic>
      <p:sp>
        <p:nvSpPr>
          <p:cNvPr id="43" name="Shape 32"/>
          <p:cNvSpPr/>
          <p:nvPr/>
        </p:nvSpPr>
        <p:spPr>
          <a:xfrm>
            <a:off x="2395728" y="2560320"/>
            <a:ext cx="1600200" cy="1051560"/>
          </a:xfrm>
          <a:prstGeom prst="roundRect">
            <a:avLst>
              <a:gd name="adj" fmla="val 10435"/>
            </a:avLst>
          </a:prstGeom>
          <a:ln w="19050">
            <a:solidFill>
              <a:srgbClr val="C9D6E2"/>
            </a:solidFill>
            <a:prstDash val="solid"/>
          </a:ln>
        </p:spPr>
      </p:sp>
      <p:sp>
        <p:nvSpPr>
          <p:cNvPr id="44" name="label"/>
          <p:cNvSpPr txBox="1"/>
          <p:nvPr/>
        </p:nvSpPr>
        <p:spPr>
          <a:xfrm>
            <a:off x="2395728" y="3236976"/>
            <a:ext cx="16002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Phone or PC</a:t>
            </a:r>
            <a:endParaRPr lang="en-US" sz="2000" dirty="0"/>
          </a:p>
        </p:txBody>
      </p:sp>
      <p:sp>
        <p:nvSpPr>
          <p:cNvPr id="45" name="caption-sub"/>
          <p:cNvSpPr txBox="1"/>
          <p:nvPr/>
        </p:nvSpPr>
        <p:spPr>
          <a:xfrm>
            <a:off x="2395728" y="3630168"/>
            <a:ext cx="1600200" cy="27432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46" name="Shape 35"/>
          <p:cNvSpPr/>
          <p:nvPr/>
        </p:nvSpPr>
        <p:spPr>
          <a:xfrm>
            <a:off x="2276856" y="2441448"/>
            <a:ext cx="329184" cy="329184"/>
          </a:xfrm>
          <a:prstGeom prst="ellipse">
            <a:avLst/>
          </a:prstGeom>
          <a:solidFill>
            <a:srgbClr val="F2A33A"/>
          </a:solidFill>
          <a:ln w="12700">
            <a:solidFill>
              <a:srgbClr val="0E1B2A"/>
            </a:solidFill>
            <a:prstDash val="solid"/>
          </a:ln>
        </p:spPr>
      </p:sp>
      <p:sp>
        <p:nvSpPr>
          <p:cNvPr id="47" name="caption-badge"/>
          <p:cNvSpPr txBox="1"/>
          <p:nvPr/>
        </p:nvSpPr>
        <p:spPr>
          <a:xfrm>
            <a:off x="2276856" y="2441448"/>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48" name="Shape 37"/>
          <p:cNvSpPr/>
          <p:nvPr/>
        </p:nvSpPr>
        <p:spPr>
          <a:xfrm>
            <a:off x="4032504" y="3081528"/>
            <a:ext cx="466344" cy="18288"/>
          </a:xfrm>
          <a:custGeom>
            <a:avLst/>
            <a:gdLst/>
            <a:ahLst/>
            <a:cxnLst/>
            <a:rect l="l" t="t" r="r" b="b"/>
            <a:pathLst>
              <a:path w="466344" h="18288">
                <a:moveTo>
                  <a:pt x="0" y="0"/>
                </a:moveTo>
                <a:lnTo>
                  <a:pt x="466344" y="0"/>
                </a:lnTo>
              </a:path>
            </a:pathLst>
          </a:custGeom>
          <a:noFill/>
          <a:ln w="34925">
            <a:solidFill>
              <a:srgbClr val="C9D6E2"/>
            </a:solidFill>
            <a:prstDash val="solid"/>
            <a:headEnd type="triangle"/>
            <a:tailEnd type="triangle"/>
          </a:ln>
        </p:spPr>
      </p:sp>
      <p:sp>
        <p:nvSpPr>
          <p:cNvPr id="49" name="caption-arrow"/>
          <p:cNvSpPr txBox="1"/>
          <p:nvPr/>
        </p:nvSpPr>
        <p:spPr>
          <a:xfrm>
            <a:off x="3959352" y="2770632"/>
            <a:ext cx="603504" cy="274320"/>
          </a:xfrm>
          <a:prstGeom prst="rect">
            <a:avLst/>
          </a:prstGeom>
          <a:noFill/>
          <a:ln/>
        </p:spPr>
        <p:txBody>
          <a:bodyPr wrap="square" lIns="0" tIns="0" rIns="0" bIns="0" rtlCol="0" anchor="ctr"/>
          <a:lstStyle/>
          <a:p>
            <a:pPr algn="ctr" indent="0" marL="0">
              <a:buNone/>
            </a:pPr>
            <a:r>
              <a:rPr lang="en-US" sz="1300" b="1" i="1" dirty="0">
                <a:solidFill>
                  <a:srgbClr val="C9D6E2"/>
                </a:solidFill>
                <a:latin typeface="Calibri" pitchFamily="34" charset="0"/>
                <a:ea typeface="Calibri" pitchFamily="34" charset="-122"/>
                <a:cs typeface="Calibri" pitchFamily="34" charset="-120"/>
              </a:rPr>
              <a:t>internet</a:t>
            </a:r>
            <a:endParaRPr lang="en-US" sz="1300" dirty="0"/>
          </a:p>
        </p:txBody>
      </p:sp>
      <p:sp>
        <p:nvSpPr>
          <p:cNvPr id="50" name="Shape 39"/>
          <p:cNvSpPr/>
          <p:nvPr/>
        </p:nvSpPr>
        <p:spPr>
          <a:xfrm>
            <a:off x="1234440" y="2368296"/>
            <a:ext cx="18288" cy="886968"/>
          </a:xfrm>
          <a:custGeom>
            <a:avLst/>
            <a:gdLst/>
            <a:ahLst/>
            <a:cxnLst/>
            <a:rect l="l" t="t" r="r" b="b"/>
            <a:pathLst>
              <a:path w="18288" h="886968">
                <a:moveTo>
                  <a:pt x="0" y="0"/>
                </a:moveTo>
                <a:lnTo>
                  <a:pt x="0" y="886968"/>
                </a:lnTo>
              </a:path>
            </a:pathLst>
          </a:custGeom>
          <a:noFill/>
          <a:ln w="34925">
            <a:solidFill>
              <a:srgbClr val="4FC3F7"/>
            </a:solidFill>
            <a:prstDash val="solid"/>
            <a:tailEnd type="triangle"/>
          </a:ln>
        </p:spPr>
      </p:sp>
      <p:sp>
        <p:nvSpPr>
          <p:cNvPr id="51" name="caption-arrow"/>
          <p:cNvSpPr txBox="1"/>
          <p:nvPr/>
        </p:nvSpPr>
        <p:spPr>
          <a:xfrm>
            <a:off x="1325880" y="2670048"/>
            <a:ext cx="10515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52" name="Shape 41"/>
          <p:cNvSpPr/>
          <p:nvPr/>
        </p:nvSpPr>
        <p:spPr>
          <a:xfrm>
            <a:off x="2185416" y="4069080"/>
            <a:ext cx="2313432" cy="18288"/>
          </a:xfrm>
          <a:custGeom>
            <a:avLst/>
            <a:gdLst/>
            <a:ahLst/>
            <a:cxnLst/>
            <a:rect l="l" t="t" r="r" b="b"/>
            <a:pathLst>
              <a:path w="2313432" h="18288">
                <a:moveTo>
                  <a:pt x="0" y="0"/>
                </a:moveTo>
                <a:lnTo>
                  <a:pt x="2313432" y="0"/>
                </a:lnTo>
              </a:path>
            </a:pathLst>
          </a:custGeom>
          <a:noFill/>
          <a:ln w="34925">
            <a:solidFill>
              <a:srgbClr val="F2A33A"/>
            </a:solidFill>
            <a:prstDash val="solid"/>
            <a:tailEnd type="triangle"/>
          </a:ln>
        </p:spPr>
      </p:sp>
      <p:sp>
        <p:nvSpPr>
          <p:cNvPr id="53" name="caption-arrow"/>
          <p:cNvSpPr txBox="1"/>
          <p:nvPr/>
        </p:nvSpPr>
        <p:spPr>
          <a:xfrm>
            <a:off x="2514600" y="376732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54" name="Image 9" descr="preencoded.png">    </p:cNvPr>
          <p:cNvPicPr>
            <a:picLocks noChangeAspect="1"/>
          </p:cNvPicPr>
          <p:nvPr/>
        </p:nvPicPr>
        <p:blipFill>
          <a:blip r:embed="rId11"/>
          <a:stretch>
            <a:fillRect/>
          </a:stretch>
        </p:blipFill>
        <p:spPr>
          <a:xfrm>
            <a:off x="2258568" y="3776472"/>
            <a:ext cx="256032" cy="256032"/>
          </a:xfrm>
          <a:prstGeom prst="rect">
            <a:avLst/>
          </a:prstGeom>
        </p:spPr>
      </p:pic>
      <p:pic>
        <p:nvPicPr>
          <p:cNvPr id="55" name="Image 10" descr="preencoded.png">    </p:cNvPr>
          <p:cNvPicPr>
            <a:picLocks noChangeAspect="1"/>
          </p:cNvPicPr>
          <p:nvPr/>
        </p:nvPicPr>
        <p:blipFill>
          <a:blip r:embed="rId12"/>
          <a:stretch>
            <a:fillRect/>
          </a:stretch>
        </p:blipFill>
        <p:spPr>
          <a:xfrm>
            <a:off x="10012680" y="566928"/>
            <a:ext cx="868680" cy="868680"/>
          </a:xfrm>
          <a:prstGeom prst="rect">
            <a:avLst/>
          </a:prstGeom>
        </p:spPr>
      </p:pic>
      <p:sp>
        <p:nvSpPr>
          <p:cNvPr id="56" name="label"/>
          <p:cNvSpPr txBox="1"/>
          <p:nvPr/>
        </p:nvSpPr>
        <p:spPr>
          <a:xfrm>
            <a:off x="9646920" y="1417320"/>
            <a:ext cx="16002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57" name="Shape 44"/>
          <p:cNvSpPr/>
          <p:nvPr/>
        </p:nvSpPr>
        <p:spPr>
          <a:xfrm>
            <a:off x="9802368" y="548640"/>
            <a:ext cx="329184" cy="329184"/>
          </a:xfrm>
          <a:prstGeom prst="ellipse">
            <a:avLst/>
          </a:prstGeom>
          <a:solidFill>
            <a:srgbClr val="F2A33A"/>
          </a:solidFill>
          <a:ln w="12700">
            <a:solidFill>
              <a:srgbClr val="0E1B2A"/>
            </a:solidFill>
            <a:prstDash val="solid"/>
          </a:ln>
        </p:spPr>
      </p:sp>
      <p:sp>
        <p:nvSpPr>
          <p:cNvPr id="58" name="caption-badge"/>
          <p:cNvSpPr txBox="1"/>
          <p:nvPr/>
        </p:nvSpPr>
        <p:spPr>
          <a:xfrm>
            <a:off x="9802368" y="548640"/>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sp>
        <p:nvSpPr>
          <p:cNvPr id="59" name="Shape 46"/>
          <p:cNvSpPr/>
          <p:nvPr/>
        </p:nvSpPr>
        <p:spPr>
          <a:xfrm>
            <a:off x="9052560" y="1554480"/>
            <a:ext cx="914400" cy="1975104"/>
          </a:xfrm>
          <a:custGeom>
            <a:avLst/>
            <a:gdLst/>
            <a:ahLst/>
            <a:cxnLst/>
            <a:rect l="l" t="t" r="r" b="b"/>
            <a:pathLst>
              <a:path w="914400" h="1975104">
                <a:moveTo>
                  <a:pt x="0" y="1975104"/>
                </a:moveTo>
                <a:cubicBezTo>
                  <a:pt x="45720" y="1188720"/>
                  <a:pt x="411480" y="274320"/>
                  <a:pt x="914400" y="0"/>
                </a:cubicBezTo>
              </a:path>
            </a:pathLst>
          </a:custGeom>
          <a:noFill/>
          <a:ln w="34925">
            <a:solidFill>
              <a:srgbClr val="4FC3F7"/>
            </a:solidFill>
            <a:prstDash val="solid"/>
            <a:tailEnd type="triangle"/>
          </a:ln>
        </p:spPr>
      </p:sp>
      <p:sp>
        <p:nvSpPr>
          <p:cNvPr id="60" name="caption-arrow"/>
          <p:cNvSpPr txBox="1"/>
          <p:nvPr/>
        </p:nvSpPr>
        <p:spPr>
          <a:xfrm>
            <a:off x="8138160" y="1874520"/>
            <a:ext cx="114300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61" name="Shape 48"/>
          <p:cNvSpPr/>
          <p:nvPr/>
        </p:nvSpPr>
        <p:spPr>
          <a:xfrm>
            <a:off x="2194560" y="841248"/>
            <a:ext cx="7754112" cy="576072"/>
          </a:xfrm>
          <a:custGeom>
            <a:avLst/>
            <a:gdLst/>
            <a:ahLst/>
            <a:cxnLst/>
            <a:rect l="l" t="t" r="r" b="b"/>
            <a:pathLst>
              <a:path w="7754112" h="576072">
                <a:moveTo>
                  <a:pt x="7754112" y="182880"/>
                </a:moveTo>
                <a:cubicBezTo>
                  <a:pt x="5486400" y="0"/>
                  <a:pt x="1828800" y="0"/>
                  <a:pt x="0" y="576072"/>
                </a:cubicBezTo>
              </a:path>
            </a:pathLst>
          </a:custGeom>
          <a:noFill/>
          <a:ln w="34925">
            <a:solidFill>
              <a:srgbClr val="4FC3F7"/>
            </a:solidFill>
            <a:prstDash val="solid"/>
            <a:tailEnd type="triangle"/>
          </a:ln>
        </p:spPr>
      </p:sp>
      <p:sp>
        <p:nvSpPr>
          <p:cNvPr id="62" name="caption-arrow"/>
          <p:cNvSpPr txBox="1"/>
          <p:nvPr/>
        </p:nvSpPr>
        <p:spPr>
          <a:xfrm>
            <a:off x="4023360" y="1069848"/>
            <a:ext cx="31089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63" name="Shape 50"/>
          <p:cNvSpPr/>
          <p:nvPr/>
        </p:nvSpPr>
        <p:spPr>
          <a:xfrm>
            <a:off x="10607040" y="1801368"/>
            <a:ext cx="18288" cy="3703320"/>
          </a:xfrm>
          <a:custGeom>
            <a:avLst/>
            <a:gdLst/>
            <a:ahLst/>
            <a:cxnLst/>
            <a:rect l="l" t="t" r="r" b="b"/>
            <a:pathLst>
              <a:path w="18288" h="3703320">
                <a:moveTo>
                  <a:pt x="0" y="0"/>
                </a:moveTo>
                <a:lnTo>
                  <a:pt x="0" y="3703320"/>
                </a:lnTo>
              </a:path>
            </a:pathLst>
          </a:custGeom>
          <a:noFill/>
          <a:ln w="34925">
            <a:solidFill>
              <a:srgbClr val="4FC3F7"/>
            </a:solidFill>
            <a:prstDash val="solid"/>
            <a:tailEnd type="triangle"/>
          </a:ln>
        </p:spPr>
      </p:sp>
      <p:sp>
        <p:nvSpPr>
          <p:cNvPr id="64" name="caption-arrow"/>
          <p:cNvSpPr txBox="1"/>
          <p:nvPr/>
        </p:nvSpPr>
        <p:spPr>
          <a:xfrm>
            <a:off x="10698480" y="3520440"/>
            <a:ext cx="73152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pic>
        <p:nvPicPr>
          <p:cNvPr id="65" name="Image 11" descr="preencoded.png">    </p:cNvPr>
          <p:cNvPicPr>
            <a:picLocks noChangeAspect="1"/>
          </p:cNvPicPr>
          <p:nvPr/>
        </p:nvPicPr>
        <p:blipFill>
          <a:blip r:embed="rId13"/>
          <a:stretch>
            <a:fillRect/>
          </a:stretch>
        </p:blipFill>
        <p:spPr>
          <a:xfrm>
            <a:off x="9646920" y="5925312"/>
            <a:ext cx="457200" cy="457200"/>
          </a:xfrm>
          <a:prstGeom prst="rect">
            <a:avLst/>
          </a:prstGeom>
        </p:spPr>
      </p:pic>
      <p:sp>
        <p:nvSpPr>
          <p:cNvPr id="66" name="label"/>
          <p:cNvSpPr txBox="1"/>
          <p:nvPr/>
        </p:nvSpPr>
        <p:spPr>
          <a:xfrm>
            <a:off x="10195560" y="5870448"/>
            <a:ext cx="109728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Sea</a:t>
            </a:r>
            <a:endParaRPr lang="en-US" sz="2000" dirty="0"/>
          </a:p>
        </p:txBody>
      </p:sp>
      <p:sp>
        <p:nvSpPr>
          <p:cNvPr id="67" name="Shape 53"/>
          <p:cNvSpPr/>
          <p:nvPr/>
        </p:nvSpPr>
        <p:spPr>
          <a:xfrm>
            <a:off x="9418320" y="5779008"/>
            <a:ext cx="274320" cy="274320"/>
          </a:xfrm>
          <a:prstGeom prst="ellipse">
            <a:avLst/>
          </a:prstGeom>
          <a:solidFill>
            <a:srgbClr val="F2A33A"/>
          </a:solidFill>
          <a:ln w="12700">
            <a:solidFill>
              <a:srgbClr val="0E1B2A"/>
            </a:solidFill>
            <a:prstDash val="solid"/>
          </a:ln>
        </p:spPr>
      </p:sp>
      <p:sp>
        <p:nvSpPr>
          <p:cNvPr id="68" name="caption-badge"/>
          <p:cNvSpPr txBox="1"/>
          <p:nvPr/>
        </p:nvSpPr>
        <p:spPr>
          <a:xfrm>
            <a:off x="9418320" y="577900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7</a:t>
            </a:r>
            <a:endParaRPr lang="en-US" sz="1200" dirty="0"/>
          </a:p>
        </p:txBody>
      </p:sp>
      <p:sp>
        <p:nvSpPr>
          <p:cNvPr id="69" name="Shape 55"/>
          <p:cNvSpPr/>
          <p:nvPr/>
        </p:nvSpPr>
        <p:spPr>
          <a:xfrm>
            <a:off x="5760720" y="5486400"/>
            <a:ext cx="2788920" cy="1097280"/>
          </a:xfrm>
          <a:prstGeom prst="roundRect">
            <a:avLst>
              <a:gd name="adj" fmla="val 10000"/>
            </a:avLst>
          </a:prstGeom>
          <a:solidFill>
            <a:srgbClr val="0E1B2A">
              <a:alpha val="90000"/>
            </a:srgbClr>
          </a:solidFill>
          <a:ln w="19050">
            <a:solidFill>
              <a:srgbClr val="4FC3F7"/>
            </a:solidFill>
            <a:prstDash val="solid"/>
          </a:ln>
        </p:spPr>
      </p:sp>
      <p:pic>
        <p:nvPicPr>
          <p:cNvPr id="70" name="Image 12" descr="preencoded.png">    </p:cNvPr>
          <p:cNvPicPr>
            <a:picLocks noChangeAspect="1"/>
          </p:cNvPicPr>
          <p:nvPr/>
        </p:nvPicPr>
        <p:blipFill>
          <a:blip r:embed="rId14"/>
          <a:stretch>
            <a:fillRect/>
          </a:stretch>
        </p:blipFill>
        <p:spPr>
          <a:xfrm>
            <a:off x="5852160" y="5577840"/>
            <a:ext cx="841248" cy="914400"/>
          </a:xfrm>
          <a:prstGeom prst="rect">
            <a:avLst/>
          </a:prstGeom>
        </p:spPr>
      </p:pic>
      <p:sp>
        <p:nvSpPr>
          <p:cNvPr id="71" name="label"/>
          <p:cNvSpPr txBox="1"/>
          <p:nvPr/>
        </p:nvSpPr>
        <p:spPr>
          <a:xfrm>
            <a:off x="6784848" y="5596128"/>
            <a:ext cx="169164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72" name="caption-sub"/>
          <p:cNvSpPr txBox="1"/>
          <p:nvPr/>
        </p:nvSpPr>
        <p:spPr>
          <a:xfrm>
            <a:off x="6784848" y="6016752"/>
            <a:ext cx="1691640" cy="457200"/>
          </a:xfrm>
          <a:prstGeom prst="rect">
            <a:avLst/>
          </a:prstGeom>
          <a:noFill/>
          <a:ln/>
        </p:spPr>
        <p:txBody>
          <a:bodyPr wrap="square" lIns="0" tIns="0" rIns="0" bIns="0" rtlCol="0" anchor="t"/>
          <a:lstStyle/>
          <a:p>
            <a:pPr indent="0" marL="0">
              <a:buNone/>
            </a:pPr>
            <a:r>
              <a:rPr lang="en-US" sz="1300" dirty="0">
                <a:solidFill>
                  <a:srgbClr val="E3EBF1"/>
                </a:solidFill>
                <a:latin typeface="Calibri" pitchFamily="34" charset="0"/>
                <a:ea typeface="Calibri" pitchFamily="34" charset="-122"/>
                <a:cs typeface="Calibri" pitchFamily="34" charset="-120"/>
              </a:rPr>
              <a:t>Sea water → fresh water</a:t>
            </a:r>
            <a:endParaRPr lang="en-US" sz="1300" dirty="0"/>
          </a:p>
        </p:txBody>
      </p:sp>
      <p:sp>
        <p:nvSpPr>
          <p:cNvPr id="73" name="Shape 58"/>
          <p:cNvSpPr/>
          <p:nvPr/>
        </p:nvSpPr>
        <p:spPr>
          <a:xfrm>
            <a:off x="5632704" y="5358384"/>
            <a:ext cx="329184" cy="329184"/>
          </a:xfrm>
          <a:prstGeom prst="ellipse">
            <a:avLst/>
          </a:prstGeom>
          <a:solidFill>
            <a:srgbClr val="F2A33A"/>
          </a:solidFill>
          <a:ln w="12700">
            <a:solidFill>
              <a:srgbClr val="0E1B2A"/>
            </a:solidFill>
            <a:prstDash val="solid"/>
          </a:ln>
        </p:spPr>
      </p:sp>
      <p:sp>
        <p:nvSpPr>
          <p:cNvPr id="74" name="caption-badge"/>
          <p:cNvSpPr txBox="1"/>
          <p:nvPr/>
        </p:nvSpPr>
        <p:spPr>
          <a:xfrm>
            <a:off x="5632704" y="535838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75" name="Shape 60"/>
          <p:cNvSpPr/>
          <p:nvPr/>
        </p:nvSpPr>
        <p:spPr>
          <a:xfrm>
            <a:off x="8586216" y="6053328"/>
            <a:ext cx="786384" cy="18288"/>
          </a:xfrm>
          <a:custGeom>
            <a:avLst/>
            <a:gdLst/>
            <a:ahLst/>
            <a:cxnLst/>
            <a:rect l="l" t="t" r="r" b="b"/>
            <a:pathLst>
              <a:path w="786384" h="18288">
                <a:moveTo>
                  <a:pt x="786384" y="0"/>
                </a:moveTo>
                <a:lnTo>
                  <a:pt x="0" y="0"/>
                </a:lnTo>
              </a:path>
            </a:pathLst>
          </a:custGeom>
          <a:noFill/>
          <a:ln w="34925">
            <a:solidFill>
              <a:srgbClr val="4FC3F7"/>
            </a:solidFill>
            <a:prstDash val="solid"/>
            <a:tailEnd type="triangle"/>
          </a:ln>
        </p:spPr>
      </p:sp>
      <p:sp>
        <p:nvSpPr>
          <p:cNvPr id="76" name="caption-arrow"/>
          <p:cNvSpPr txBox="1"/>
          <p:nvPr/>
        </p:nvSpPr>
        <p:spPr>
          <a:xfrm>
            <a:off x="8595360" y="6382512"/>
            <a:ext cx="77724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77" name="Shape 62"/>
          <p:cNvSpPr/>
          <p:nvPr/>
        </p:nvSpPr>
        <p:spPr>
          <a:xfrm>
            <a:off x="6949440" y="5148072"/>
            <a:ext cx="18288" cy="301752"/>
          </a:xfrm>
          <a:custGeom>
            <a:avLst/>
            <a:gdLst/>
            <a:ahLst/>
            <a:cxnLst/>
            <a:rect l="l" t="t" r="r" b="b"/>
            <a:pathLst>
              <a:path w="18288" h="301752">
                <a:moveTo>
                  <a:pt x="0" y="301752"/>
                </a:moveTo>
                <a:lnTo>
                  <a:pt x="0" y="0"/>
                </a:lnTo>
              </a:path>
            </a:pathLst>
          </a:custGeom>
          <a:noFill/>
          <a:ln w="34925">
            <a:solidFill>
              <a:srgbClr val="4FC3F7"/>
            </a:solidFill>
            <a:prstDash val="solid"/>
            <a:tailEnd type="triangle"/>
          </a:ln>
        </p:spPr>
      </p:sp>
      <p:sp>
        <p:nvSpPr>
          <p:cNvPr id="78" name="caption-arrow"/>
          <p:cNvSpPr txBox="1"/>
          <p:nvPr/>
        </p:nvSpPr>
        <p:spPr>
          <a:xfrm>
            <a:off x="5623560" y="5184648"/>
            <a:ext cx="123444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79" name="Shape 64"/>
          <p:cNvSpPr/>
          <p:nvPr/>
        </p:nvSpPr>
        <p:spPr>
          <a:xfrm>
            <a:off x="1234440" y="4681728"/>
            <a:ext cx="4489704" cy="1353312"/>
          </a:xfrm>
          <a:custGeom>
            <a:avLst/>
            <a:gdLst/>
            <a:ahLst/>
            <a:cxnLst/>
            <a:rect l="l" t="t" r="r" b="b"/>
            <a:pathLst>
              <a:path w="4489704" h="1353312">
                <a:moveTo>
                  <a:pt x="0" y="0"/>
                </a:moveTo>
                <a:lnTo>
                  <a:pt x="0" y="1353312"/>
                </a:lnTo>
                <a:lnTo>
                  <a:pt x="4489704" y="1353312"/>
                </a:lnTo>
              </a:path>
            </a:pathLst>
          </a:custGeom>
          <a:noFill/>
          <a:ln w="34925">
            <a:solidFill>
              <a:srgbClr val="F2A33A"/>
            </a:solidFill>
            <a:prstDash val="solid"/>
            <a:tailEnd type="triangle"/>
          </a:ln>
        </p:spPr>
      </p:sp>
      <p:sp>
        <p:nvSpPr>
          <p:cNvPr id="80" name="caption-arrow"/>
          <p:cNvSpPr txBox="1"/>
          <p:nvPr/>
        </p:nvSpPr>
        <p:spPr>
          <a:xfrm>
            <a:off x="2103120" y="573328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81" name="Image 13" descr="preencoded.png">    </p:cNvPr>
          <p:cNvPicPr>
            <a:picLocks noChangeAspect="1"/>
          </p:cNvPicPr>
          <p:nvPr/>
        </p:nvPicPr>
        <p:blipFill>
          <a:blip r:embed="rId15"/>
          <a:stretch>
            <a:fillRect/>
          </a:stretch>
        </p:blipFill>
        <p:spPr>
          <a:xfrm>
            <a:off x="1828800" y="5742432"/>
            <a:ext cx="256032" cy="256032"/>
          </a:xfrm>
          <a:prstGeom prst="rect">
            <a:avLst/>
          </a:prstGeom>
        </p:spPr>
      </p:pic>
      <p:sp>
        <p:nvSpPr>
          <p:cNvPr id="82" name="Shape 66"/>
          <p:cNvSpPr/>
          <p:nvPr/>
        </p:nvSpPr>
        <p:spPr>
          <a:xfrm>
            <a:off x="365760" y="6556248"/>
            <a:ext cx="365760" cy="0"/>
          </a:xfrm>
          <a:prstGeom prst="line">
            <a:avLst/>
          </a:prstGeom>
          <a:noFill/>
          <a:ln w="31750">
            <a:solidFill>
              <a:srgbClr val="C9D6E2"/>
            </a:solidFill>
            <a:prstDash val="solid"/>
            <a:tailEnd type="triangle"/>
          </a:ln>
        </p:spPr>
      </p:sp>
      <p:sp>
        <p:nvSpPr>
          <p:cNvPr id="83" name="caption-legend"/>
          <p:cNvSpPr txBox="1"/>
          <p:nvPr/>
        </p:nvSpPr>
        <p:spPr>
          <a:xfrm>
            <a:off x="804672"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Question &amp; computing</a:t>
            </a:r>
            <a:endParaRPr lang="en-US" sz="1200" dirty="0"/>
          </a:p>
        </p:txBody>
      </p:sp>
      <p:sp>
        <p:nvSpPr>
          <p:cNvPr id="84" name="Shape 68"/>
          <p:cNvSpPr/>
          <p:nvPr/>
        </p:nvSpPr>
        <p:spPr>
          <a:xfrm>
            <a:off x="2587752" y="6556248"/>
            <a:ext cx="365760" cy="0"/>
          </a:xfrm>
          <a:prstGeom prst="line">
            <a:avLst/>
          </a:prstGeom>
          <a:noFill/>
          <a:ln w="31750">
            <a:solidFill>
              <a:srgbClr val="FF7A45"/>
            </a:solidFill>
            <a:prstDash val="solid"/>
            <a:tailEnd type="triangle"/>
          </a:ln>
        </p:spPr>
      </p:sp>
      <p:sp>
        <p:nvSpPr>
          <p:cNvPr id="85" name="caption-legend"/>
          <p:cNvSpPr txBox="1"/>
          <p:nvPr/>
        </p:nvSpPr>
        <p:spPr>
          <a:xfrm>
            <a:off x="302666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Heat</a:t>
            </a:r>
            <a:endParaRPr lang="en-US" sz="1200" dirty="0"/>
          </a:p>
        </p:txBody>
      </p:sp>
      <p:sp>
        <p:nvSpPr>
          <p:cNvPr id="86" name="Shape 70"/>
          <p:cNvSpPr/>
          <p:nvPr/>
        </p:nvSpPr>
        <p:spPr>
          <a:xfrm>
            <a:off x="3639312" y="6556248"/>
            <a:ext cx="365760" cy="0"/>
          </a:xfrm>
          <a:prstGeom prst="line">
            <a:avLst/>
          </a:prstGeom>
          <a:noFill/>
          <a:ln w="31750">
            <a:solidFill>
              <a:srgbClr val="4FC3F7"/>
            </a:solidFill>
            <a:prstDash val="solid"/>
            <a:tailEnd type="triangle"/>
          </a:ln>
        </p:spPr>
      </p:sp>
      <p:sp>
        <p:nvSpPr>
          <p:cNvPr id="87" name="caption-legend"/>
          <p:cNvSpPr txBox="1"/>
          <p:nvPr/>
        </p:nvSpPr>
        <p:spPr>
          <a:xfrm>
            <a:off x="407822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Water</a:t>
            </a:r>
            <a:endParaRPr lang="en-US" sz="1200" dirty="0"/>
          </a:p>
        </p:txBody>
      </p:sp>
      <p:sp>
        <p:nvSpPr>
          <p:cNvPr id="88" name="Shape 72"/>
          <p:cNvSpPr/>
          <p:nvPr/>
        </p:nvSpPr>
        <p:spPr>
          <a:xfrm>
            <a:off x="4764024" y="6556248"/>
            <a:ext cx="365760" cy="0"/>
          </a:xfrm>
          <a:prstGeom prst="line">
            <a:avLst/>
          </a:prstGeom>
          <a:noFill/>
          <a:ln w="31750">
            <a:solidFill>
              <a:srgbClr val="F2A33A"/>
            </a:solidFill>
            <a:prstDash val="solid"/>
            <a:tailEnd type="triangle"/>
          </a:ln>
        </p:spPr>
      </p:sp>
      <p:sp>
        <p:nvSpPr>
          <p:cNvPr id="89" name="caption-legend"/>
          <p:cNvSpPr txBox="1"/>
          <p:nvPr/>
        </p:nvSpPr>
        <p:spPr>
          <a:xfrm>
            <a:off x="5202936"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Electricity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2026-10-17T14:02:15Z</dcterms:created>
  <dcterms:modified xsi:type="dcterms:W3CDTF">2026-10-17T14:02:15Z</dcterms:modified>
</cp:coreProperties>
</file>