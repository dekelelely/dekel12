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B2239"/>
                </a:solidFill>
                <a:latin typeface="Calibri"/>
              </a:defRPr>
            </a:pPr>
            <a:r>
              <a:rPr sz="1600" b="0" i="0" u="none" strike="noStrike">
                <a:solidFill>
                  <a:srgbClr val="0B2239"/>
                </a:solidFill>
                <a:latin typeface="Calibri"/>
              </a:rPr>
              <a:t>Google’s water use (billion litres)</a:t>
            </a:r>
          </a:p>
        </c:rich>
      </c:tx>
      <c:layout/>
      <c:overlay val="0"/>
    </c:title>
    <c:autoTitleDeleted val="0"/>
    <c:plotArea>
      <c:layout/>
      <c:barChart>
        <c:barDir val="col"/>
        <c:grouping val="clustered"/>
        <c:varyColors val="0"/>
        <c:ser>
          <c:idx val="0"/>
          <c:order val="0"/>
          <c:tx>
            <c:strRef>
              <c:f>Sheet1!$B$1</c:f>
              <c:strCache>
                <c:ptCount val="1"/>
                <c:pt idx="0">
                  <c:v>Google water use</c:v>
                </c:pt>
              </c:strCache>
            </c:strRef>
          </c:tx>
          <c:spPr>
            <a:solidFill>
              <a:srgbClr val="137C94"/>
            </a:solidFill>
            <a:effectLst/>
          </c:spPr>
          <c:invertIfNegative val="0"/>
          <c:dLbls>
            <c:numFmt formatCode="0.0" sourceLinked="0"/>
            <c:txPr>
              <a:bodyPr/>
              <a:lstStyle/>
              <a:p>
                <a:pPr>
                  <a:defRPr b="1" i="0" strike="noStrike" sz="1800" u="none">
                    <a:solidFill>
                      <a:srgbClr val="0B2239"/>
                    </a:solidFill>
                    <a:latin typeface="Arial"/>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B2239"/>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B2239"/>
                </a:solidFill>
                <a:latin typeface="Calibri"/>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B2239"/>
                </a:solidFill>
                <a:latin typeface="Calibri"/>
              </a:defRPr>
            </a:pPr>
            <a:r>
              <a:rPr sz="1600" b="0" i="0" u="none" strike="noStrike">
                <a:solidFill>
                  <a:srgbClr val="0B2239"/>
                </a:solidFill>
                <a:latin typeface="Calibri"/>
              </a:rPr>
              <a:t>Data centers’ grid demand, Israel (MW)</a:t>
            </a:r>
          </a:p>
        </c:rich>
      </c:tx>
      <c:layout/>
      <c:overlay val="0"/>
    </c:title>
    <c:autoTitleDeleted val="0"/>
    <c:plotArea>
      <c:layout/>
      <c:barChart>
        <c:barDir val="col"/>
        <c:grouping val="clustered"/>
        <c:varyColors val="0"/>
        <c:ser>
          <c:idx val="0"/>
          <c:order val="0"/>
          <c:tx>
            <c:strRef>
              <c:f>Sheet1!$B$1</c:f>
              <c:strCache>
                <c:ptCount val="1"/>
                <c:pt idx="0">
                  <c:v>Data-center grid demand</c:v>
                </c:pt>
              </c:strCache>
            </c:strRef>
          </c:tx>
          <c:spPr>
            <a:solidFill>
              <a:srgbClr val="F2A33A"/>
            </a:solidFill>
            <a:effectLst/>
          </c:spPr>
          <c:invertIfNegative val="0"/>
          <c:dLbls>
            <c:numFmt formatCode="#,##0" sourceLinked="0"/>
            <c:txPr>
              <a:bodyPr/>
              <a:lstStyle/>
              <a:p>
                <a:pPr>
                  <a:defRPr b="1" i="0" strike="noStrike" sz="1800" u="none">
                    <a:solidFill>
                      <a:srgbClr val="0B2239"/>
                    </a:solidFill>
                    <a:latin typeface="Arial"/>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800" u="none">
                  <a:solidFill>
                    <a:srgbClr val="0B2239"/>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B2239"/>
                </a:solidFill>
                <a:latin typeface="Calibri"/>
              </a:defRPr>
            </a:pPr>
            <a:endParaRPr lang="en-US"/>
          </a:p>
        </c:txPr>
        <c:crossAx val="2094734552"/>
        <c:crosses val="autoZero"/>
        <c:auto val="1"/>
        <c:lblAlgn val="ctr"/>
        <c:noMultiLvlLbl val="1"/>
      </c:catAx>
      <c:valAx>
        <c:axId val="2094734552"/>
        <c:scaling>
          <c:orientation val="minMax"/>
          <c:max val="31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AF4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
- Photo idea: real protest or public meeting photo (e.g. Tucson council, Uruguay protest), or a Knesset photo.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talking points
- This is OUR proposal, not an existing law. It is a policy reform with three parts:
  1) Disclosure: every data center in Israel above 5 MW publishes its yearly water and electricity use, like the EU rule [S28] (EU threshold: 500 kW). The 5 MW threshold is our choice.
  2) Local voice: even on the national fast track [S24], the local council and residents still get a public hearing before approval.
  3) Priority: in a water or power shortage, homes and farms come before servers. In the 2026 shortage, farms were cut first [S18].
- 'Discrimination': we use it carefully. We did NOT find proof that Israel puts data centers in poor areas on purpose. Our point: when locals lose their say, some communities can be treated unfairly. Fair siting rules prevent that.
- Awareness idea: an 'AI nutrition label' poster, like a food label. It shows on-site water, off-site water and electricity, with the source and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closing
- Takeaway: AI is not magic in the sky. It uses real water and real electricity, in real places, like Kfar Yona, Netanya and Hadera.
- Call to action: when a new data center is planned, ask who decides and who pays.
- Sustainability without social justice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7"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7" Type="http://schemas.openxmlformats.org/officeDocument/2006/relationships/chart" Target="/ppt/charts/chart2.xm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239"/>
        </a:solidFill>
      </p:bgPr>
    </p:bg>
    <p:spTree>
      <p:nvGrpSpPr>
        <p:cNvPr id="1" name=""/>
        <p:cNvGrpSpPr/>
        <p:nvPr/>
      </p:nvGrpSpPr>
      <p:grpSpPr>
        <a:xfrm>
          <a:off x="0" y="0"/>
          <a:ext cx="0" cy="0"/>
          <a:chOff x="0" y="0"/>
          <a:chExt cx="0" cy="0"/>
        </a:xfrm>
      </p:grpSpPr>
      <p:sp>
        <p:nvSpPr>
          <p:cNvPr id="2" name="title"/>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AI’s Hidden Thirst: Who Pays?</a:t>
            </a:r>
            <a:endParaRPr lang="en-US" sz="4000" dirty="0"/>
          </a:p>
        </p:txBody>
      </p:sp>
      <p:sp>
        <p:nvSpPr>
          <p:cNvPr id="3" name="kicker"/>
          <p:cNvSpPr txBox="1"/>
          <p:nvPr/>
        </p:nvSpPr>
        <p:spPr>
          <a:xfrm>
            <a:off x="548640" y="1143000"/>
            <a:ext cx="11064240" cy="457200"/>
          </a:xfrm>
          <a:prstGeom prst="rect">
            <a:avLst/>
          </a:prstGeom>
          <a:noFill/>
          <a:ln/>
        </p:spPr>
        <p:txBody>
          <a:bodyPr wrap="square" lIns="0" tIns="0" rIns="0" bIns="0" rtlCol="0" anchor="ctr"/>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Shape 2"/>
          <p:cNvSpPr/>
          <p:nvPr/>
        </p:nvSpPr>
        <p:spPr>
          <a:xfrm>
            <a:off x="548640" y="1874520"/>
            <a:ext cx="475488" cy="475488"/>
          </a:xfrm>
          <a:prstGeom prst="ellipse">
            <a:avLst/>
          </a:prstGeom>
          <a:solidFill>
            <a:srgbClr val="137C94"/>
          </a:solidFill>
          <a:ln w="12700">
            <a:solidFill>
              <a:srgbClr val="137C94"/>
            </a:solidFill>
            <a:prstDash val="solid"/>
          </a:ln>
        </p:spPr>
      </p:sp>
      <p:pic>
        <p:nvPicPr>
          <p:cNvPr id="5" name="Image 0" descr="preencoded.png">    </p:cNvPr>
          <p:cNvPicPr>
            <a:picLocks noChangeAspect="1"/>
          </p:cNvPicPr>
          <p:nvPr/>
        </p:nvPicPr>
        <p:blipFill>
          <a:blip r:embed="rId1"/>
          <a:stretch>
            <a:fillRect/>
          </a:stretch>
        </p:blipFill>
        <p:spPr>
          <a:xfrm>
            <a:off x="658368" y="1984248"/>
            <a:ext cx="256032" cy="256032"/>
          </a:xfrm>
          <a:prstGeom prst="rect">
            <a:avLst/>
          </a:prstGeom>
        </p:spPr>
      </p:pic>
      <p:sp>
        <p:nvSpPr>
          <p:cNvPr id="6" name="body"/>
          <p:cNvSpPr txBox="1"/>
          <p:nvPr/>
        </p:nvSpPr>
        <p:spPr>
          <a:xfrm>
            <a:off x="1207008" y="1819656"/>
            <a:ext cx="5394960" cy="585216"/>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AI data centers run on water </a:t>
            </a:r>
            <a:pPr indent="0" marL="0">
              <a:buNone/>
            </a:pPr>
            <a:r>
              <a:rPr lang="en-US" sz="2100" b="1" dirty="0">
                <a:solidFill>
                  <a:srgbClr val="F2A33A"/>
                </a:solidFill>
                <a:latin typeface="Calibri" pitchFamily="34" charset="0"/>
                <a:ea typeface="Calibri" pitchFamily="34" charset="-122"/>
                <a:cs typeface="Calibri" pitchFamily="34" charset="-120"/>
              </a:rPr>
              <a:t>and</a:t>
            </a:r>
            <a:pPr indent="0" marL="0">
              <a:buNone/>
            </a:pPr>
            <a:r>
              <a:rPr lang="en-US" sz="2100" dirty="0">
                <a:solidFill>
                  <a:srgbClr val="FFFFFF"/>
                </a:solidFill>
                <a:latin typeface="Calibri" pitchFamily="34" charset="0"/>
                <a:ea typeface="Calibri" pitchFamily="34" charset="-122"/>
                <a:cs typeface="Calibri" pitchFamily="34" charset="-120"/>
              </a:rPr>
              <a:t> power</a:t>
            </a:r>
            <a:endParaRPr lang="en-US" sz="2100" dirty="0"/>
          </a:p>
        </p:txBody>
      </p:sp>
      <p:sp>
        <p:nvSpPr>
          <p:cNvPr id="7" name="Shape 4"/>
          <p:cNvSpPr/>
          <p:nvPr/>
        </p:nvSpPr>
        <p:spPr>
          <a:xfrm>
            <a:off x="548640" y="2551176"/>
            <a:ext cx="475488" cy="475488"/>
          </a:xfrm>
          <a:prstGeom prst="ellipse">
            <a:avLst/>
          </a:prstGeom>
          <a:solidFill>
            <a:srgbClr val="137C94"/>
          </a:solidFill>
          <a:ln w="12700">
            <a:solidFill>
              <a:srgbClr val="137C94"/>
            </a:solidFill>
            <a:prstDash val="solid"/>
          </a:ln>
        </p:spPr>
      </p:sp>
      <p:pic>
        <p:nvPicPr>
          <p:cNvPr id="8" name="Image 1" descr="preencoded.png">    </p:cNvPr>
          <p:cNvPicPr>
            <a:picLocks noChangeAspect="1"/>
          </p:cNvPicPr>
          <p:nvPr/>
        </p:nvPicPr>
        <p:blipFill>
          <a:blip r:embed="rId2"/>
          <a:stretch>
            <a:fillRect/>
          </a:stretch>
        </p:blipFill>
        <p:spPr>
          <a:xfrm>
            <a:off x="658368" y="2660904"/>
            <a:ext cx="256032" cy="256032"/>
          </a:xfrm>
          <a:prstGeom prst="rect">
            <a:avLst/>
          </a:prstGeom>
        </p:spPr>
      </p:pic>
      <p:sp>
        <p:nvSpPr>
          <p:cNvPr id="9" name="body"/>
          <p:cNvSpPr txBox="1"/>
          <p:nvPr/>
        </p:nvSpPr>
        <p:spPr>
          <a:xfrm>
            <a:off x="1207008" y="2496312"/>
            <a:ext cx="5394960" cy="585216"/>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On-site: </a:t>
            </a:r>
            <a:pPr indent="0" marL="0">
              <a:buNone/>
            </a:pPr>
            <a:r>
              <a:rPr lang="en-US" sz="2100" dirty="0">
                <a:solidFill>
                  <a:srgbClr val="FFFFFF"/>
                </a:solidFill>
                <a:latin typeface="Calibri" pitchFamily="34" charset="0"/>
                <a:ea typeface="Calibri" pitchFamily="34" charset="-122"/>
                <a:cs typeface="Calibri" pitchFamily="34" charset="-120"/>
              </a:rPr>
              <a:t>water evaporates to cool servers</a:t>
            </a:r>
            <a:endParaRPr lang="en-US" sz="2100" dirty="0"/>
          </a:p>
        </p:txBody>
      </p:sp>
      <p:sp>
        <p:nvSpPr>
          <p:cNvPr id="10" name="Shape 6"/>
          <p:cNvSpPr/>
          <p:nvPr/>
        </p:nvSpPr>
        <p:spPr>
          <a:xfrm>
            <a:off x="548640" y="3227832"/>
            <a:ext cx="475488" cy="475488"/>
          </a:xfrm>
          <a:prstGeom prst="ellipse">
            <a:avLst/>
          </a:prstGeom>
          <a:solidFill>
            <a:srgbClr val="F2A33A"/>
          </a:solidFill>
          <a:ln w="12700">
            <a:solidFill>
              <a:srgbClr val="F2A33A"/>
            </a:solidFill>
            <a:prstDash val="solid"/>
          </a:ln>
        </p:spPr>
      </p:sp>
      <p:pic>
        <p:nvPicPr>
          <p:cNvPr id="11" name="Image 2" descr="preencoded.png">    </p:cNvPr>
          <p:cNvPicPr>
            <a:picLocks noChangeAspect="1"/>
          </p:cNvPicPr>
          <p:nvPr/>
        </p:nvPicPr>
        <p:blipFill>
          <a:blip r:embed="rId3"/>
          <a:stretch>
            <a:fillRect/>
          </a:stretch>
        </p:blipFill>
        <p:spPr>
          <a:xfrm>
            <a:off x="658368" y="3337560"/>
            <a:ext cx="256032" cy="256032"/>
          </a:xfrm>
          <a:prstGeom prst="rect">
            <a:avLst/>
          </a:prstGeom>
        </p:spPr>
      </p:pic>
      <p:sp>
        <p:nvSpPr>
          <p:cNvPr id="12" name="body"/>
          <p:cNvSpPr txBox="1"/>
          <p:nvPr/>
        </p:nvSpPr>
        <p:spPr>
          <a:xfrm>
            <a:off x="1207008" y="3172968"/>
            <a:ext cx="5394960" cy="585216"/>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Off-site: </a:t>
            </a:r>
            <a:pPr indent="0" marL="0">
              <a:buNone/>
            </a:pPr>
            <a:r>
              <a:rPr lang="en-US" sz="2100" dirty="0">
                <a:solidFill>
                  <a:srgbClr val="FFFFFF"/>
                </a:solidFill>
                <a:latin typeface="Calibri" pitchFamily="34" charset="0"/>
                <a:ea typeface="Calibri" pitchFamily="34" charset="-122"/>
                <a:cs typeface="Calibri" pitchFamily="34" charset="-120"/>
              </a:rPr>
              <a:t>US power plants use about </a:t>
            </a:r>
            <a:pPr indent="0" marL="0">
              <a:buNone/>
            </a:pPr>
            <a:r>
              <a:rPr lang="en-US" sz="2100" b="1" dirty="0">
                <a:solidFill>
                  <a:srgbClr val="F2A33A"/>
                </a:solidFill>
                <a:latin typeface="Calibri" pitchFamily="34" charset="0"/>
                <a:ea typeface="Calibri" pitchFamily="34" charset="-122"/>
                <a:cs typeface="Calibri" pitchFamily="34" charset="-120"/>
              </a:rPr>
              <a:t>12× more</a:t>
            </a:r>
            <a:endParaRPr lang="en-US" sz="2100" dirty="0"/>
          </a:p>
        </p:txBody>
      </p:sp>
      <p:sp>
        <p:nvSpPr>
          <p:cNvPr id="13" name="Shape 8"/>
          <p:cNvSpPr/>
          <p:nvPr/>
        </p:nvSpPr>
        <p:spPr>
          <a:xfrm>
            <a:off x="548640" y="3904488"/>
            <a:ext cx="475488" cy="475488"/>
          </a:xfrm>
          <a:prstGeom prst="ellipse">
            <a:avLst/>
          </a:prstGeom>
          <a:solidFill>
            <a:srgbClr val="137C94"/>
          </a:solidFill>
          <a:ln w="12700">
            <a:solidFill>
              <a:srgbClr val="137C94"/>
            </a:solidFill>
            <a:prstDash val="solid"/>
          </a:ln>
        </p:spPr>
      </p:sp>
      <p:pic>
        <p:nvPicPr>
          <p:cNvPr id="14" name="Image 3" descr="preencoded.png">    </p:cNvPr>
          <p:cNvPicPr>
            <a:picLocks noChangeAspect="1"/>
          </p:cNvPicPr>
          <p:nvPr/>
        </p:nvPicPr>
        <p:blipFill>
          <a:blip r:embed="rId4"/>
          <a:stretch>
            <a:fillRect/>
          </a:stretch>
        </p:blipFill>
        <p:spPr>
          <a:xfrm>
            <a:off x="658368" y="4014216"/>
            <a:ext cx="256032" cy="256032"/>
          </a:xfrm>
          <a:prstGeom prst="rect">
            <a:avLst/>
          </a:prstGeom>
        </p:spPr>
      </p:pic>
      <p:sp>
        <p:nvSpPr>
          <p:cNvPr id="15" name="body"/>
          <p:cNvSpPr txBox="1"/>
          <p:nvPr/>
        </p:nvSpPr>
        <p:spPr>
          <a:xfrm>
            <a:off x="1207008" y="3849624"/>
            <a:ext cx="5394960" cy="585216"/>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Google’s water use: </a:t>
            </a:r>
            <a:pPr indent="0" marL="0">
              <a:buNone/>
            </a:pPr>
            <a:r>
              <a:rPr lang="en-US" sz="2100" b="1" dirty="0">
                <a:solidFill>
                  <a:srgbClr val="F2A33A"/>
                </a:solidFill>
                <a:latin typeface="Calibri" pitchFamily="34" charset="0"/>
                <a:ea typeface="Calibri" pitchFamily="34" charset="-122"/>
                <a:cs typeface="Calibri" pitchFamily="34" charset="-120"/>
              </a:rPr>
              <a:t>up 70%</a:t>
            </a:r>
            <a:pPr indent="0" marL="0">
              <a:buNone/>
            </a:pPr>
            <a:r>
              <a:rPr lang="en-US" sz="2100" dirty="0">
                <a:solidFill>
                  <a:srgbClr val="FFFFFF"/>
                </a:solidFill>
                <a:latin typeface="Calibri" pitchFamily="34" charset="0"/>
                <a:ea typeface="Calibri" pitchFamily="34" charset="-122"/>
                <a:cs typeface="Calibri" pitchFamily="34" charset="-120"/>
              </a:rPr>
              <a:t> in two years</a:t>
            </a:r>
            <a:endParaRPr lang="en-US" sz="2100" dirty="0"/>
          </a:p>
        </p:txBody>
      </p:sp>
      <p:sp>
        <p:nvSpPr>
          <p:cNvPr id="16" name="Shape 10"/>
          <p:cNvSpPr/>
          <p:nvPr/>
        </p:nvSpPr>
        <p:spPr>
          <a:xfrm>
            <a:off x="548640" y="4581144"/>
            <a:ext cx="475488" cy="475488"/>
          </a:xfrm>
          <a:prstGeom prst="ellipse">
            <a:avLst/>
          </a:prstGeom>
          <a:solidFill>
            <a:srgbClr val="137C94"/>
          </a:solidFill>
          <a:ln w="12700">
            <a:solidFill>
              <a:srgbClr val="137C94"/>
            </a:solidFill>
            <a:prstDash val="solid"/>
          </a:ln>
        </p:spPr>
      </p:sp>
      <p:pic>
        <p:nvPicPr>
          <p:cNvPr id="17" name="Image 4" descr="preencoded.png">    </p:cNvPr>
          <p:cNvPicPr>
            <a:picLocks noChangeAspect="1"/>
          </p:cNvPicPr>
          <p:nvPr/>
        </p:nvPicPr>
        <p:blipFill>
          <a:blip r:embed="rId5"/>
          <a:stretch>
            <a:fillRect/>
          </a:stretch>
        </p:blipFill>
        <p:spPr>
          <a:xfrm>
            <a:off x="658368" y="4690872"/>
            <a:ext cx="256032" cy="256032"/>
          </a:xfrm>
          <a:prstGeom prst="rect">
            <a:avLst/>
          </a:prstGeom>
        </p:spPr>
      </p:pic>
      <p:sp>
        <p:nvSpPr>
          <p:cNvPr id="18" name="body"/>
          <p:cNvSpPr txBox="1"/>
          <p:nvPr/>
        </p:nvSpPr>
        <p:spPr>
          <a:xfrm>
            <a:off x="1207008" y="4526280"/>
            <a:ext cx="5394960" cy="585216"/>
          </a:xfrm>
          <a:prstGeom prst="rect">
            <a:avLst/>
          </a:prstGeom>
          <a:noFill/>
          <a:ln/>
        </p:spPr>
        <p:txBody>
          <a:bodyPr wrap="square" lIns="0" tIns="0" rIns="0" bIns="0" rtlCol="0" anchor="ctr"/>
          <a:lstStyle/>
          <a:p>
            <a:pPr indent="0" marL="0">
              <a:buNone/>
            </a:pPr>
            <a:r>
              <a:rPr lang="en-US" sz="2100" b="1" dirty="0">
                <a:solidFill>
                  <a:srgbClr val="F2A33A"/>
                </a:solidFill>
                <a:latin typeface="Calibri" pitchFamily="34" charset="0"/>
                <a:ea typeface="Calibri" pitchFamily="34" charset="-122"/>
                <a:cs typeface="Calibri" pitchFamily="34" charset="-120"/>
              </a:rPr>
              <a:t>Uruguay 2023: </a:t>
            </a:r>
            <a:pPr indent="0" marL="0">
              <a:buNone/>
            </a:pPr>
            <a:r>
              <a:rPr lang="en-US" sz="2100" dirty="0">
                <a:solidFill>
                  <a:srgbClr val="FFFFFF"/>
                </a:solidFill>
                <a:latin typeface="Calibri" pitchFamily="34" charset="0"/>
                <a:ea typeface="Calibri" pitchFamily="34" charset="-122"/>
                <a:cs typeface="Calibri" pitchFamily="34" charset="-120"/>
              </a:rPr>
              <a:t>drought, salty tap water, protests</a:t>
            </a:r>
            <a:endParaRPr lang="en-US" sz="2100" dirty="0"/>
          </a:p>
        </p:txBody>
      </p:sp>
      <p:sp>
        <p:nvSpPr>
          <p:cNvPr id="19" name="Shape 12"/>
          <p:cNvSpPr/>
          <p:nvPr/>
        </p:nvSpPr>
        <p:spPr>
          <a:xfrm>
            <a:off x="548640" y="5257800"/>
            <a:ext cx="475488" cy="475488"/>
          </a:xfrm>
          <a:prstGeom prst="ellipse">
            <a:avLst/>
          </a:prstGeom>
          <a:solidFill>
            <a:srgbClr val="137C94"/>
          </a:solidFill>
          <a:ln w="12700">
            <a:solidFill>
              <a:srgbClr val="137C94"/>
            </a:solidFill>
            <a:prstDash val="solid"/>
          </a:ln>
        </p:spPr>
      </p:sp>
      <p:pic>
        <p:nvPicPr>
          <p:cNvPr id="20" name="Image 5" descr="preencoded.png">    </p:cNvPr>
          <p:cNvPicPr>
            <a:picLocks noChangeAspect="1"/>
          </p:cNvPicPr>
          <p:nvPr/>
        </p:nvPicPr>
        <p:blipFill>
          <a:blip r:embed="rId6"/>
          <a:stretch>
            <a:fillRect/>
          </a:stretch>
        </p:blipFill>
        <p:spPr>
          <a:xfrm>
            <a:off x="658368" y="5367528"/>
            <a:ext cx="256032" cy="256032"/>
          </a:xfrm>
          <a:prstGeom prst="rect">
            <a:avLst/>
          </a:prstGeom>
        </p:spPr>
      </p:pic>
      <p:sp>
        <p:nvSpPr>
          <p:cNvPr id="21" name="body"/>
          <p:cNvSpPr txBox="1"/>
          <p:nvPr/>
        </p:nvSpPr>
        <p:spPr>
          <a:xfrm>
            <a:off x="1207008" y="5202936"/>
            <a:ext cx="5394960" cy="585216"/>
          </a:xfrm>
          <a:prstGeom prst="rect">
            <a:avLst/>
          </a:prstGeom>
          <a:noFill/>
          <a:ln/>
        </p:spPr>
        <p:txBody>
          <a:bodyPr wrap="square" lIns="0" tIns="0" rIns="0" bIns="0" rtlCol="0" anchor="ctr"/>
          <a:lstStyle/>
          <a:p>
            <a:pPr indent="0" marL="0">
              <a:buNone/>
            </a:pPr>
            <a:r>
              <a:rPr lang="en-US" sz="2100" dirty="0">
                <a:solidFill>
                  <a:srgbClr val="FFFFFF"/>
                </a:solidFill>
                <a:latin typeface="Calibri" pitchFamily="34" charset="0"/>
                <a:ea typeface="Calibri" pitchFamily="34" charset="-122"/>
                <a:cs typeface="Calibri" pitchFamily="34" charset="-120"/>
              </a:rPr>
              <a:t>Result: Google switched its plan to air cooling</a:t>
            </a:r>
            <a:endParaRPr lang="en-US" sz="2100" dirty="0"/>
          </a:p>
        </p:txBody>
      </p:sp>
      <p:sp>
        <p:nvSpPr>
          <p:cNvPr id="22" name="Shape 14"/>
          <p:cNvSpPr/>
          <p:nvPr/>
        </p:nvSpPr>
        <p:spPr>
          <a:xfrm>
            <a:off x="6949440" y="1828800"/>
            <a:ext cx="4690872" cy="4160520"/>
          </a:xfrm>
          <a:prstGeom prst="roundRect">
            <a:avLst>
              <a:gd name="adj" fmla="val 3956"/>
            </a:avLst>
          </a:prstGeom>
          <a:solidFill>
            <a:srgbClr val="FFFFFF"/>
          </a:solidFill>
          <a:ln w="12700">
            <a:solidFill>
              <a:srgbClr val="FFFFFF"/>
            </a:solidFill>
            <a:prstDash val="solid"/>
          </a:ln>
        </p:spPr>
      </p:sp>
      <p:graphicFrame>
        <p:nvGraphicFramePr>
          <p:cNvPr id="23" name="Chart 0" descr=""/>
          <p:cNvGraphicFramePr/>
          <p:nvPr/>
        </p:nvGraphicFramePr>
        <p:xfrm>
          <a:off x="7132320" y="1920240"/>
          <a:ext cx="4325112" cy="3520440"/>
        </p:xfrm>
        <a:graphic xmlns:a="http://schemas.openxmlformats.org/drawingml/2006/main">
          <a:graphicData uri="http://schemas.openxmlformats.org/drawingml/2006/chart">
            <c:chart xmlns:c="http://schemas.openxmlformats.org/drawingml/2006/chart" r:id="rId7"/>
          </a:graphicData>
        </a:graphic>
      </p:graphicFrame>
      <p:sp>
        <p:nvSpPr>
          <p:cNvPr id="24" name="caption-chart"/>
          <p:cNvSpPr txBox="1"/>
          <p:nvPr/>
        </p:nvSpPr>
        <p:spPr>
          <a:xfrm>
            <a:off x="7132320" y="5468112"/>
            <a:ext cx="4325112" cy="365760"/>
          </a:xfrm>
          <a:prstGeom prst="rect">
            <a:avLst/>
          </a:prstGeom>
          <a:noFill/>
          <a:ln/>
        </p:spPr>
        <p:txBody>
          <a:bodyPr wrap="square" lIns="0" tIns="0" rIns="0" bIns="0" rtlCol="0" anchor="ctr"/>
          <a:lstStyle/>
          <a:p>
            <a:pPr algn="ctr" indent="0" marL="0">
              <a:buNone/>
            </a:pPr>
            <a:r>
              <a:rPr lang="en-US" sz="1200" dirty="0">
                <a:solidFill>
                  <a:srgbClr val="4A5A68"/>
                </a:solidFill>
                <a:latin typeface="Calibri" pitchFamily="34" charset="0"/>
                <a:ea typeface="Calibri" pitchFamily="34" charset="-122"/>
                <a:cs typeface="Calibri" pitchFamily="34" charset="-120"/>
              </a:rPr>
              <a:t>Company-reported, all Google operations</a:t>
            </a:r>
            <a:endParaRPr lang="en-US" sz="1200" dirty="0"/>
          </a:p>
        </p:txBody>
      </p:sp>
      <p:sp>
        <p:nvSpPr>
          <p:cNvPr id="25" name="caption-sources"/>
          <p:cNvSpPr txBox="1"/>
          <p:nvPr/>
        </p:nvSpPr>
        <p:spPr>
          <a:xfrm>
            <a:off x="548640" y="6291072"/>
            <a:ext cx="11064240" cy="365760"/>
          </a:xfrm>
          <a:prstGeom prst="rect">
            <a:avLst/>
          </a:prstGeom>
          <a:noFill/>
          <a:ln/>
        </p:spPr>
        <p:txBody>
          <a:bodyPr wrap="square" lIns="0" tIns="0" rIns="0" bIns="0" rtlCol="0" anchor="ctr"/>
          <a:lstStyle/>
          <a:p>
            <a:pPr indent="0" marL="0">
              <a:buNone/>
            </a:pPr>
            <a:r>
              <a:rPr lang="en-US" sz="1100" dirty="0">
                <a:solidFill>
                  <a:srgbClr val="B8C7D3"/>
                </a:solidFill>
                <a:latin typeface="Calibri" pitchFamily="34" charset="0"/>
                <a:ea typeface="Calibri" pitchFamily="34" charset="-122"/>
                <a:cs typeface="Calibri" pitchFamily="34" charset="-120"/>
              </a:rPr>
              <a:t>Sources: LBNL, 2024 US Data Center Energy Usage Report · Google Environmental Reports 2024–2026 · The Guardian (Jul 2023), Mongabay (Nov 2023), DCD on Uruguay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0B2239"/>
                </a:solidFill>
                <a:latin typeface="Cambria" pitchFamily="34" charset="0"/>
                <a:ea typeface="Cambria" pitchFamily="34" charset="-122"/>
                <a:cs typeface="Cambria" pitchFamily="34" charset="-120"/>
              </a:rPr>
              <a:t>Israel &amp; Lev HaSharon: The Power Problem</a:t>
            </a:r>
            <a:endParaRPr lang="en-US" sz="3600" dirty="0"/>
          </a:p>
        </p:txBody>
      </p:sp>
      <p:sp>
        <p:nvSpPr>
          <p:cNvPr id="3" name="Shape 1"/>
          <p:cNvSpPr/>
          <p:nvPr/>
        </p:nvSpPr>
        <p:spPr>
          <a:xfrm>
            <a:off x="548640" y="1463040"/>
            <a:ext cx="475488" cy="475488"/>
          </a:xfrm>
          <a:prstGeom prst="ellipse">
            <a:avLst/>
          </a:prstGeom>
          <a:solidFill>
            <a:srgbClr val="137C94"/>
          </a:solidFill>
          <a:ln w="12700">
            <a:solidFill>
              <a:srgbClr val="137C94"/>
            </a:solidFill>
            <a:prstDash val="solid"/>
          </a:ln>
        </p:spPr>
      </p:sp>
      <p:pic>
        <p:nvPicPr>
          <p:cNvPr id="4" name="Image 0" descr="preencoded.png">    </p:cNvPr>
          <p:cNvPicPr>
            <a:picLocks noChangeAspect="1"/>
          </p:cNvPicPr>
          <p:nvPr/>
        </p:nvPicPr>
        <p:blipFill>
          <a:blip r:embed="rId1"/>
          <a:stretch>
            <a:fillRect/>
          </a:stretch>
        </p:blipFill>
        <p:spPr>
          <a:xfrm>
            <a:off x="658368" y="1572768"/>
            <a:ext cx="256032" cy="256032"/>
          </a:xfrm>
          <a:prstGeom prst="rect">
            <a:avLst/>
          </a:prstGeom>
        </p:spPr>
      </p:pic>
      <p:sp>
        <p:nvSpPr>
          <p:cNvPr id="5" name="body"/>
          <p:cNvSpPr txBox="1"/>
          <p:nvPr/>
        </p:nvSpPr>
        <p:spPr>
          <a:xfrm>
            <a:off x="1207008" y="1408176"/>
            <a:ext cx="5669280" cy="585216"/>
          </a:xfrm>
          <a:prstGeom prst="rect">
            <a:avLst/>
          </a:prstGeom>
          <a:noFill/>
          <a:ln/>
        </p:spPr>
        <p:txBody>
          <a:bodyPr wrap="square" lIns="0" tIns="0" rIns="0" bIns="0" rtlCol="0" anchor="ctr"/>
          <a:lstStyle/>
          <a:p>
            <a:pPr indent="0" marL="0">
              <a:buNone/>
            </a:pPr>
            <a:r>
              <a:rPr lang="en-US" sz="2200" dirty="0">
                <a:solidFill>
                  <a:srgbClr val="0B2239"/>
                </a:solidFill>
                <a:latin typeface="Calibri" pitchFamily="34" charset="0"/>
                <a:ea typeface="Calibri" pitchFamily="34" charset="-122"/>
                <a:cs typeface="Calibri" pitchFamily="34" charset="-120"/>
              </a:rPr>
              <a:t>Most of our tap water is </a:t>
            </a:r>
            <a:pPr indent="0" marL="0">
              <a:buNone/>
            </a:pPr>
            <a:r>
              <a:rPr lang="en-US" sz="2200" b="1" dirty="0">
                <a:solidFill>
                  <a:srgbClr val="137C94"/>
                </a:solidFill>
                <a:latin typeface="Calibri" pitchFamily="34" charset="0"/>
                <a:ea typeface="Calibri" pitchFamily="34" charset="-122"/>
                <a:cs typeface="Calibri" pitchFamily="34" charset="-120"/>
              </a:rPr>
              <a:t>desalinated</a:t>
            </a:r>
            <a:endParaRPr lang="en-US" sz="2200" dirty="0"/>
          </a:p>
        </p:txBody>
      </p:sp>
      <p:sp>
        <p:nvSpPr>
          <p:cNvPr id="6" name="Shape 3"/>
          <p:cNvSpPr/>
          <p:nvPr/>
        </p:nvSpPr>
        <p:spPr>
          <a:xfrm>
            <a:off x="548640" y="2194560"/>
            <a:ext cx="475488" cy="475488"/>
          </a:xfrm>
          <a:prstGeom prst="ellipse">
            <a:avLst/>
          </a:prstGeom>
          <a:solidFill>
            <a:srgbClr val="F2A33A"/>
          </a:solidFill>
          <a:ln w="12700">
            <a:solidFill>
              <a:srgbClr val="F2A33A"/>
            </a:solidFill>
            <a:prstDash val="solid"/>
          </a:ln>
        </p:spPr>
      </p:sp>
      <p:pic>
        <p:nvPicPr>
          <p:cNvPr id="7" name="Image 1" descr="preencoded.png">    </p:cNvPr>
          <p:cNvPicPr>
            <a:picLocks noChangeAspect="1"/>
          </p:cNvPicPr>
          <p:nvPr/>
        </p:nvPicPr>
        <p:blipFill>
          <a:blip r:embed="rId2"/>
          <a:stretch>
            <a:fillRect/>
          </a:stretch>
        </p:blipFill>
        <p:spPr>
          <a:xfrm>
            <a:off x="658368" y="2304288"/>
            <a:ext cx="256032" cy="256032"/>
          </a:xfrm>
          <a:prstGeom prst="rect">
            <a:avLst/>
          </a:prstGeom>
        </p:spPr>
      </p:pic>
      <p:sp>
        <p:nvSpPr>
          <p:cNvPr id="8" name="body"/>
          <p:cNvSpPr txBox="1"/>
          <p:nvPr/>
        </p:nvSpPr>
        <p:spPr>
          <a:xfrm>
            <a:off x="1207008" y="2139696"/>
            <a:ext cx="5669280" cy="585216"/>
          </a:xfrm>
          <a:prstGeom prst="rect">
            <a:avLst/>
          </a:prstGeom>
          <a:noFill/>
          <a:ln/>
        </p:spPr>
        <p:txBody>
          <a:bodyPr wrap="square" lIns="0" tIns="0" rIns="0" bIns="0" rtlCol="0" anchor="ctr"/>
          <a:lstStyle/>
          <a:p>
            <a:pPr indent="0" marL="0">
              <a:buNone/>
            </a:pPr>
            <a:r>
              <a:rPr lang="en-US" sz="2200" dirty="0">
                <a:solidFill>
                  <a:srgbClr val="0B2239"/>
                </a:solidFill>
                <a:latin typeface="Calibri" pitchFamily="34" charset="0"/>
                <a:ea typeface="Calibri" pitchFamily="34" charset="-122"/>
                <a:cs typeface="Calibri" pitchFamily="34" charset="-120"/>
              </a:rPr>
              <a:t>Desalination needs </a:t>
            </a:r>
            <a:pPr indent="0" marL="0">
              <a:buNone/>
            </a:pPr>
            <a:r>
              <a:rPr lang="en-US" sz="2200" b="1" dirty="0">
                <a:solidFill>
                  <a:srgbClr val="0B2239"/>
                </a:solidFill>
                <a:latin typeface="Calibri" pitchFamily="34" charset="0"/>
                <a:ea typeface="Calibri" pitchFamily="34" charset="-122"/>
                <a:cs typeface="Calibri" pitchFamily="34" charset="-120"/>
              </a:rPr>
              <a:t>a lot of electricity</a:t>
            </a:r>
            <a:endParaRPr lang="en-US" sz="2200" dirty="0"/>
          </a:p>
        </p:txBody>
      </p:sp>
      <p:sp>
        <p:nvSpPr>
          <p:cNvPr id="9" name="Shape 5"/>
          <p:cNvSpPr/>
          <p:nvPr/>
        </p:nvSpPr>
        <p:spPr>
          <a:xfrm>
            <a:off x="548640" y="2926080"/>
            <a:ext cx="475488" cy="475488"/>
          </a:xfrm>
          <a:prstGeom prst="ellipse">
            <a:avLst/>
          </a:prstGeom>
          <a:solidFill>
            <a:srgbClr val="F2A33A"/>
          </a:solidFill>
          <a:ln w="12700">
            <a:solidFill>
              <a:srgbClr val="F2A33A"/>
            </a:solidFill>
            <a:prstDash val="solid"/>
          </a:ln>
        </p:spPr>
      </p:sp>
      <p:pic>
        <p:nvPicPr>
          <p:cNvPr id="10" name="Image 2" descr="preencoded.png">    </p:cNvPr>
          <p:cNvPicPr>
            <a:picLocks noChangeAspect="1"/>
          </p:cNvPicPr>
          <p:nvPr/>
        </p:nvPicPr>
        <p:blipFill>
          <a:blip r:embed="rId3"/>
          <a:stretch>
            <a:fillRect/>
          </a:stretch>
        </p:blipFill>
        <p:spPr>
          <a:xfrm>
            <a:off x="658368" y="3035808"/>
            <a:ext cx="256032" cy="256032"/>
          </a:xfrm>
          <a:prstGeom prst="rect">
            <a:avLst/>
          </a:prstGeom>
        </p:spPr>
      </p:pic>
      <p:sp>
        <p:nvSpPr>
          <p:cNvPr id="11" name="body"/>
          <p:cNvSpPr txBox="1"/>
          <p:nvPr/>
        </p:nvSpPr>
        <p:spPr>
          <a:xfrm>
            <a:off x="1207008" y="2871216"/>
            <a:ext cx="5669280" cy="585216"/>
          </a:xfrm>
          <a:prstGeom prst="rect">
            <a:avLst/>
          </a:prstGeom>
          <a:noFill/>
          <a:ln/>
        </p:spPr>
        <p:txBody>
          <a:bodyPr wrap="square" lIns="0" tIns="0" rIns="0" bIns="0" rtlCol="0" anchor="ctr"/>
          <a:lstStyle/>
          <a:p>
            <a:pPr indent="0" marL="0">
              <a:buNone/>
            </a:pPr>
            <a:r>
              <a:rPr lang="en-US" sz="2200" dirty="0">
                <a:solidFill>
                  <a:srgbClr val="0B2239"/>
                </a:solidFill>
                <a:latin typeface="Calibri" pitchFamily="34" charset="0"/>
                <a:ea typeface="Calibri" pitchFamily="34" charset="-122"/>
                <a:cs typeface="Calibri" pitchFamily="34" charset="-120"/>
              </a:rPr>
              <a:t>Data centers requested </a:t>
            </a:r>
            <a:pPr indent="0" marL="0">
              <a:buNone/>
            </a:pPr>
            <a:r>
              <a:rPr lang="en-US" sz="2200" b="1" dirty="0">
                <a:solidFill>
                  <a:srgbClr val="0B2239"/>
                </a:solidFill>
                <a:latin typeface="Calibri" pitchFamily="34" charset="0"/>
                <a:ea typeface="Calibri" pitchFamily="34" charset="-122"/>
                <a:cs typeface="Calibri" pitchFamily="34" charset="-120"/>
              </a:rPr>
              <a:t>27,000 MW</a:t>
            </a:r>
            <a:pPr indent="0" marL="0">
              <a:buNone/>
            </a:pPr>
            <a:r>
              <a:rPr lang="en-US" sz="2200" dirty="0">
                <a:solidFill>
                  <a:srgbClr val="0B2239"/>
                </a:solidFill>
                <a:latin typeface="Calibri" pitchFamily="34" charset="0"/>
                <a:ea typeface="Calibri" pitchFamily="34" charset="-122"/>
                <a:cs typeface="Calibri" pitchFamily="34" charset="-120"/>
              </a:rPr>
              <a:t> (≈3× average)</a:t>
            </a:r>
            <a:endParaRPr lang="en-US" sz="2200" dirty="0"/>
          </a:p>
        </p:txBody>
      </p:sp>
      <p:sp>
        <p:nvSpPr>
          <p:cNvPr id="12" name="Shape 7"/>
          <p:cNvSpPr/>
          <p:nvPr/>
        </p:nvSpPr>
        <p:spPr>
          <a:xfrm>
            <a:off x="548640" y="3657600"/>
            <a:ext cx="475488" cy="475488"/>
          </a:xfrm>
          <a:prstGeom prst="ellipse">
            <a:avLst/>
          </a:prstGeom>
          <a:solidFill>
            <a:srgbClr val="137C94"/>
          </a:solidFill>
          <a:ln w="12700">
            <a:solidFill>
              <a:srgbClr val="137C94"/>
            </a:solidFill>
            <a:prstDash val="solid"/>
          </a:ln>
        </p:spPr>
      </p:sp>
      <p:pic>
        <p:nvPicPr>
          <p:cNvPr id="13" name="Image 3" descr="preencoded.png">    </p:cNvPr>
          <p:cNvPicPr>
            <a:picLocks noChangeAspect="1"/>
          </p:cNvPicPr>
          <p:nvPr/>
        </p:nvPicPr>
        <p:blipFill>
          <a:blip r:embed="rId4"/>
          <a:stretch>
            <a:fillRect/>
          </a:stretch>
        </p:blipFill>
        <p:spPr>
          <a:xfrm>
            <a:off x="658368" y="3767328"/>
            <a:ext cx="256032" cy="256032"/>
          </a:xfrm>
          <a:prstGeom prst="rect">
            <a:avLst/>
          </a:prstGeom>
        </p:spPr>
      </p:pic>
      <p:sp>
        <p:nvSpPr>
          <p:cNvPr id="14" name="body"/>
          <p:cNvSpPr txBox="1"/>
          <p:nvPr/>
        </p:nvSpPr>
        <p:spPr>
          <a:xfrm>
            <a:off x="1207008" y="3602736"/>
            <a:ext cx="5669280" cy="585216"/>
          </a:xfrm>
          <a:prstGeom prst="rect">
            <a:avLst/>
          </a:prstGeom>
          <a:noFill/>
          <a:ln/>
        </p:spPr>
        <p:txBody>
          <a:bodyPr wrap="square" lIns="0" tIns="0" rIns="0" bIns="0" rtlCol="0" anchor="ctr"/>
          <a:lstStyle/>
          <a:p>
            <a:pPr indent="0" marL="0">
              <a:buNone/>
            </a:pPr>
            <a:r>
              <a:rPr lang="en-US" sz="2200" b="1" dirty="0">
                <a:solidFill>
                  <a:srgbClr val="137C94"/>
                </a:solidFill>
                <a:latin typeface="Calibri" pitchFamily="34" charset="0"/>
                <a:ea typeface="Calibri" pitchFamily="34" charset="-122"/>
                <a:cs typeface="Calibri" pitchFamily="34" charset="-120"/>
              </a:rPr>
              <a:t>July 2026: </a:t>
            </a:r>
            <a:pPr indent="0" marL="0">
              <a:buNone/>
            </a:pPr>
            <a:r>
              <a:rPr lang="en-US" sz="2200" dirty="0">
                <a:solidFill>
                  <a:srgbClr val="0B2239"/>
                </a:solidFill>
                <a:latin typeface="Calibri" pitchFamily="34" charset="0"/>
                <a:ea typeface="Calibri" pitchFamily="34" charset="-122"/>
                <a:cs typeface="Calibri" pitchFamily="34" charset="-120"/>
              </a:rPr>
              <a:t>regulator froze new connections</a:t>
            </a:r>
            <a:endParaRPr lang="en-US" sz="2200" dirty="0"/>
          </a:p>
        </p:txBody>
      </p:sp>
      <p:sp>
        <p:nvSpPr>
          <p:cNvPr id="15" name="Shape 9"/>
          <p:cNvSpPr/>
          <p:nvPr/>
        </p:nvSpPr>
        <p:spPr>
          <a:xfrm>
            <a:off x="548640" y="4389120"/>
            <a:ext cx="475488" cy="475488"/>
          </a:xfrm>
          <a:prstGeom prst="ellipse">
            <a:avLst/>
          </a:prstGeom>
          <a:solidFill>
            <a:srgbClr val="137C94"/>
          </a:solidFill>
          <a:ln w="12700">
            <a:solidFill>
              <a:srgbClr val="137C94"/>
            </a:solidFill>
            <a:prstDash val="solid"/>
          </a:ln>
        </p:spPr>
      </p:sp>
      <p:pic>
        <p:nvPicPr>
          <p:cNvPr id="16" name="Image 4" descr="preencoded.png">    </p:cNvPr>
          <p:cNvPicPr>
            <a:picLocks noChangeAspect="1"/>
          </p:cNvPicPr>
          <p:nvPr/>
        </p:nvPicPr>
        <p:blipFill>
          <a:blip r:embed="rId5"/>
          <a:stretch>
            <a:fillRect/>
          </a:stretch>
        </p:blipFill>
        <p:spPr>
          <a:xfrm>
            <a:off x="658368" y="4498848"/>
            <a:ext cx="256032" cy="256032"/>
          </a:xfrm>
          <a:prstGeom prst="rect">
            <a:avLst/>
          </a:prstGeom>
        </p:spPr>
      </p:pic>
      <p:sp>
        <p:nvSpPr>
          <p:cNvPr id="17" name="body"/>
          <p:cNvSpPr txBox="1"/>
          <p:nvPr/>
        </p:nvSpPr>
        <p:spPr>
          <a:xfrm>
            <a:off x="1207008" y="4334256"/>
            <a:ext cx="5669280" cy="585216"/>
          </a:xfrm>
          <a:prstGeom prst="rect">
            <a:avLst/>
          </a:prstGeom>
          <a:noFill/>
          <a:ln/>
        </p:spPr>
        <p:txBody>
          <a:bodyPr wrap="square" lIns="0" tIns="0" rIns="0" bIns="0" rtlCol="0" anchor="ctr"/>
          <a:lstStyle/>
          <a:p>
            <a:pPr indent="0" marL="0">
              <a:buNone/>
            </a:pPr>
            <a:r>
              <a:rPr lang="en-US" sz="2200" b="1" dirty="0">
                <a:solidFill>
                  <a:srgbClr val="137C94"/>
                </a:solidFill>
                <a:latin typeface="Calibri" pitchFamily="34" charset="0"/>
                <a:ea typeface="Calibri" pitchFamily="34" charset="-122"/>
                <a:cs typeface="Calibri" pitchFamily="34" charset="-120"/>
              </a:rPr>
              <a:t>Near us: </a:t>
            </a:r>
            <a:pPr indent="0" marL="0">
              <a:buNone/>
            </a:pPr>
            <a:r>
              <a:rPr lang="en-US" sz="2200" dirty="0">
                <a:solidFill>
                  <a:srgbClr val="0B2239"/>
                </a:solidFill>
                <a:latin typeface="Calibri" pitchFamily="34" charset="0"/>
                <a:ea typeface="Calibri" pitchFamily="34" charset="-122"/>
                <a:cs typeface="Calibri" pitchFamily="34" charset="-120"/>
              </a:rPr>
              <a:t>Kfar Yona, Netanya, Hadera projects</a:t>
            </a:r>
            <a:endParaRPr lang="en-US" sz="2200" dirty="0"/>
          </a:p>
        </p:txBody>
      </p:sp>
      <p:sp>
        <p:nvSpPr>
          <p:cNvPr id="18" name="Shape 11"/>
          <p:cNvSpPr/>
          <p:nvPr/>
        </p:nvSpPr>
        <p:spPr>
          <a:xfrm>
            <a:off x="548640" y="5120640"/>
            <a:ext cx="475488" cy="475488"/>
          </a:xfrm>
          <a:prstGeom prst="ellipse">
            <a:avLst/>
          </a:prstGeom>
          <a:solidFill>
            <a:srgbClr val="137C94"/>
          </a:solidFill>
          <a:ln w="12700">
            <a:solidFill>
              <a:srgbClr val="137C94"/>
            </a:solidFill>
            <a:prstDash val="solid"/>
          </a:ln>
        </p:spPr>
      </p:sp>
      <p:pic>
        <p:nvPicPr>
          <p:cNvPr id="19" name="Image 5" descr="preencoded.png">    </p:cNvPr>
          <p:cNvPicPr>
            <a:picLocks noChangeAspect="1"/>
          </p:cNvPicPr>
          <p:nvPr/>
        </p:nvPicPr>
        <p:blipFill>
          <a:blip r:embed="rId6"/>
          <a:stretch>
            <a:fillRect/>
          </a:stretch>
        </p:blipFill>
        <p:spPr>
          <a:xfrm>
            <a:off x="658368" y="5230368"/>
            <a:ext cx="256032" cy="256032"/>
          </a:xfrm>
          <a:prstGeom prst="rect">
            <a:avLst/>
          </a:prstGeom>
        </p:spPr>
      </p:pic>
      <p:sp>
        <p:nvSpPr>
          <p:cNvPr id="20" name="body"/>
          <p:cNvSpPr txBox="1"/>
          <p:nvPr/>
        </p:nvSpPr>
        <p:spPr>
          <a:xfrm>
            <a:off x="1207008" y="5065776"/>
            <a:ext cx="5669280" cy="585216"/>
          </a:xfrm>
          <a:prstGeom prst="rect">
            <a:avLst/>
          </a:prstGeom>
          <a:noFill/>
          <a:ln/>
        </p:spPr>
        <p:txBody>
          <a:bodyPr wrap="square" lIns="0" tIns="0" rIns="0" bIns="0" rtlCol="0" anchor="ctr"/>
          <a:lstStyle/>
          <a:p>
            <a:pPr indent="0" marL="0">
              <a:buNone/>
            </a:pPr>
            <a:r>
              <a:rPr lang="en-US" sz="2200" b="1" dirty="0">
                <a:solidFill>
                  <a:srgbClr val="137C94"/>
                </a:solidFill>
                <a:latin typeface="Calibri" pitchFamily="34" charset="0"/>
                <a:ea typeface="Calibri" pitchFamily="34" charset="-122"/>
                <a:cs typeface="Calibri" pitchFamily="34" charset="-120"/>
              </a:rPr>
              <a:t>2026 water shortage: </a:t>
            </a:r>
            <a:pPr indent="0" marL="0">
              <a:buNone/>
            </a:pPr>
            <a:r>
              <a:rPr lang="en-US" sz="2200" dirty="0">
                <a:solidFill>
                  <a:srgbClr val="0B2239"/>
                </a:solidFill>
                <a:latin typeface="Calibri" pitchFamily="34" charset="0"/>
                <a:ea typeface="Calibri" pitchFamily="34" charset="-122"/>
                <a:cs typeface="Calibri" pitchFamily="34" charset="-120"/>
              </a:rPr>
              <a:t>farms were cut first</a:t>
            </a:r>
            <a:endParaRPr lang="en-US" sz="2200" dirty="0"/>
          </a:p>
        </p:txBody>
      </p:sp>
      <p:sp>
        <p:nvSpPr>
          <p:cNvPr id="21" name="Shape 13"/>
          <p:cNvSpPr/>
          <p:nvPr/>
        </p:nvSpPr>
        <p:spPr>
          <a:xfrm>
            <a:off x="7178040" y="1417320"/>
            <a:ext cx="4462272" cy="4526280"/>
          </a:xfrm>
          <a:prstGeom prst="roundRect">
            <a:avLst>
              <a:gd name="adj" fmla="val 3689"/>
            </a:avLst>
          </a:prstGeom>
          <a:solidFill>
            <a:srgbClr val="EAF4F7"/>
          </a:solidFill>
          <a:ln w="12700">
            <a:solidFill>
              <a:srgbClr val="EAF4F7"/>
            </a:solidFill>
            <a:prstDash val="solid"/>
          </a:ln>
        </p:spPr>
      </p:sp>
      <p:graphicFrame>
        <p:nvGraphicFramePr>
          <p:cNvPr id="22" name="Chart 0" descr=""/>
          <p:cNvGraphicFramePr/>
          <p:nvPr/>
        </p:nvGraphicFramePr>
        <p:xfrm>
          <a:off x="7315200" y="1554480"/>
          <a:ext cx="4187952" cy="3749040"/>
        </p:xfrm>
        <a:graphic xmlns:a="http://schemas.openxmlformats.org/drawingml/2006/main">
          <a:graphicData uri="http://schemas.openxmlformats.org/drawingml/2006/chart">
            <c:chart xmlns:c="http://schemas.openxmlformats.org/drawingml/2006/chart" r:id="rId7"/>
          </a:graphicData>
        </a:graphic>
      </p:graphicFrame>
      <p:sp>
        <p:nvSpPr>
          <p:cNvPr id="23" name="caption-chart"/>
          <p:cNvSpPr txBox="1"/>
          <p:nvPr/>
        </p:nvSpPr>
        <p:spPr>
          <a:xfrm>
            <a:off x="7315200" y="5303520"/>
            <a:ext cx="4187952" cy="548640"/>
          </a:xfrm>
          <a:prstGeom prst="rect">
            <a:avLst/>
          </a:prstGeom>
          <a:noFill/>
          <a:ln/>
        </p:spPr>
        <p:txBody>
          <a:bodyPr wrap="square" lIns="0" tIns="0" rIns="0" bIns="0" rtlCol="0" anchor="ctr"/>
          <a:lstStyle/>
          <a:p>
            <a:pPr algn="ctr" indent="0" marL="0">
              <a:buNone/>
            </a:pPr>
            <a:r>
              <a:rPr lang="en-US" sz="1200" dirty="0">
                <a:solidFill>
                  <a:srgbClr val="4A5A68"/>
                </a:solidFill>
                <a:latin typeface="Calibri" pitchFamily="34" charset="0"/>
                <a:ea typeface="Calibri" pitchFamily="34" charset="-122"/>
                <a:cs typeface="Calibri" pitchFamily="34" charset="-120"/>
              </a:rPr>
              <a:t>Committed demand already uses up the planned new power supply to 2035</a:t>
            </a:r>
            <a:endParaRPr lang="en-US" sz="1200" dirty="0"/>
          </a:p>
        </p:txBody>
      </p:sp>
      <p:sp>
        <p:nvSpPr>
          <p:cNvPr id="24" name="caption-sources"/>
          <p:cNvSpPr txBox="1"/>
          <p:nvPr/>
        </p:nvSpPr>
        <p:spPr>
          <a:xfrm>
            <a:off x="548640" y="6291072"/>
            <a:ext cx="11064240" cy="365760"/>
          </a:xfrm>
          <a:prstGeom prst="rect">
            <a:avLst/>
          </a:prstGeom>
          <a:noFill/>
          <a:ln/>
        </p:spPr>
        <p:txBody>
          <a:bodyPr wrap="square" lIns="0" tIns="0" rIns="0" bIns="0" rtlCol="0" anchor="ctr"/>
          <a:lstStyle/>
          <a:p>
            <a:pPr indent="0" marL="0">
              <a:buNone/>
            </a:pPr>
            <a:r>
              <a:rPr lang="en-US" sz="1100" dirty="0">
                <a:solidFill>
                  <a:srgbClr val="4A5A68"/>
                </a:solidFill>
                <a:latin typeface="Calibri" pitchFamily="34" charset="0"/>
                <a:ea typeface="Calibri" pitchFamily="34" charset="-122"/>
                <a:cs typeface="Calibri" pitchFamily="34" charset="-120"/>
              </a:rPr>
              <a:t>Sources: Electricity Authority &amp; Noga via DCD, JNS, Ctech (Jul 2026) · State Comptroller (2024) · DCD, Globes, Ctech (local projects) · Times of Israel, CNN (Sep 2026)</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0B2239"/>
                </a:solidFill>
                <a:latin typeface="Cambria" pitchFamily="34" charset="0"/>
                <a:ea typeface="Cambria" pitchFamily="34" charset="-122"/>
                <a:cs typeface="Cambria" pitchFamily="34" charset="-120"/>
              </a:rPr>
              <a:t>Who Is Pushing Back? NGOs &amp; Laws</a:t>
            </a:r>
            <a:endParaRPr lang="en-US" sz="3600" dirty="0"/>
          </a:p>
        </p:txBody>
      </p:sp>
      <p:sp>
        <p:nvSpPr>
          <p:cNvPr id="3" name="Shape 1"/>
          <p:cNvSpPr/>
          <p:nvPr/>
        </p:nvSpPr>
        <p:spPr>
          <a:xfrm>
            <a:off x="548640" y="1417320"/>
            <a:ext cx="7086600" cy="2103120"/>
          </a:xfrm>
          <a:prstGeom prst="roundRect">
            <a:avLst>
              <a:gd name="adj" fmla="val 6522"/>
            </a:avLst>
          </a:prstGeom>
          <a:solidFill>
            <a:srgbClr val="EAF4F7"/>
          </a:solidFill>
          <a:ln w="12700">
            <a:solidFill>
              <a:srgbClr val="EAF4F7"/>
            </a:solidFill>
            <a:prstDash val="solid"/>
          </a:ln>
        </p:spPr>
      </p:sp>
      <p:sp>
        <p:nvSpPr>
          <p:cNvPr id="4" name="Shape 2"/>
          <p:cNvSpPr/>
          <p:nvPr/>
        </p:nvSpPr>
        <p:spPr>
          <a:xfrm>
            <a:off x="777240" y="1645920"/>
            <a:ext cx="566928" cy="566928"/>
          </a:xfrm>
          <a:prstGeom prst="ellipse">
            <a:avLst/>
          </a:prstGeom>
          <a:solidFill>
            <a:srgbClr val="137C94"/>
          </a:solidFill>
          <a:ln w="12700">
            <a:solidFill>
              <a:srgbClr val="137C94"/>
            </a:solidFill>
            <a:prstDash val="solid"/>
          </a:ln>
        </p:spPr>
      </p:sp>
      <p:pic>
        <p:nvPicPr>
          <p:cNvPr id="5" name="Image 0" descr="preencoded.png">    </p:cNvPr>
          <p:cNvPicPr>
            <a:picLocks noChangeAspect="1"/>
          </p:cNvPicPr>
          <p:nvPr/>
        </p:nvPicPr>
        <p:blipFill>
          <a:blip r:embed="rId1"/>
          <a:stretch>
            <a:fillRect/>
          </a:stretch>
        </p:blipFill>
        <p:spPr>
          <a:xfrm>
            <a:off x="914400" y="1783080"/>
            <a:ext cx="292608" cy="292608"/>
          </a:xfrm>
          <a:prstGeom prst="rect">
            <a:avLst/>
          </a:prstGeom>
        </p:spPr>
      </p:pic>
      <p:sp>
        <p:nvSpPr>
          <p:cNvPr id="6" name="header"/>
          <p:cNvSpPr txBox="1"/>
          <p:nvPr/>
        </p:nvSpPr>
        <p:spPr>
          <a:xfrm>
            <a:off x="1554480" y="1572768"/>
            <a:ext cx="5852160" cy="731520"/>
          </a:xfrm>
          <a:prstGeom prst="rect">
            <a:avLst/>
          </a:prstGeom>
          <a:noFill/>
          <a:ln/>
        </p:spPr>
        <p:txBody>
          <a:bodyPr wrap="square" lIns="0" tIns="0" rIns="0" bIns="0" rtlCol="0" anchor="ctr"/>
          <a:lstStyle/>
          <a:p>
            <a:pPr indent="0" marL="0">
              <a:buNone/>
            </a:pPr>
            <a:r>
              <a:rPr lang="en-US" sz="2400" b="1" dirty="0">
                <a:solidFill>
                  <a:srgbClr val="0B2239"/>
                </a:solidFill>
                <a:latin typeface="Cambria" pitchFamily="34" charset="0"/>
                <a:ea typeface="Cambria" pitchFamily="34" charset="-122"/>
                <a:cs typeface="Cambria" pitchFamily="34" charset="-120"/>
              </a:rPr>
              <a:t>NGO: SPNI</a:t>
            </a:r>
            <a:endParaRPr lang="en-US" sz="2400" dirty="0"/>
          </a:p>
          <a:p>
            <a:pPr indent="0" marL="0">
              <a:buNone/>
            </a:pPr>
            <a:r>
              <a:rPr lang="en-US" sz="1400" dirty="0">
                <a:solidFill>
                  <a:srgbClr val="4A5A68"/>
                </a:solidFill>
                <a:latin typeface="Calibri" pitchFamily="34" charset="0"/>
                <a:ea typeface="Calibri" pitchFamily="34" charset="-122"/>
                <a:cs typeface="Calibri" pitchFamily="34" charset="-120"/>
              </a:rPr>
              <a:t>Society for the Protection of Nature in Israel</a:t>
            </a:r>
            <a:endParaRPr lang="en-US" sz="2400" dirty="0"/>
          </a:p>
        </p:txBody>
      </p:sp>
      <p:sp>
        <p:nvSpPr>
          <p:cNvPr id="7" name="body"/>
          <p:cNvSpPr txBox="1"/>
          <p:nvPr/>
        </p:nvSpPr>
        <p:spPr>
          <a:xfrm>
            <a:off x="868680" y="2423160"/>
            <a:ext cx="6583680" cy="96012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Advocacy against the AI server-farm fast-track bill</a:t>
            </a:r>
            <a:endParaRPr lang="en-US" sz="2000" dirty="0"/>
          </a:p>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The bill lets big farms skip local committees</a:t>
            </a:r>
            <a:endParaRPr lang="en-US" sz="2000" dirty="0"/>
          </a:p>
        </p:txBody>
      </p:sp>
      <p:sp>
        <p:nvSpPr>
          <p:cNvPr id="8" name="Shape 5"/>
          <p:cNvSpPr/>
          <p:nvPr/>
        </p:nvSpPr>
        <p:spPr>
          <a:xfrm>
            <a:off x="548640" y="3703320"/>
            <a:ext cx="7086600" cy="2331720"/>
          </a:xfrm>
          <a:prstGeom prst="roundRect">
            <a:avLst>
              <a:gd name="adj" fmla="val 5882"/>
            </a:avLst>
          </a:prstGeom>
          <a:solidFill>
            <a:srgbClr val="FDF1DF"/>
          </a:solidFill>
          <a:ln w="12700">
            <a:solidFill>
              <a:srgbClr val="FDF1DF"/>
            </a:solidFill>
            <a:prstDash val="solid"/>
          </a:ln>
        </p:spPr>
      </p:sp>
      <p:sp>
        <p:nvSpPr>
          <p:cNvPr id="9" name="Shape 6"/>
          <p:cNvSpPr/>
          <p:nvPr/>
        </p:nvSpPr>
        <p:spPr>
          <a:xfrm>
            <a:off x="777240" y="3913632"/>
            <a:ext cx="566928" cy="566928"/>
          </a:xfrm>
          <a:prstGeom prst="ellipse">
            <a:avLst/>
          </a:prstGeom>
          <a:solidFill>
            <a:srgbClr val="F2A33A"/>
          </a:solidFill>
          <a:ln w="12700">
            <a:solidFill>
              <a:srgbClr val="F2A33A"/>
            </a:solidFill>
            <a:prstDash val="solid"/>
          </a:ln>
        </p:spPr>
      </p:sp>
      <p:pic>
        <p:nvPicPr>
          <p:cNvPr id="10" name="Image 1" descr="preencoded.png">    </p:cNvPr>
          <p:cNvPicPr>
            <a:picLocks noChangeAspect="1"/>
          </p:cNvPicPr>
          <p:nvPr/>
        </p:nvPicPr>
        <p:blipFill>
          <a:blip r:embed="rId2"/>
          <a:stretch>
            <a:fillRect/>
          </a:stretch>
        </p:blipFill>
        <p:spPr>
          <a:xfrm>
            <a:off x="914400" y="4050792"/>
            <a:ext cx="292608" cy="292608"/>
          </a:xfrm>
          <a:prstGeom prst="rect">
            <a:avLst/>
          </a:prstGeom>
        </p:spPr>
      </p:pic>
      <p:sp>
        <p:nvSpPr>
          <p:cNvPr id="11" name="header"/>
          <p:cNvSpPr txBox="1"/>
          <p:nvPr/>
        </p:nvSpPr>
        <p:spPr>
          <a:xfrm>
            <a:off x="1554480" y="3913632"/>
            <a:ext cx="5852160" cy="566928"/>
          </a:xfrm>
          <a:prstGeom prst="rect">
            <a:avLst/>
          </a:prstGeom>
          <a:noFill/>
          <a:ln/>
        </p:spPr>
        <p:txBody>
          <a:bodyPr wrap="square" lIns="0" tIns="0" rIns="0" bIns="0" rtlCol="0" anchor="ctr"/>
          <a:lstStyle/>
          <a:p>
            <a:pPr indent="0" marL="0">
              <a:buNone/>
            </a:pPr>
            <a:r>
              <a:rPr lang="en-US" sz="2400" b="1" dirty="0">
                <a:solidFill>
                  <a:srgbClr val="0B2239"/>
                </a:solidFill>
                <a:latin typeface="Cambria" pitchFamily="34" charset="0"/>
                <a:ea typeface="Cambria" pitchFamily="34" charset="-122"/>
                <a:cs typeface="Cambria" pitchFamily="34" charset="-120"/>
              </a:rPr>
              <a:t>Legislation &amp; regulation</a:t>
            </a:r>
            <a:endParaRPr lang="en-US" sz="2400" dirty="0"/>
          </a:p>
        </p:txBody>
      </p:sp>
      <p:sp>
        <p:nvSpPr>
          <p:cNvPr id="12" name="body"/>
          <p:cNvSpPr txBox="1"/>
          <p:nvPr/>
        </p:nvSpPr>
        <p:spPr>
          <a:xfrm>
            <a:off x="868680" y="4617720"/>
            <a:ext cx="6583680" cy="1325880"/>
          </a:xfrm>
          <a:prstGeom prst="rect">
            <a:avLst/>
          </a:prstGeom>
          <a:noFill/>
          <a:ln/>
        </p:spPr>
        <p:txBody>
          <a:bodyPr wrap="square" lIns="0" tIns="0" rIns="0" bIns="0" rtlCol="0" anchor="t"/>
          <a:lstStyle/>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EU (2023): data centers must report water use</a:t>
            </a:r>
            <a:endParaRPr lang="en-US" sz="2000" dirty="0"/>
          </a:p>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Israel’s Water Law (1959): water is public</a:t>
            </a:r>
            <a:endParaRPr lang="en-US" sz="2000" dirty="0"/>
          </a:p>
          <a:p>
            <a:pPr marL="342900" indent="-342900">
              <a:spcAft>
                <a:spcPts val="600"/>
              </a:spcAft>
              <a:buSzPct val="100000"/>
              <a:buChar char="•"/>
            </a:pPr>
            <a:r>
              <a:rPr lang="en-US" sz="2000" dirty="0">
                <a:solidFill>
                  <a:srgbClr val="0B2239"/>
                </a:solidFill>
                <a:latin typeface="Calibri" pitchFamily="34" charset="0"/>
                <a:ea typeface="Calibri" pitchFamily="34" charset="-122"/>
                <a:cs typeface="Calibri" pitchFamily="34" charset="-120"/>
              </a:rPr>
              <a:t>Israel: no disclosure rule found</a:t>
            </a:r>
            <a:endParaRPr lang="en-US" sz="2000" dirty="0"/>
          </a:p>
        </p:txBody>
      </p:sp>
      <p:sp>
        <p:nvSpPr>
          <p:cNvPr id="13" name="photo-frame"/>
          <p:cNvSpPr/>
          <p:nvPr/>
        </p:nvSpPr>
        <p:spPr>
          <a:xfrm>
            <a:off x="8001000" y="1417320"/>
            <a:ext cx="3639312" cy="4617720"/>
          </a:xfrm>
          <a:prstGeom prst="roundRect">
            <a:avLst>
              <a:gd name="adj" fmla="val 4523"/>
            </a:avLst>
          </a:prstGeom>
          <a:solidFill>
            <a:srgbClr val="EAF4F7"/>
          </a:solidFill>
          <a:ln w="25400">
            <a:solidFill>
              <a:srgbClr val="137C94"/>
            </a:solidFill>
            <a:prstDash val="dash"/>
          </a:ln>
        </p:spPr>
      </p:sp>
      <p:pic>
        <p:nvPicPr>
          <p:cNvPr id="14" name="Image 2" descr="preencoded.png">    </p:cNvPr>
          <p:cNvPicPr>
            <a:picLocks noChangeAspect="1"/>
          </p:cNvPicPr>
          <p:nvPr/>
        </p:nvPicPr>
        <p:blipFill>
          <a:blip r:embed="rId3"/>
          <a:stretch>
            <a:fillRect/>
          </a:stretch>
        </p:blipFill>
        <p:spPr>
          <a:xfrm>
            <a:off x="9500616" y="2766060"/>
            <a:ext cx="640080" cy="640080"/>
          </a:xfrm>
          <a:prstGeom prst="rect">
            <a:avLst/>
          </a:prstGeom>
        </p:spPr>
      </p:pic>
      <p:sp>
        <p:nvSpPr>
          <p:cNvPr id="15" name="caption-photo"/>
          <p:cNvSpPr txBox="1"/>
          <p:nvPr/>
        </p:nvSpPr>
        <p:spPr>
          <a:xfrm>
            <a:off x="8183880" y="3543300"/>
            <a:ext cx="3273552" cy="1005840"/>
          </a:xfrm>
          <a:prstGeom prst="rect">
            <a:avLst/>
          </a:prstGeom>
          <a:noFill/>
          <a:ln/>
        </p:spPr>
        <p:txBody>
          <a:bodyPr wrap="square" lIns="0" tIns="0" rIns="0" bIns="0" rtlCol="0" anchor="t"/>
          <a:lstStyle/>
          <a:p>
            <a:pPr algn="ctr" indent="0" marL="0">
              <a:buNone/>
            </a:pPr>
            <a:r>
              <a:rPr lang="en-US" sz="1600" b="1" dirty="0">
                <a:solidFill>
                  <a:srgbClr val="4A5A68"/>
                </a:solidFill>
                <a:latin typeface="Calibri" pitchFamily="34" charset="0"/>
                <a:ea typeface="Calibri" pitchFamily="34" charset="-122"/>
                <a:cs typeface="Calibri" pitchFamily="34" charset="-120"/>
              </a:rPr>
              <a:t>ADD PHOTO</a:t>
            </a:r>
            <a:endParaRPr lang="en-US" sz="1600" dirty="0"/>
          </a:p>
          <a:p>
            <a:pPr algn="ctr" indent="0" marL="0">
              <a:buNone/>
            </a:pPr>
            <a:r>
              <a:rPr lang="en-US" sz="1400" dirty="0">
                <a:solidFill>
                  <a:srgbClr val="4A5A68"/>
                </a:solidFill>
                <a:latin typeface="Calibri" pitchFamily="34" charset="0"/>
                <a:ea typeface="Calibri" pitchFamily="34" charset="-122"/>
                <a:cs typeface="Calibri" pitchFamily="34" charset="-120"/>
              </a:rPr>
              <a:t>Search: “community protest meeting”</a:t>
            </a:r>
            <a:endParaRPr lang="en-US" sz="1600" dirty="0"/>
          </a:p>
          <a:p>
            <a:pPr algn="ctr" indent="0" marL="0">
              <a:buNone/>
            </a:pPr>
            <a:r>
              <a:rPr lang="en-US" sz="1100" i="1" dirty="0">
                <a:solidFill>
                  <a:srgbClr val="4A5A68"/>
                </a:solidFill>
                <a:latin typeface="Calibri" pitchFamily="34" charset="0"/>
                <a:ea typeface="Calibri" pitchFamily="34" charset="-122"/>
                <a:cs typeface="Calibri" pitchFamily="34" charset="-120"/>
              </a:rPr>
              <a:t>Real photo only, no AI images</a:t>
            </a:r>
            <a:endParaRPr lang="en-US" sz="1600" dirty="0"/>
          </a:p>
        </p:txBody>
      </p:sp>
      <p:sp>
        <p:nvSpPr>
          <p:cNvPr id="16" name="caption-sources"/>
          <p:cNvSpPr txBox="1"/>
          <p:nvPr/>
        </p:nvSpPr>
        <p:spPr>
          <a:xfrm>
            <a:off x="548640" y="6291072"/>
            <a:ext cx="11064240" cy="365760"/>
          </a:xfrm>
          <a:prstGeom prst="rect">
            <a:avLst/>
          </a:prstGeom>
          <a:noFill/>
          <a:ln/>
        </p:spPr>
        <p:txBody>
          <a:bodyPr wrap="square" lIns="0" tIns="0" rIns="0" bIns="0" rtlCol="0" anchor="ctr"/>
          <a:lstStyle/>
          <a:p>
            <a:pPr indent="0" marL="0">
              <a:buNone/>
            </a:pPr>
            <a:r>
              <a:rPr lang="en-US" sz="1100" dirty="0">
                <a:solidFill>
                  <a:srgbClr val="4A5A68"/>
                </a:solidFill>
                <a:latin typeface="Calibri" pitchFamily="34" charset="0"/>
                <a:ea typeface="Calibri" pitchFamily="34" charset="-122"/>
                <a:cs typeface="Calibri" pitchFamily="34" charset="-120"/>
              </a:rPr>
              <a:t>Sources: Calcalist (2026) on SPNI · Planning &amp; Building Law bill, 1st reading 1 Jun 2026 · EU Directive 2023/1791, Art. 12 · Water Law 5719-1959, s.1</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411480"/>
            <a:ext cx="11064240" cy="731520"/>
          </a:xfrm>
          <a:prstGeom prst="rect">
            <a:avLst/>
          </a:prstGeom>
          <a:noFill/>
          <a:ln/>
        </p:spPr>
        <p:txBody>
          <a:bodyPr wrap="square" lIns="0" tIns="0" rIns="0" bIns="0" rtlCol="0" anchor="ctr"/>
          <a:lstStyle/>
          <a:p>
            <a:pPr indent="0" marL="0">
              <a:buNone/>
            </a:pPr>
            <a:r>
              <a:rPr lang="en-US" sz="3600" b="1" dirty="0">
                <a:solidFill>
                  <a:srgbClr val="0B2239"/>
                </a:solidFill>
                <a:latin typeface="Cambria" pitchFamily="34" charset="0"/>
                <a:ea typeface="Cambria" pitchFamily="34" charset="-122"/>
                <a:cs typeface="Cambria" pitchFamily="34" charset="-120"/>
              </a:rPr>
              <a:t>What Would We Do? Our Proposal</a:t>
            </a:r>
            <a:endParaRPr lang="en-US" sz="3600" dirty="0"/>
          </a:p>
        </p:txBody>
      </p:sp>
      <p:sp>
        <p:nvSpPr>
          <p:cNvPr id="3" name="Shape 1"/>
          <p:cNvSpPr/>
          <p:nvPr/>
        </p:nvSpPr>
        <p:spPr>
          <a:xfrm>
            <a:off x="548640" y="1417320"/>
            <a:ext cx="7086600" cy="3063240"/>
          </a:xfrm>
          <a:prstGeom prst="roundRect">
            <a:avLst>
              <a:gd name="adj" fmla="val 4478"/>
            </a:avLst>
          </a:prstGeom>
          <a:solidFill>
            <a:srgbClr val="EAF4F7"/>
          </a:solidFill>
          <a:ln w="12700">
            <a:solidFill>
              <a:srgbClr val="EAF4F7"/>
            </a:solidFill>
            <a:prstDash val="solid"/>
          </a:ln>
        </p:spPr>
      </p:sp>
      <p:sp>
        <p:nvSpPr>
          <p:cNvPr id="4" name="header"/>
          <p:cNvSpPr txBox="1"/>
          <p:nvPr/>
        </p:nvSpPr>
        <p:spPr>
          <a:xfrm>
            <a:off x="822960" y="1554480"/>
            <a:ext cx="6583680" cy="548640"/>
          </a:xfrm>
          <a:prstGeom prst="rect">
            <a:avLst/>
          </a:prstGeom>
          <a:noFill/>
          <a:ln/>
        </p:spPr>
        <p:txBody>
          <a:bodyPr wrap="square" lIns="0" tIns="0" rIns="0" bIns="0" rtlCol="0" anchor="ctr"/>
          <a:lstStyle/>
          <a:p>
            <a:pPr indent="0" marL="0">
              <a:buNone/>
            </a:pPr>
            <a:r>
              <a:rPr lang="en-US" sz="2400" b="1" dirty="0">
                <a:solidFill>
                  <a:srgbClr val="0B2239"/>
                </a:solidFill>
                <a:latin typeface="Cambria" pitchFamily="34" charset="0"/>
                <a:ea typeface="Cambria" pitchFamily="34" charset="-122"/>
                <a:cs typeface="Cambria" pitchFamily="34" charset="-120"/>
              </a:rPr>
              <a:t>Policy reform: the “Open Meter” Law</a:t>
            </a:r>
            <a:endParaRPr lang="en-US" sz="2400" dirty="0"/>
          </a:p>
        </p:txBody>
      </p:sp>
      <p:sp>
        <p:nvSpPr>
          <p:cNvPr id="5" name="Shape 3"/>
          <p:cNvSpPr/>
          <p:nvPr/>
        </p:nvSpPr>
        <p:spPr>
          <a:xfrm>
            <a:off x="822960" y="2240280"/>
            <a:ext cx="457200" cy="457200"/>
          </a:xfrm>
          <a:prstGeom prst="ellipse">
            <a:avLst/>
          </a:prstGeom>
          <a:solidFill>
            <a:srgbClr val="137C94"/>
          </a:solidFill>
          <a:ln w="12700">
            <a:solidFill>
              <a:srgbClr val="137C94"/>
            </a:solidFill>
            <a:prstDash val="solid"/>
          </a:ln>
        </p:spPr>
      </p:sp>
      <p:sp>
        <p:nvSpPr>
          <p:cNvPr id="6" name="number"/>
          <p:cNvSpPr txBox="1"/>
          <p:nvPr/>
        </p:nvSpPr>
        <p:spPr>
          <a:xfrm>
            <a:off x="822960" y="224028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body"/>
          <p:cNvSpPr txBox="1"/>
          <p:nvPr/>
        </p:nvSpPr>
        <p:spPr>
          <a:xfrm>
            <a:off x="1463040" y="2194560"/>
            <a:ext cx="5989320" cy="548640"/>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Data centers publish yearly water and power use</a:t>
            </a:r>
            <a:endParaRPr lang="en-US" sz="2100" dirty="0"/>
          </a:p>
        </p:txBody>
      </p:sp>
      <p:sp>
        <p:nvSpPr>
          <p:cNvPr id="8" name="Shape 6"/>
          <p:cNvSpPr/>
          <p:nvPr/>
        </p:nvSpPr>
        <p:spPr>
          <a:xfrm>
            <a:off x="822960" y="2834640"/>
            <a:ext cx="457200" cy="457200"/>
          </a:xfrm>
          <a:prstGeom prst="ellipse">
            <a:avLst/>
          </a:prstGeom>
          <a:solidFill>
            <a:srgbClr val="137C94"/>
          </a:solidFill>
          <a:ln w="12700">
            <a:solidFill>
              <a:srgbClr val="137C94"/>
            </a:solidFill>
            <a:prstDash val="solid"/>
          </a:ln>
        </p:spPr>
      </p:sp>
      <p:sp>
        <p:nvSpPr>
          <p:cNvPr id="9" name="number"/>
          <p:cNvSpPr txBox="1"/>
          <p:nvPr/>
        </p:nvSpPr>
        <p:spPr>
          <a:xfrm>
            <a:off x="822960" y="283464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body"/>
          <p:cNvSpPr txBox="1"/>
          <p:nvPr/>
        </p:nvSpPr>
        <p:spPr>
          <a:xfrm>
            <a:off x="1463040" y="2788920"/>
            <a:ext cx="5989320" cy="548640"/>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Local hearings stay, even on the fast track</a:t>
            </a:r>
            <a:endParaRPr lang="en-US" sz="2100" dirty="0"/>
          </a:p>
        </p:txBody>
      </p:sp>
      <p:sp>
        <p:nvSpPr>
          <p:cNvPr id="11" name="Shape 9"/>
          <p:cNvSpPr/>
          <p:nvPr/>
        </p:nvSpPr>
        <p:spPr>
          <a:xfrm>
            <a:off x="822960" y="3429000"/>
            <a:ext cx="457200" cy="457200"/>
          </a:xfrm>
          <a:prstGeom prst="ellipse">
            <a:avLst/>
          </a:prstGeom>
          <a:solidFill>
            <a:srgbClr val="137C94"/>
          </a:solidFill>
          <a:ln w="12700">
            <a:solidFill>
              <a:srgbClr val="137C94"/>
            </a:solidFill>
            <a:prstDash val="solid"/>
          </a:ln>
        </p:spPr>
      </p:sp>
      <p:sp>
        <p:nvSpPr>
          <p:cNvPr id="12" name="number"/>
          <p:cNvSpPr txBox="1"/>
          <p:nvPr/>
        </p:nvSpPr>
        <p:spPr>
          <a:xfrm>
            <a:off x="822960" y="34290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3" name="body"/>
          <p:cNvSpPr txBox="1"/>
          <p:nvPr/>
        </p:nvSpPr>
        <p:spPr>
          <a:xfrm>
            <a:off x="1463040" y="3383280"/>
            <a:ext cx="5989320" cy="548640"/>
          </a:xfrm>
          <a:prstGeom prst="rect">
            <a:avLst/>
          </a:prstGeom>
          <a:noFill/>
          <a:ln/>
        </p:spPr>
        <p:txBody>
          <a:bodyPr wrap="square" lIns="0" tIns="0" rIns="0" bIns="0" rtlCol="0" anchor="ctr"/>
          <a:lstStyle/>
          <a:p>
            <a:pPr indent="0" marL="0">
              <a:buNone/>
            </a:pPr>
            <a:r>
              <a:rPr lang="en-US" sz="2100" dirty="0">
                <a:solidFill>
                  <a:srgbClr val="0B2239"/>
                </a:solidFill>
                <a:latin typeface="Calibri" pitchFamily="34" charset="0"/>
                <a:ea typeface="Calibri" pitchFamily="34" charset="-122"/>
                <a:cs typeface="Calibri" pitchFamily="34" charset="-120"/>
              </a:rPr>
              <a:t>In shortages: homes and farms before servers</a:t>
            </a:r>
            <a:endParaRPr lang="en-US" sz="2100" dirty="0"/>
          </a:p>
        </p:txBody>
      </p:sp>
      <p:sp>
        <p:nvSpPr>
          <p:cNvPr id="14" name="body"/>
          <p:cNvSpPr txBox="1"/>
          <p:nvPr/>
        </p:nvSpPr>
        <p:spPr>
          <a:xfrm>
            <a:off x="822960" y="4023360"/>
            <a:ext cx="6583680" cy="365760"/>
          </a:xfrm>
          <a:prstGeom prst="rect">
            <a:avLst/>
          </a:prstGeom>
          <a:noFill/>
          <a:ln/>
        </p:spPr>
        <p:txBody>
          <a:bodyPr wrap="square" lIns="0" tIns="0" rIns="0" bIns="0" rtlCol="0" anchor="ctr"/>
          <a:lstStyle/>
          <a:p>
            <a:pPr indent="0" marL="0">
              <a:buNone/>
            </a:pPr>
            <a:r>
              <a:rPr lang="en-US" sz="2000" b="1" i="1" dirty="0">
                <a:solidFill>
                  <a:srgbClr val="137C94"/>
                </a:solidFill>
                <a:latin typeface="Calibri" pitchFamily="34" charset="0"/>
                <a:ea typeface="Calibri" pitchFamily="34" charset="-122"/>
                <a:cs typeface="Calibri" pitchFamily="34" charset="-120"/>
              </a:rPr>
              <a:t>Aim: fair siting, no discrimination</a:t>
            </a:r>
            <a:endParaRPr lang="en-US" sz="2000" dirty="0"/>
          </a:p>
        </p:txBody>
      </p:sp>
      <p:sp>
        <p:nvSpPr>
          <p:cNvPr id="15" name="Shape 13"/>
          <p:cNvSpPr/>
          <p:nvPr/>
        </p:nvSpPr>
        <p:spPr>
          <a:xfrm>
            <a:off x="548640" y="4663440"/>
            <a:ext cx="7086600" cy="1371600"/>
          </a:xfrm>
          <a:prstGeom prst="roundRect">
            <a:avLst>
              <a:gd name="adj" fmla="val 10000"/>
            </a:avLst>
          </a:prstGeom>
          <a:solidFill>
            <a:srgbClr val="FDF1DF"/>
          </a:solidFill>
          <a:ln w="12700">
            <a:solidFill>
              <a:srgbClr val="FDF1DF"/>
            </a:solidFill>
            <a:prstDash val="solid"/>
          </a:ln>
        </p:spPr>
      </p:sp>
      <p:sp>
        <p:nvSpPr>
          <p:cNvPr id="16" name="Shape 14"/>
          <p:cNvSpPr/>
          <p:nvPr/>
        </p:nvSpPr>
        <p:spPr>
          <a:xfrm>
            <a:off x="777240" y="5065776"/>
            <a:ext cx="566928" cy="566928"/>
          </a:xfrm>
          <a:prstGeom prst="ellipse">
            <a:avLst/>
          </a:prstGeom>
          <a:solidFill>
            <a:srgbClr val="F2A33A"/>
          </a:solidFill>
          <a:ln w="12700">
            <a:solidFill>
              <a:srgbClr val="F2A33A"/>
            </a:solidFill>
            <a:prstDash val="solid"/>
          </a:ln>
        </p:spPr>
      </p:sp>
      <p:pic>
        <p:nvPicPr>
          <p:cNvPr id="17" name="Image 0" descr="preencoded.png">    </p:cNvPr>
          <p:cNvPicPr>
            <a:picLocks noChangeAspect="1"/>
          </p:cNvPicPr>
          <p:nvPr/>
        </p:nvPicPr>
        <p:blipFill>
          <a:blip r:embed="rId1"/>
          <a:stretch>
            <a:fillRect/>
          </a:stretch>
        </p:blipFill>
        <p:spPr>
          <a:xfrm>
            <a:off x="914400" y="5202936"/>
            <a:ext cx="292608" cy="292608"/>
          </a:xfrm>
          <a:prstGeom prst="rect">
            <a:avLst/>
          </a:prstGeom>
        </p:spPr>
      </p:pic>
      <p:sp>
        <p:nvSpPr>
          <p:cNvPr id="18" name="body"/>
          <p:cNvSpPr txBox="1"/>
          <p:nvPr/>
        </p:nvSpPr>
        <p:spPr>
          <a:xfrm>
            <a:off x="1554480" y="4754880"/>
            <a:ext cx="5943600" cy="1188720"/>
          </a:xfrm>
          <a:prstGeom prst="rect">
            <a:avLst/>
          </a:prstGeom>
          <a:noFill/>
          <a:ln/>
        </p:spPr>
        <p:txBody>
          <a:bodyPr wrap="square" lIns="0" tIns="0" rIns="0" bIns="0" rtlCol="0" anchor="ctr"/>
          <a:lstStyle/>
          <a:p>
            <a:pPr indent="0" marL="0">
              <a:buNone/>
            </a:pPr>
            <a:r>
              <a:rPr lang="en-US" sz="2200" b="1" dirty="0">
                <a:solidFill>
                  <a:srgbClr val="0B2239"/>
                </a:solidFill>
                <a:latin typeface="Cambria" pitchFamily="34" charset="0"/>
                <a:ea typeface="Cambria" pitchFamily="34" charset="-122"/>
                <a:cs typeface="Cambria" pitchFamily="34" charset="-120"/>
              </a:rPr>
              <a:t>Awareness idea: an “AI nutrition label”</a:t>
            </a:r>
            <a:endParaRPr lang="en-US" sz="2200" dirty="0"/>
          </a:p>
          <a:p>
            <a:pPr indent="0" marL="0">
              <a:buNone/>
            </a:pPr>
            <a:r>
              <a:rPr lang="en-US" sz="2000" dirty="0">
                <a:solidFill>
                  <a:srgbClr val="0B2239"/>
                </a:solidFill>
                <a:latin typeface="Calibri" pitchFamily="34" charset="0"/>
                <a:ea typeface="Calibri" pitchFamily="34" charset="-122"/>
                <a:cs typeface="Calibri" pitchFamily="34" charset="-120"/>
              </a:rPr>
              <a:t>Posters showing each AI tool’s water and power</a:t>
            </a:r>
            <a:endParaRPr lang="en-US" sz="2200" dirty="0"/>
          </a:p>
        </p:txBody>
      </p:sp>
      <p:sp>
        <p:nvSpPr>
          <p:cNvPr id="19" name="photo-frame"/>
          <p:cNvSpPr/>
          <p:nvPr/>
        </p:nvSpPr>
        <p:spPr>
          <a:xfrm>
            <a:off x="8001000" y="1417320"/>
            <a:ext cx="3639312" cy="4617720"/>
          </a:xfrm>
          <a:prstGeom prst="roundRect">
            <a:avLst>
              <a:gd name="adj" fmla="val 4523"/>
            </a:avLst>
          </a:prstGeom>
          <a:solidFill>
            <a:srgbClr val="EAF4F7"/>
          </a:solidFill>
          <a:ln w="25400">
            <a:solidFill>
              <a:srgbClr val="137C94"/>
            </a:solidFill>
            <a:prstDash val="dash"/>
          </a:ln>
        </p:spPr>
      </p:sp>
      <p:pic>
        <p:nvPicPr>
          <p:cNvPr id="20" name="Image 1" descr="preencoded.png">    </p:cNvPr>
          <p:cNvPicPr>
            <a:picLocks noChangeAspect="1"/>
          </p:cNvPicPr>
          <p:nvPr/>
        </p:nvPicPr>
        <p:blipFill>
          <a:blip r:embed="rId2"/>
          <a:stretch>
            <a:fillRect/>
          </a:stretch>
        </p:blipFill>
        <p:spPr>
          <a:xfrm>
            <a:off x="9500616" y="2766060"/>
            <a:ext cx="640080" cy="640080"/>
          </a:xfrm>
          <a:prstGeom prst="rect">
            <a:avLst/>
          </a:prstGeom>
        </p:spPr>
      </p:pic>
      <p:sp>
        <p:nvSpPr>
          <p:cNvPr id="21" name="caption-photo"/>
          <p:cNvSpPr txBox="1"/>
          <p:nvPr/>
        </p:nvSpPr>
        <p:spPr>
          <a:xfrm>
            <a:off x="8183880" y="3543300"/>
            <a:ext cx="3273552" cy="1005840"/>
          </a:xfrm>
          <a:prstGeom prst="rect">
            <a:avLst/>
          </a:prstGeom>
          <a:noFill/>
          <a:ln/>
        </p:spPr>
        <p:txBody>
          <a:bodyPr wrap="square" lIns="0" tIns="0" rIns="0" bIns="0" rtlCol="0" anchor="t"/>
          <a:lstStyle/>
          <a:p>
            <a:pPr algn="ctr" indent="0" marL="0">
              <a:buNone/>
            </a:pPr>
            <a:r>
              <a:rPr lang="en-US" sz="1600" b="1" dirty="0">
                <a:solidFill>
                  <a:srgbClr val="4A5A68"/>
                </a:solidFill>
                <a:latin typeface="Calibri" pitchFamily="34" charset="0"/>
                <a:ea typeface="Calibri" pitchFamily="34" charset="-122"/>
                <a:cs typeface="Calibri" pitchFamily="34" charset="-120"/>
              </a:rPr>
              <a:t>ADD PHOTO</a:t>
            </a:r>
            <a:endParaRPr lang="en-US" sz="1600" dirty="0"/>
          </a:p>
          <a:p>
            <a:pPr algn="ctr" indent="0" marL="0">
              <a:buNone/>
            </a:pPr>
            <a:r>
              <a:rPr lang="en-US" sz="1400" dirty="0">
                <a:solidFill>
                  <a:srgbClr val="4A5A68"/>
                </a:solidFill>
                <a:latin typeface="Calibri" pitchFamily="34" charset="0"/>
                <a:ea typeface="Calibri" pitchFamily="34" charset="-122"/>
                <a:cs typeface="Calibri" pitchFamily="34" charset="-120"/>
              </a:rPr>
              <a:t>Search: “town hall meeting”</a:t>
            </a:r>
            <a:endParaRPr lang="en-US" sz="1600" dirty="0"/>
          </a:p>
          <a:p>
            <a:pPr algn="ctr" indent="0" marL="0">
              <a:buNone/>
            </a:pPr>
            <a:r>
              <a:rPr lang="en-US" sz="1100" i="1" dirty="0">
                <a:solidFill>
                  <a:srgbClr val="4A5A68"/>
                </a:solidFill>
                <a:latin typeface="Calibri" pitchFamily="34" charset="0"/>
                <a:ea typeface="Calibri" pitchFamily="34" charset="-122"/>
                <a:cs typeface="Calibri" pitchFamily="34" charset="-120"/>
              </a:rPr>
              <a:t>Real photo only, no AI images</a:t>
            </a:r>
            <a:endParaRPr lang="en-US" sz="1600" dirty="0"/>
          </a:p>
        </p:txBody>
      </p:sp>
      <p:sp>
        <p:nvSpPr>
          <p:cNvPr id="22" name="caption-sources"/>
          <p:cNvSpPr txBox="1"/>
          <p:nvPr/>
        </p:nvSpPr>
        <p:spPr>
          <a:xfrm>
            <a:off x="548640" y="6291072"/>
            <a:ext cx="11064240" cy="365760"/>
          </a:xfrm>
          <a:prstGeom prst="rect">
            <a:avLst/>
          </a:prstGeom>
          <a:noFill/>
          <a:ln/>
        </p:spPr>
        <p:txBody>
          <a:bodyPr wrap="square" lIns="0" tIns="0" rIns="0" bIns="0" rtlCol="0" anchor="ctr"/>
          <a:lstStyle/>
          <a:p>
            <a:pPr indent="0" marL="0">
              <a:buNone/>
            </a:pPr>
            <a:r>
              <a:rPr lang="en-US" sz="1100" dirty="0">
                <a:solidFill>
                  <a:srgbClr val="4A5A68"/>
                </a:solidFill>
                <a:latin typeface="Calibri" pitchFamily="34" charset="0"/>
                <a:ea typeface="Calibri" pitchFamily="34" charset="-122"/>
                <a:cs typeface="Calibri" pitchFamily="34" charset="-120"/>
              </a:rPr>
              <a:t>Our team’s proposal · Disclosure idea modeled on EU Energy Efficiency Directive 2023/1791, Art. 12</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2239"/>
        </a:solidFill>
      </p:bgPr>
    </p:bg>
    <p:spTree>
      <p:nvGrpSpPr>
        <p:cNvPr id="1" name=""/>
        <p:cNvGrpSpPr/>
        <p:nvPr/>
      </p:nvGrpSpPr>
      <p:grpSpPr>
        <a:xfrm>
          <a:off x="0" y="0"/>
          <a:ext cx="0" cy="0"/>
          <a:chOff x="0" y="0"/>
          <a:chExt cx="0" cy="0"/>
        </a:xfrm>
      </p:grpSpPr>
      <p:sp>
        <p:nvSpPr>
          <p:cNvPr id="2" name="title"/>
          <p:cNvSpPr txBox="1"/>
          <p:nvPr/>
        </p:nvSpPr>
        <p:spPr>
          <a:xfrm>
            <a:off x="548640" y="1234440"/>
            <a:ext cx="68580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cloud is not in the sky.</a:t>
            </a:r>
            <a:endParaRPr lang="en-US" sz="4400" dirty="0"/>
          </a:p>
        </p:txBody>
      </p:sp>
      <p:sp>
        <p:nvSpPr>
          <p:cNvPr id="3" name="title"/>
          <p:cNvSpPr txBox="1"/>
          <p:nvPr/>
        </p:nvSpPr>
        <p:spPr>
          <a:xfrm>
            <a:off x="548640" y="2148840"/>
            <a:ext cx="6858000" cy="731520"/>
          </a:xfrm>
          <a:prstGeom prst="rect">
            <a:avLst/>
          </a:prstGeom>
          <a:noFill/>
          <a:ln/>
        </p:spPr>
        <p:txBody>
          <a:bodyPr wrap="square" lIns="0" tIns="0" rIns="0" bIns="0" rtlCol="0" anchor="ctr"/>
          <a:lstStyle/>
          <a:p>
            <a:pPr indent="0" marL="0">
              <a:buNone/>
            </a:pPr>
            <a:r>
              <a:rPr lang="en-US" sz="3200" i="1" dirty="0">
                <a:solidFill>
                  <a:srgbClr val="F2A33A"/>
                </a:solidFill>
                <a:latin typeface="Cambria" pitchFamily="34" charset="0"/>
                <a:ea typeface="Cambria" pitchFamily="34" charset="-122"/>
                <a:cs typeface="Cambria" pitchFamily="34" charset="-120"/>
              </a:rPr>
              <a:t>It is next door, in the Sharon.</a:t>
            </a:r>
            <a:endParaRPr lang="en-US" sz="3200" dirty="0"/>
          </a:p>
        </p:txBody>
      </p:sp>
      <p:sp>
        <p:nvSpPr>
          <p:cNvPr id="4" name="Shape 2"/>
          <p:cNvSpPr/>
          <p:nvPr/>
        </p:nvSpPr>
        <p:spPr>
          <a:xfrm>
            <a:off x="548640" y="3429000"/>
            <a:ext cx="475488" cy="475488"/>
          </a:xfrm>
          <a:prstGeom prst="ellipse">
            <a:avLst/>
          </a:prstGeom>
          <a:solidFill>
            <a:srgbClr val="F2A33A"/>
          </a:solidFill>
          <a:ln w="12700">
            <a:solidFill>
              <a:srgbClr val="F2A33A"/>
            </a:solidFill>
            <a:prstDash val="solid"/>
          </a:ln>
        </p:spPr>
      </p:sp>
      <p:pic>
        <p:nvPicPr>
          <p:cNvPr id="5" name="Image 0" descr="preencoded.png">    </p:cNvPr>
          <p:cNvPicPr>
            <a:picLocks noChangeAspect="1"/>
          </p:cNvPicPr>
          <p:nvPr/>
        </p:nvPicPr>
        <p:blipFill>
          <a:blip r:embed="rId1"/>
          <a:stretch>
            <a:fillRect/>
          </a:stretch>
        </p:blipFill>
        <p:spPr>
          <a:xfrm>
            <a:off x="658368" y="3538728"/>
            <a:ext cx="256032" cy="256032"/>
          </a:xfrm>
          <a:prstGeom prst="rect">
            <a:avLst/>
          </a:prstGeom>
        </p:spPr>
      </p:pic>
      <p:sp>
        <p:nvSpPr>
          <p:cNvPr id="6" name="body"/>
          <p:cNvSpPr txBox="1"/>
          <p:nvPr/>
        </p:nvSpPr>
        <p:spPr>
          <a:xfrm>
            <a:off x="1207008" y="3374136"/>
            <a:ext cx="6217920" cy="585216"/>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Ask two questions: </a:t>
            </a:r>
            <a:pPr indent="0" marL="0">
              <a:buNone/>
            </a:pPr>
            <a:r>
              <a:rPr lang="en-US" sz="2400" b="1" dirty="0">
                <a:solidFill>
                  <a:srgbClr val="F2A33A"/>
                </a:solidFill>
                <a:latin typeface="Calibri" pitchFamily="34" charset="0"/>
                <a:ea typeface="Calibri" pitchFamily="34" charset="-122"/>
                <a:cs typeface="Calibri" pitchFamily="34" charset="-120"/>
              </a:rPr>
              <a:t>Who decides? Who pays?</a:t>
            </a:r>
            <a:endParaRPr lang="en-US" sz="2400" dirty="0"/>
          </a:p>
        </p:txBody>
      </p:sp>
      <p:sp>
        <p:nvSpPr>
          <p:cNvPr id="7" name="Shape 4"/>
          <p:cNvSpPr/>
          <p:nvPr/>
        </p:nvSpPr>
        <p:spPr>
          <a:xfrm>
            <a:off x="548640" y="4251960"/>
            <a:ext cx="475488" cy="475488"/>
          </a:xfrm>
          <a:prstGeom prst="ellipse">
            <a:avLst/>
          </a:prstGeom>
          <a:solidFill>
            <a:srgbClr val="137C94"/>
          </a:solidFill>
          <a:ln w="12700">
            <a:solidFill>
              <a:srgbClr val="137C94"/>
            </a:solidFill>
            <a:prstDash val="solid"/>
          </a:ln>
        </p:spPr>
      </p:sp>
      <p:pic>
        <p:nvPicPr>
          <p:cNvPr id="8" name="Image 1" descr="preencoded.png">    </p:cNvPr>
          <p:cNvPicPr>
            <a:picLocks noChangeAspect="1"/>
          </p:cNvPicPr>
          <p:nvPr/>
        </p:nvPicPr>
        <p:blipFill>
          <a:blip r:embed="rId2"/>
          <a:stretch>
            <a:fillRect/>
          </a:stretch>
        </p:blipFill>
        <p:spPr>
          <a:xfrm>
            <a:off x="658368" y="4361688"/>
            <a:ext cx="256032" cy="256032"/>
          </a:xfrm>
          <a:prstGeom prst="rect">
            <a:avLst/>
          </a:prstGeom>
        </p:spPr>
      </p:pic>
      <p:sp>
        <p:nvSpPr>
          <p:cNvPr id="9" name="body"/>
          <p:cNvSpPr txBox="1"/>
          <p:nvPr/>
        </p:nvSpPr>
        <p:spPr>
          <a:xfrm>
            <a:off x="1207008" y="4197096"/>
            <a:ext cx="6217920" cy="585216"/>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Real </a:t>
            </a:r>
            <a:pPr indent="0" marL="0">
              <a:buNone/>
            </a:pPr>
            <a:r>
              <a:rPr lang="en-US" sz="2400" b="1" dirty="0">
                <a:solidFill>
                  <a:srgbClr val="F2A33A"/>
                </a:solidFill>
                <a:latin typeface="Calibri" pitchFamily="34" charset="0"/>
                <a:ea typeface="Calibri" pitchFamily="34" charset="-122"/>
                <a:cs typeface="Calibri" pitchFamily="34" charset="-120"/>
              </a:rPr>
              <a:t>sustainability</a:t>
            </a:r>
            <a:pPr indent="0" marL="0">
              <a:buNone/>
            </a:pPr>
            <a:r>
              <a:rPr lang="en-US" sz="2400" dirty="0">
                <a:solidFill>
                  <a:srgbClr val="FFFFFF"/>
                </a:solidFill>
                <a:latin typeface="Calibri" pitchFamily="34" charset="0"/>
                <a:ea typeface="Calibri" pitchFamily="34" charset="-122"/>
                <a:cs typeface="Calibri" pitchFamily="34" charset="-120"/>
              </a:rPr>
              <a:t> includes </a:t>
            </a:r>
            <a:pPr indent="0" marL="0">
              <a:buNone/>
            </a:pPr>
            <a:r>
              <a:rPr lang="en-US" sz="2400" b="1" dirty="0">
                <a:solidFill>
                  <a:srgbClr val="F2A33A"/>
                </a:solidFill>
                <a:latin typeface="Calibri" pitchFamily="34" charset="0"/>
                <a:ea typeface="Calibri" pitchFamily="34" charset="-122"/>
                <a:cs typeface="Calibri" pitchFamily="34" charset="-120"/>
              </a:rPr>
              <a:t>social justice</a:t>
            </a:r>
            <a:endParaRPr lang="en-US" sz="2400" dirty="0"/>
          </a:p>
        </p:txBody>
      </p:sp>
      <p:sp>
        <p:nvSpPr>
          <p:cNvPr id="10" name="body"/>
          <p:cNvSpPr txBox="1"/>
          <p:nvPr/>
        </p:nvSpPr>
        <p:spPr>
          <a:xfrm>
            <a:off x="548640" y="5349240"/>
            <a:ext cx="6400800" cy="548640"/>
          </a:xfrm>
          <a:prstGeom prst="rect">
            <a:avLst/>
          </a:prstGeom>
          <a:noFill/>
          <a:ln/>
        </p:spPr>
        <p:txBody>
          <a:bodyPr wrap="square" lIns="0" tIns="0" rIns="0" bIns="0" rtlCol="0" anchor="ctr"/>
          <a:lstStyle/>
          <a:p>
            <a:pPr indent="0" marL="0">
              <a:buNone/>
            </a:pPr>
            <a:r>
              <a:rPr lang="en-US" sz="2200" b="1" dirty="0">
                <a:solidFill>
                  <a:srgbClr val="B8C7D3"/>
                </a:solidFill>
                <a:latin typeface="Calibri" pitchFamily="34" charset="0"/>
                <a:ea typeface="Calibri" pitchFamily="34" charset="-122"/>
                <a:cs typeface="Calibri" pitchFamily="34" charset="-120"/>
              </a:rPr>
              <a:t>Thank you! Questions?</a:t>
            </a:r>
            <a:endParaRPr lang="en-US" sz="2200" dirty="0"/>
          </a:p>
        </p:txBody>
      </p:sp>
      <p:sp>
        <p:nvSpPr>
          <p:cNvPr id="11" name="photo-frame"/>
          <p:cNvSpPr/>
          <p:nvPr/>
        </p:nvSpPr>
        <p:spPr>
          <a:xfrm>
            <a:off x="8001000" y="1097280"/>
            <a:ext cx="3639312" cy="4846320"/>
          </a:xfrm>
          <a:prstGeom prst="roundRect">
            <a:avLst>
              <a:gd name="adj" fmla="val 4523"/>
            </a:avLst>
          </a:prstGeom>
          <a:solidFill>
            <a:srgbClr val="173A57"/>
          </a:solidFill>
          <a:ln w="25400">
            <a:solidFill>
              <a:srgbClr val="137C94"/>
            </a:solidFill>
            <a:prstDash val="dash"/>
          </a:ln>
        </p:spPr>
      </p:sp>
      <p:pic>
        <p:nvPicPr>
          <p:cNvPr id="12" name="Image 2" descr="preencoded.png">    </p:cNvPr>
          <p:cNvPicPr>
            <a:picLocks noChangeAspect="1"/>
          </p:cNvPicPr>
          <p:nvPr/>
        </p:nvPicPr>
        <p:blipFill>
          <a:blip r:embed="rId3"/>
          <a:stretch>
            <a:fillRect/>
          </a:stretch>
        </p:blipFill>
        <p:spPr>
          <a:xfrm>
            <a:off x="9500616" y="2560320"/>
            <a:ext cx="640080" cy="640080"/>
          </a:xfrm>
          <a:prstGeom prst="rect">
            <a:avLst/>
          </a:prstGeom>
        </p:spPr>
      </p:pic>
      <p:sp>
        <p:nvSpPr>
          <p:cNvPr id="13" name="caption-photo"/>
          <p:cNvSpPr txBox="1"/>
          <p:nvPr/>
        </p:nvSpPr>
        <p:spPr>
          <a:xfrm>
            <a:off x="8183880" y="3337560"/>
            <a:ext cx="3273552" cy="1005840"/>
          </a:xfrm>
          <a:prstGeom prst="rect">
            <a:avLst/>
          </a:prstGeom>
          <a:noFill/>
          <a:ln/>
        </p:spPr>
        <p:txBody>
          <a:bodyPr wrap="square" lIns="0" tIns="0" rIns="0" bIns="0" rtlCol="0" anchor="t"/>
          <a:lstStyle/>
          <a:p>
            <a:pPr algn="ctr" indent="0" marL="0">
              <a:buNone/>
            </a:pPr>
            <a:r>
              <a:rPr lang="en-US" sz="1600" b="1" dirty="0">
                <a:solidFill>
                  <a:srgbClr val="B8C7D3"/>
                </a:solidFill>
                <a:latin typeface="Calibri" pitchFamily="34" charset="0"/>
                <a:ea typeface="Calibri" pitchFamily="34" charset="-122"/>
                <a:cs typeface="Calibri" pitchFamily="34" charset="-120"/>
              </a:rPr>
              <a:t>ADD PHOTO</a:t>
            </a:r>
            <a:endParaRPr lang="en-US" sz="1600" dirty="0"/>
          </a:p>
          <a:p>
            <a:pPr algn="ctr" indent="0" marL="0">
              <a:buNone/>
            </a:pPr>
            <a:r>
              <a:rPr lang="en-US" sz="1400" dirty="0">
                <a:solidFill>
                  <a:srgbClr val="B8C7D3"/>
                </a:solidFill>
                <a:latin typeface="Calibri" pitchFamily="34" charset="0"/>
                <a:ea typeface="Calibri" pitchFamily="34" charset="-122"/>
                <a:cs typeface="Calibri" pitchFamily="34" charset="-120"/>
              </a:rPr>
              <a:t>Search: “farmland irrigation”</a:t>
            </a:r>
            <a:endParaRPr lang="en-US" sz="1600" dirty="0"/>
          </a:p>
          <a:p>
            <a:pPr algn="ctr" indent="0" marL="0">
              <a:buNone/>
            </a:pPr>
            <a:r>
              <a:rPr lang="en-US" sz="1100" i="1" dirty="0">
                <a:solidFill>
                  <a:srgbClr val="B8C7D3"/>
                </a:solidFill>
                <a:latin typeface="Calibri" pitchFamily="34" charset="0"/>
                <a:ea typeface="Calibri" pitchFamily="34" charset="-122"/>
                <a:cs typeface="Calibri" pitchFamily="34" charset="-120"/>
              </a:rPr>
              <a:t>Real photo only, no AI images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2026-09-28T06:14:03Z</dcterms:created>
  <dcterms:modified xsi:type="dcterms:W3CDTF">2026-09-28T06:14:03Z</dcterms:modified>
</cp:coreProperties>
</file>