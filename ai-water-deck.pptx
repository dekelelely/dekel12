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view3D>
      <c:rotX val="10"/>
      <c:rotY val="16"/>
      <c:rAngAx val="0"/>
      <c:perspective val="15"/>
    </c:view3D>
    <c:plotArea>
      <c:layout/>
      <c:bar3DChart>
        <c:barDir val="col"/>
        <c:grouping val="standard"/>
        <c:varyColors val="0"/>
        <c:ser>
          <c:idx val="0"/>
          <c:order val="0"/>
          <c:tx>
            <c:strRef>
              <c:f>Sheet1!$B$1</c:f>
              <c:strCache>
                <c:ptCount val="1"/>
                <c:pt idx="0">
                  <c:v>Google water use</c:v>
                </c:pt>
              </c:strCache>
            </c:strRef>
          </c:tx>
          <c:spPr>
            <a:solidFill>
              <a:srgbClr val="0F6E84"/>
            </a:solidFill>
            <a:effectLst/>
          </c:spPr>
          <c:invertIfNegative val="0"/>
          <c:dLbls>
            <c:numFmt formatCode="0.0" sourceLinked="0"/>
            <c:txPr>
              <a:bodyPr/>
              <a:lstStyle/>
              <a:p>
                <a:pPr>
                  <a:defRPr b="1" i="0" strike="noStrike" sz="1800" u="none">
                    <a:solidFill>
                      <a:srgbClr val="0E1B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24.2</c:v>
                </c:pt>
                <c:pt idx="1">
                  <c:v>30.7</c:v>
                </c:pt>
                <c:pt idx="2">
                  <c:v>41.3</c:v>
                </c:pt>
              </c:numCache>
            </c:numRef>
          </c:val>
        </c:ser>
        <c:dLbls>
          <c:numFmt formatCode="0.0" sourceLinked="0"/>
          <c:txPr>
            <a:bodyPr/>
            <a:lstStyle/>
            <a:p>
              <a:pPr>
                <a:defRPr b="1" i="0" strike="noStrike" sz="1800" u="none">
                  <a:solidFill>
                    <a:srgbClr val="0E1B2A"/>
                  </a:solidFill>
                  <a:latin typeface="Calibri"/>
                </a:defRPr>
              </a:pPr>
            </a:p>
          </c:txPr>
          <c:showLegendKey val="0"/>
          <c:showVal val="1"/>
          <c:showCatName val="0"/>
          <c:showSerName val="0"/>
          <c:showPercent val="0"/>
          <c:showBubbleSize val="0"/>
          <c:showLeaderLines val="0"/>
        </c:dLbls>
        <c:gapWidth val="70"/>
        <c:gapDepth val="150"/>
        <c:shape val="box"/>
        <c:axId val="2094734554"/>
        <c:axId val="2094734552"/>
        <c:axId val="2094734556"/>
      </c:bar3D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600" b="0" i="0" u="none" strike="noStrike">
                <a:solidFill>
                  <a:srgbClr val="0E1B2A"/>
                </a:solidFill>
                <a:latin typeface="Calibri"/>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erAx>
        <c:axId val="2094734556"/>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ser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view3D>
      <c:rotX val="10"/>
      <c:rotY val="16"/>
      <c:rAngAx val="0"/>
      <c:perspective val="15"/>
    </c:view3D>
    <c:plotArea>
      <c:layout/>
      <c:bar3DChart>
        <c:barDir val="col"/>
        <c:grouping val="standard"/>
        <c:varyColors val="0"/>
        <c:ser>
          <c:idx val="0"/>
          <c:order val="0"/>
          <c:tx>
            <c:strRef>
              <c:f>Sheet1!$B$1</c:f>
              <c:strCache>
                <c:ptCount val="1"/>
                <c:pt idx="0">
                  <c:v>Data-center grid demand</c:v>
                </c:pt>
              </c:strCache>
            </c:strRef>
          </c:tx>
          <c:spPr>
            <a:solidFill>
              <a:srgbClr val="E8942A"/>
            </a:solidFill>
            <a:effectLst/>
          </c:spPr>
          <c:invertIfNegative val="0"/>
          <c:dLbls>
            <c:numFmt formatCode="#,##0" sourceLinked="0"/>
            <c:txPr>
              <a:bodyPr/>
              <a:lstStyle/>
              <a:p>
                <a:pPr>
                  <a:defRPr b="1" i="0" strike="noStrike" sz="1600" u="none">
                    <a:solidFill>
                      <a:srgbClr val="0E1B2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Already committed</c:v>
                  </c:pt>
                  <c:pt idx="1">
                    <c:v>Pending requests</c:v>
                  </c:pt>
                </c:lvl>
              </c:multiLvlStrCache>
            </c:multiLvlStrRef>
          </c:cat>
          <c:val>
            <c:numRef>
              <c:f>Sheet1!$B$2:$B$3</c:f>
              <c:numCache>
                <c:formatCode>General</c:formatCode>
                <c:ptCount val="2"/>
                <c:pt idx="0">
                  <c:v>1500</c:v>
                </c:pt>
                <c:pt idx="1">
                  <c:v>27000</c:v>
                </c:pt>
              </c:numCache>
            </c:numRef>
          </c:val>
        </c:ser>
        <c:dLbls>
          <c:numFmt formatCode="#,##0" sourceLinked="0"/>
          <c:txPr>
            <a:bodyPr/>
            <a:lstStyle/>
            <a:p>
              <a:pPr>
                <a:defRPr b="1" i="0" strike="noStrike" sz="1600" u="none">
                  <a:solidFill>
                    <a:srgbClr val="0E1B2A"/>
                  </a:solidFill>
                  <a:latin typeface="Calibri"/>
                </a:defRPr>
              </a:pPr>
            </a:p>
          </c:txPr>
          <c:showLegendKey val="0"/>
          <c:showVal val="1"/>
          <c:showCatName val="0"/>
          <c:showSerName val="0"/>
          <c:showPercent val="0"/>
          <c:showBubbleSize val="0"/>
          <c:showLeaderLines val="0"/>
        </c:dLbls>
        <c:gapWidth val="70"/>
        <c:gapDepth val="150"/>
        <c:shape val="box"/>
        <c:axId val="2094734554"/>
        <c:axId val="2094734552"/>
        <c:axId val="2094734556"/>
      </c:bar3D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0E1B2A"/>
                </a:solidFill>
                <a:latin typeface="Calibri"/>
              </a:defRPr>
            </a:pPr>
            <a:endParaRPr lang="en-US"/>
          </a:p>
        </c:txPr>
        <c:crossAx val="2094734552"/>
        <c:crosses val="autoZero"/>
        <c:auto val="1"/>
        <c:lblAlgn val="ctr"/>
        <c:noMultiLvlLbl val="1"/>
      </c:catAx>
      <c:valAx>
        <c:axId val="2094734552"/>
        <c:scaling>
          <c:orientation val="minMax"/>
          <c:max val="33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erAx>
        <c:axId val="2094734556"/>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ser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A – SCRIPT, part 1 of 2 (say this)</a:t>
            </a:r>
          </a:p>
          <a:p>
            <a:endParaRPr lang="en-US" dirty="0"/>
          </a:p>
          <a:p>
            <a:r>
              <a:rPr lang="en-US" dirty="0"/>
              <a:t>Hi everyone. We are [A], [B] and [C]. Our topic today is AI's hidden thirst, and who pays for it.</a:t>
            </a:r>
          </a:p>
          <a:p>
            <a:endParaRPr lang="en-US" dirty="0"/>
          </a:p>
          <a:p>
            <a:r>
              <a:rPr lang="en-US" b="1" dirty="0"/>
              <a:t>[CLICK -&gt; Slide 2]</a:t>
            </a:r>
          </a:p>
          <a:p>
            <a:endParaRPr lang="en-US" dirty="0"/>
          </a:p>
          <a:p>
            <a:r>
              <a:rPr lang="en-US" dirty="0"/>
              <a:t>————————————————————</a:t>
            </a:r>
          </a:p>
          <a:p>
            <a:endParaRPr lang="en-US" dirty="0"/>
          </a:p>
          <a:p>
            <a:r>
              <a:rPr lang="en-US" b="1" dirty="0"/>
              <a:t>SLIDE 1 – title slide</a:t>
            </a:r>
          </a:p>
          <a:p>
            <a:r>
              <a:rPr lang="en-US" dirty="0"/>
              <a:t>- Before presenting: type your three names, your class and the date over the placeholders.</a:t>
            </a:r>
          </a:p>
          <a:p>
            <a:r>
              <a:rPr lang="en-US" dirty="0"/>
              <a:t>- Background: an AI-generated image made by our team: a data center in a forest, with solar panels on the roofs and steam from cooling towers (right). Not a real place.</a:t>
            </a:r>
          </a:p>
          <a:p>
            <a:r>
              <a:rPr lang="en-US" dirty="0"/>
              <a:t>- If asked about the steam: it shows water evaporating to cool the servers. That is the on-site water use we explain on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A – SCRIPT, part 2 of 2 (say this)</a:t>
            </a:r>
          </a:p>
          <a:p>
            <a:endParaRPr lang="en-US" dirty="0"/>
          </a:p>
          <a:p>
            <a:r>
              <a:rPr lang="en-US" dirty="0"/>
              <a:t>When you ask an AI chatbot a question, the work happens in huge buildings called data centers. Data centers need two things: electricity to run, and water to stay cool.</a:t>
            </a:r>
          </a:p>
          <a:p>
            <a:endParaRPr lang="en-US" dirty="0"/>
          </a:p>
          <a:p>
            <a:r>
              <a:rPr lang="en-US" dirty="0"/>
              <a:t>There are two kinds of water use. On-site: inside the building, water evaporates to cool the servers. Off-site: the power plants that make the electricity also use water. A US government lab studied the year 2023. It found that the power plants used about twelve times more water than the data centers themselves.</a:t>
            </a:r>
          </a:p>
          <a:p>
            <a:endParaRPr lang="en-US" dirty="0"/>
          </a:p>
          <a:p>
            <a:r>
              <a:rPr lang="en-US" dirty="0"/>
              <a:t>And it is growing fast. Look at our chart. Google's total water use went from 24 billion litres in 2023 to 41 billion in 2025. That is 70 percent more in two years.</a:t>
            </a:r>
          </a:p>
          <a:p>
            <a:endParaRPr lang="en-US" dirty="0"/>
          </a:p>
          <a:p>
            <a:r>
              <a:rPr lang="en-US" dirty="0"/>
              <a:t>So this is a question of sustainability. But it is also a question of social justice. The benefits of AI go to people all over the world. The impact lands on the people who live near the data center.</a:t>
            </a:r>
          </a:p>
          <a:p>
            <a:endParaRPr lang="en-US" dirty="0"/>
          </a:p>
          <a:p>
            <a:r>
              <a:rPr lang="en-US" dirty="0"/>
              <a:t>Here is an example. In 2023, Uruguay had its worst drought in 74 years. In the capital, Montevideo, the tap water turned salty. At the same time, Google planned a data center there. It would use about seven and a half million litres of water a day. People protested. After the protests, Google made the project smaller and changed to air cooling.</a:t>
            </a:r>
          </a:p>
          <a:p>
            <a:endParaRPr lang="en-US" dirty="0"/>
          </a:p>
          <a:p>
            <a:r>
              <a:rPr lang="en-US" b="1" dirty="0"/>
              <a:t>HANDOFF -&gt; "Now [B] will show you what this looks like here in Israel."</a:t>
            </a:r>
          </a:p>
          <a:p>
            <a:endParaRPr lang="en-US" dirty="0"/>
          </a:p>
          <a:p>
            <a:r>
              <a:rPr lang="en-US" dirty="0"/>
              <a:t>————————————————————</a:t>
            </a:r>
          </a:p>
          <a:p>
            <a:endParaRPr lang="en-US" dirty="0"/>
          </a:p>
          <a:p>
            <a:r>
              <a:rPr lang="en-US" b="1" dirty="0"/>
              <a:t>SLIDE 2 – talking points (full scripts and Q&amp;A: speaker-notes.txt)</a:t>
            </a:r>
          </a:p>
          <a:p>
            <a:r>
              <a:rPr lang="en-US" dirty="0"/>
              <a:t>- Background: an AI-generated image made by our team of the inside of a data center (rows of server racks). Not a real place.</a:t>
            </a:r>
          </a:p>
          <a:p>
            <a:r>
              <a:rPr lang="en-US" dirty="0"/>
              <a:t>- Data centers need water for cooling and electricity to run.</a:t>
            </a:r>
          </a:p>
          <a:p>
            <a:r>
              <a:rPr lang="en-US" dirty="0"/>
              <a:t>- ON-SITE vs OFF-SITE: US data centers used 66 billion litres on-site in 2023 and about 800 billion litres off-site (water used by the power plants). 800 / 66 ≈ 12.</a:t>
            </a:r>
          </a:p>
          <a:p>
            <a:r>
              <a:rPr lang="en-US" dirty="0"/>
              <a:t>- Google +70%: 6.4B gal = 24.2B L (2023); 8.1B gal = 30.7B L (2024); 10.9B gal = 41.3B L (2025). 41.3 / 24.2 = 1.71. Company-reported, all operations.</a:t>
            </a:r>
          </a:p>
          <a:p>
            <a:r>
              <a:rPr lang="en-US" dirty="0"/>
              <a:t>- Uruguay: 2023 drought, worst in 74 years. Montevideo tap water was mixed with salty water. Google's plan: about 7.6 million litres a day. Slogan: 'It's not drought, it's pillage.' Google made the project smaller and switched to air cooling.</a:t>
            </a:r>
          </a:p>
          <a:p>
            <a:r>
              <a:rPr lang="en-US" dirty="0"/>
              <a:t>- Careful: 'one bottle of water per question' is a misreading. The study says 500 ml per about 10–50 answers.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B – SCRIPT, part 1 of 2 (say this)</a:t>
            </a:r>
          </a:p>
          <a:p>
            <a:endParaRPr lang="en-US" dirty="0"/>
          </a:p>
          <a:p>
            <a:r>
              <a:rPr lang="en-US" dirty="0"/>
              <a:t>Thank you, [A]. Now let's look at Israel.</a:t>
            </a:r>
          </a:p>
          <a:p>
            <a:endParaRPr lang="en-US" dirty="0"/>
          </a:p>
          <a:p>
            <a:r>
              <a:rPr lang="en-US" dirty="0"/>
              <a:t>Israel is different. Most of our tap water comes from the sea, through desalination. So here, the bigger problem is electricity. Desalination and data centers both need a lot of it.</a:t>
            </a:r>
          </a:p>
          <a:p>
            <a:endParaRPr lang="en-US" dirty="0"/>
          </a:p>
          <a:p>
            <a:r>
              <a:rPr lang="en-US" dirty="0"/>
              <a:t>Look at the chart. Data centers were already promised 1,500 megawatts. That uses up all the new power planned until 2035. But new requests add up to 27,000 megawatts. That is eighteen times more, and about three times Israel's average use. So in July 2026, the Electricity Authority froze new requests for 140 days.</a:t>
            </a:r>
          </a:p>
          <a:p>
            <a:endParaRPr lang="en-US" dirty="0"/>
          </a:p>
          <a:p>
            <a:r>
              <a:rPr lang="en-US" dirty="0"/>
              <a:t>And it is close to home: there are projects in Kfar Yona, Netanya and Hadera.</a:t>
            </a:r>
          </a:p>
          <a:p>
            <a:endParaRPr lang="en-US" dirty="0"/>
          </a:p>
          <a:p>
            <a:r>
              <a:rPr lang="en-US" dirty="0"/>
              <a:t>In a shortage, who is cut first? In late August 2026, algae shut five of the six big desalination plants. Farms were cut first. Data centers did not cause this. But it shows who pays first.</a:t>
            </a:r>
          </a:p>
          <a:p>
            <a:endParaRPr lang="en-US" dirty="0"/>
          </a:p>
          <a:p>
            <a:r>
              <a:rPr lang="en-US" b="1" dirty="0"/>
              <a:t>[CLICK -&gt; Slide 4]</a:t>
            </a:r>
          </a:p>
          <a:p>
            <a:endParaRPr lang="en-US" dirty="0"/>
          </a:p>
          <a:p>
            <a:r>
              <a:rPr lang="en-US" dirty="0"/>
              <a:t>————————————————————</a:t>
            </a:r>
          </a:p>
          <a:p>
            <a:endParaRPr lang="en-US" dirty="0"/>
          </a:p>
          <a:p>
            <a:r>
              <a:rPr lang="en-US" b="1" dirty="0"/>
              <a:t>SLIDE 3 – talking points</a:t>
            </a:r>
          </a:p>
          <a:p>
            <a:r>
              <a:rPr lang="en-US" dirty="0"/>
              <a:t>- Background: an example of a large data-center campus next to farmland, with its own electricity substation (left). It is NOT in Israel; it shows what these projects look like.</a:t>
            </a:r>
          </a:p>
          <a:p>
            <a:r>
              <a:rPr lang="en-US" dirty="0"/>
              <a:t>- Chart: data-center grid demand in Israel, megawatts (2026). 1,500 MW already committed; 27,000 MW pending. 27,000 / 1,500 = 18.</a:t>
            </a:r>
          </a:p>
          <a:p>
            <a:r>
              <a:rPr lang="en-US" dirty="0"/>
              <a:t>- Desalination share: sources disagree (State Comptroller 2024: 'about half'; Times of Israel 2026: over 80%). Say 'most', not a single number.</a:t>
            </a:r>
          </a:p>
          <a:p>
            <a:r>
              <a:rPr lang="en-US" dirty="0"/>
              <a:t>- Desalination needs electricity: the State Comptroller (2024) names desalination AND data centers as drivers of 2030 electricity demand.</a:t>
            </a:r>
          </a:p>
          <a:p>
            <a:r>
              <a:rPr lang="en-US" dirty="0"/>
              <a:t>- 27,000 MW: pending data-center requests to Noga, about 3 times Israel's average electricity use. 1,500 MW already committed uses up the planned new supply to 2035 (Ctech).</a:t>
            </a:r>
          </a:p>
          <a:p>
            <a:r>
              <a:rPr lang="en-US" dirty="0"/>
              <a:t>- July 2026 freeze: the Electricity Authority stopped new data-center applications of 8 MW or more for 140 days from 21 July 2026 (until about early December).</a:t>
            </a:r>
          </a:p>
          <a:p>
            <a:r>
              <a:rPr lang="en-US" dirty="0"/>
              <a:t>- Near us: MedOne, two underground data centers in Kfar Yona (next to Lev HaSharon, not inside it), first opens 2026. NED Alpha Campus in Netanya, 42 MW, early 2027. Mega Or asked for 1,111 MW at the old Alliance factory in Hadera.</a:t>
            </a:r>
          </a:p>
          <a:p>
            <a:r>
              <a:rPr lang="en-US" dirty="0"/>
              <a:t>- Farms first: end of Aug 2026, algae shut 5 of 6 big desalination plants. The Water Authority told councils to cut farm and park irrigation. Ramat HaNegev farms lost fresh water completely. NOT caused by data centers. It shows who is cut first.</a:t>
            </a:r>
          </a:p>
          <a:p>
            <a:r>
              <a:rPr lang="en-US" dirty="0"/>
              <a:t>- Unverified: water quotas for Lev HaSharon moshavim (no public figures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B – SCRIPT, part 2 of 2 (say this)</a:t>
            </a:r>
          </a:p>
          <a:p>
            <a:endParaRPr lang="en-US" dirty="0"/>
          </a:p>
          <a:p>
            <a:r>
              <a:rPr lang="en-US" dirty="0"/>
              <a:t>Who is pushing back? SPNI, the Society for the Protection of Nature in Israel, is an NGO. It does advocacy against a new bill. The bill would let big AI server farms skip local planning committees, so neighbors lose their chance to object. In our opinion, that can become discrimination against small communities.</a:t>
            </a:r>
          </a:p>
          <a:p>
            <a:endParaRPr lang="en-US" dirty="0"/>
          </a:p>
          <a:p>
            <a:r>
              <a:rPr lang="en-US" dirty="0"/>
              <a:t>In Europe, 2023 legislation makes big data centers report their water and energy use every year. In Israel, the Water Law of 1959 says water sources are public property. But we found no Israeli regulation that makes data centers report their water use.</a:t>
            </a:r>
          </a:p>
          <a:p>
            <a:endParaRPr lang="en-US" dirty="0"/>
          </a:p>
          <a:p>
            <a:r>
              <a:rPr lang="en-US" b="1" dirty="0"/>
              <a:t>HANDOFF -&gt; "Now [C] will tell you our idea."</a:t>
            </a:r>
          </a:p>
          <a:p>
            <a:endParaRPr lang="en-US" dirty="0"/>
          </a:p>
          <a:p>
            <a:r>
              <a:rPr lang="en-US" dirty="0"/>
              <a:t>————————————————————</a:t>
            </a:r>
          </a:p>
          <a:p>
            <a:endParaRPr lang="en-US" dirty="0"/>
          </a:p>
          <a:p>
            <a:r>
              <a:rPr lang="en-US" b="1" dirty="0"/>
              <a:t>SLIDE 4 – talking points</a:t>
            </a:r>
          </a:p>
          <a:p>
            <a:r>
              <a:rPr lang="en-US" dirty="0"/>
              <a:t>- Background: an AI-generated image made by our team; not a real event. It shows residents protesting at the gate of a data center, seen from a drone.</a:t>
            </a:r>
          </a:p>
          <a:p>
            <a:r>
              <a:rPr lang="en-US" dirty="0"/>
              <a:t>- SPNI: publicly opposed the bill that makes AI server farms 'national infrastructure'. Warned of a 'destructive domino effect' on open land and energy security. Wants the status only for security, intelligence and academic use. Also active: Greenpeace Israel, Green Course.</a:t>
            </a:r>
          </a:p>
          <a:p>
            <a:r>
              <a:rPr lang="en-US" dirty="0"/>
              <a:t>- The bill: Planning and Building Law amendment. AI server farms of 50 MW or more become 'national infrastructure'. They go to the National Infrastructure Committee and skip local and district committees and their objections. Passed first reading on 1 June 2026. FINAL PASSAGE UNVERIFIED: check before presenting.</a:t>
            </a:r>
          </a:p>
          <a:p>
            <a:r>
              <a:rPr lang="en-US" dirty="0"/>
              <a:t>- Discrimination (required word): when big projects skip local committees, the people who live next door lose their voice. Critics say this is unfair and can become discrimination against small communities. We did not find proof that Israel targets poor areas on purpose.</a:t>
            </a:r>
          </a:p>
          <a:p>
            <a:r>
              <a:rPr lang="en-US" dirty="0"/>
              <a:t>- EU law: Energy Efficiency Directive (EU) 2023/1791, Article 12. Data centers with 500 kW or more of IT power must report energy and water use every year to an EU database.</a:t>
            </a:r>
          </a:p>
          <a:p>
            <a:r>
              <a:rPr lang="en-US" dirty="0"/>
              <a:t>- Water Law: Water Law 5719-1959, section 1. Water sources in Israel are public property, controlled by the State, for the needs of the residents and the development of the country.</a:t>
            </a:r>
          </a:p>
          <a:p>
            <a:r>
              <a:rPr lang="en-US" dirty="0"/>
              <a:t>- Gap: we found no Israeli rule that makes data centers publish their water or power use. Say 'we found no', not 'there is no'.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C – SCRIPT, part 1 of 3 (say this)</a:t>
            </a:r>
          </a:p>
          <a:p>
            <a:endParaRPr lang="en-US" dirty="0"/>
          </a:p>
          <a:p>
            <a:r>
              <a:rPr lang="en-US" dirty="0"/>
              <a:t>Thanks, [B]. So what would we do?</a:t>
            </a:r>
          </a:p>
          <a:p>
            <a:endParaRPr lang="en-US" dirty="0"/>
          </a:p>
          <a:p>
            <a:r>
              <a:rPr lang="en-US" dirty="0"/>
              <a:t>Our idea is simple: run AI locally. We want large language models, the AI behind chatbots like ChatGPT, to run on normal laptops and PCs.</a:t>
            </a:r>
          </a:p>
          <a:p>
            <a:endParaRPr lang="en-US" dirty="0"/>
          </a:p>
          <a:p>
            <a:r>
              <a:rPr lang="en-US" dirty="0"/>
              <a:t>How? Companies can make models smaller and more efficient. One method is quantization: it stores the model's numbers in a shorter form, so it needs much less memory. And new laptops have special AI chips that make local AI stronger.</a:t>
            </a:r>
          </a:p>
          <a:p>
            <a:endParaRPr lang="en-US" dirty="0"/>
          </a:p>
          <a:p>
            <a:r>
              <a:rPr lang="en-US" b="1" dirty="0"/>
              <a:t>[CLICK -&gt; Slide 6]</a:t>
            </a:r>
          </a:p>
          <a:p>
            <a:endParaRPr lang="en-US" dirty="0"/>
          </a:p>
          <a:p>
            <a:r>
              <a:rPr lang="en-US" dirty="0"/>
              <a:t>————————————————————</a:t>
            </a:r>
          </a:p>
          <a:p>
            <a:endParaRPr lang="en-US" dirty="0"/>
          </a:p>
          <a:p>
            <a:r>
              <a:rPr lang="en-US" b="1" dirty="0"/>
              <a:t>SLIDE 5 – our idea (Speaker C). Full original wording:</a:t>
            </a:r>
          </a:p>
          <a:p>
            <a:r>
              <a:rPr lang="en-US" dirty="0"/>
              <a:t>Run AI Locally. Our idea is simple: Make LLMs able to run on normal PCs and laptops.</a:t>
            </a:r>
          </a:p>
          <a:p>
            <a:r>
              <a:rPr lang="en-US" dirty="0"/>
              <a:t>- AI companies should optimize their models so they can run locally.</a:t>
            </a:r>
          </a:p>
          <a:p>
            <a:r>
              <a:rPr lang="en-US" dirty="0"/>
              <a:t>- People could download an LLM instead of always connecting to a data center.</a:t>
            </a:r>
          </a:p>
          <a:p>
            <a:r>
              <a:rPr lang="en-US" dirty="0"/>
              <a:t>- Companies should make models smaller and more efficient.</a:t>
            </a:r>
          </a:p>
          <a:p>
            <a:r>
              <a:rPr lang="en-US" dirty="0"/>
              <a:t>- We can use: better optimization, quantization, smaller models, better computer chips.</a:t>
            </a:r>
          </a:p>
          <a:p>
            <a:r>
              <a:rPr lang="en-US" dirty="0"/>
              <a:t>- As chips become more powerful, more AI could run locally.</a:t>
            </a:r>
          </a:p>
          <a:p>
            <a:r>
              <a:rPr lang="en-US" dirty="0"/>
              <a:t>Instead of only building bigger data centers, make AI more efficient.</a:t>
            </a:r>
          </a:p>
          <a:p>
            <a:endParaRPr lang="en-US" dirty="0"/>
          </a:p>
          <a:p>
            <a:r>
              <a:rPr lang="en-US" dirty="0"/>
              <a:t>Facts: Meta Llama 3.2 1B/3B (Sep 2024): built for phones and edge devices. QLoRA (2023): 4-bit quantization makes models much smaller. Copilot+ PCs (May 2024) have an AI chip (NPU) of 40+ TOPS to run AI locally.</a:t>
            </a:r>
          </a:p>
          <a:p>
            <a:r>
              <a:rPr lang="en-US" dirty="0"/>
              <a:t>Background: a 3D illustration of a laptop running a small AI model offline.</a:t>
            </a:r>
          </a:p>
          <a:p>
            <a:r>
              <a:rPr lang="en-US" dirty="0"/>
              <a:t>The real-world example (UGREEN HomeAgent HA100) is on the next slide.</a:t>
            </a:r>
          </a:p>
          <a:p>
            <a:r>
              <a:rPr lang="en-US" dirty="0"/>
              <a:t>Be honest if asked: a laptop's electricity also comes from power plants. The big saving comes from smaller, optimized models doing less work (Google cut energy per prompt 33x in one year by optimizing).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C – SCRIPT, part 2 of 3 (say this)</a:t>
            </a:r>
          </a:p>
          <a:p>
            <a:endParaRPr lang="en-US" dirty="0"/>
          </a:p>
          <a:p>
            <a:r>
              <a:rPr lang="en-US" dirty="0"/>
              <a:t>A real example: at IFA 2026, UGREEN showed the HomeAgent HA100, an AI box for your home. Its assistant runs an open AI model, Qwen3, at home, not in a data center. Your camera videos stay on your own drives. It should ship in early 2027.</a:t>
            </a:r>
          </a:p>
          <a:p>
            <a:endParaRPr lang="en-US" dirty="0"/>
          </a:p>
          <a:p>
            <a:r>
              <a:rPr lang="en-US" b="1" dirty="0"/>
              <a:t>[CLICK -&gt; Slide 7]</a:t>
            </a:r>
          </a:p>
          <a:p>
            <a:endParaRPr lang="en-US" dirty="0"/>
          </a:p>
          <a:p>
            <a:r>
              <a:rPr lang="en-US" dirty="0"/>
              <a:t>————————————————————</a:t>
            </a:r>
          </a:p>
          <a:p>
            <a:endParaRPr lang="en-US" dirty="0"/>
          </a:p>
          <a:p>
            <a:r>
              <a:rPr lang="en-US" b="1" dirty="0"/>
              <a:t>SLIDE 6 – real example (Speaker C)</a:t>
            </a:r>
          </a:p>
          <a:p>
            <a:r>
              <a:rPr lang="en-US" dirty="0"/>
              <a:t>- UGREEN HomeAgent HA100: a local-AI home hub shown at IFA 2026 (September 2026). Its assistant, Uliya, uses Qwen3, an open AI model from Alibaba, running on the hub itself. Cloud models such as ChatGPT are optional.</a:t>
            </a:r>
          </a:p>
          <a:p>
            <a:r>
              <a:rPr lang="en-US" dirty="0"/>
              <a:t>- It recognises people, vehicles, pets and packages in camera video, writes event summaries, and lets you search recorded video by keyword. Video is stored on the hub's own drives, with no monthly storage fee.</a:t>
            </a:r>
          </a:p>
          <a:p>
            <a:r>
              <a:rPr lang="en-US" dirty="0"/>
              <a:t>- Not on sale yet: Kickstarter campaign from 27 October 2026; shipping from late January 2027 at the earliest.</a:t>
            </a:r>
          </a:p>
          <a:p>
            <a:r>
              <a:rPr lang="en-US" dirty="0"/>
              <a:t>- Be honest if asked: UGREEN says sign-in, remote access, phone notifications, software updates and optional services still need the internet. Reports disagree on its price and AI speed, so we give no numbers.</a:t>
            </a:r>
          </a:p>
          <a:p>
            <a:r>
              <a:rPr lang="en-US" dirty="0"/>
              <a:t>- Background: the laptop scene from Slide 5, blurred. It is not a picture of the HA100.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C – SCRIPT, part 3 of 3 (say this)</a:t>
            </a:r>
          </a:p>
          <a:p>
            <a:endParaRPr lang="en-US" dirty="0"/>
          </a:p>
          <a:p>
            <a:r>
              <a:rPr lang="en-US" dirty="0"/>
              <a:t>Here is our plan. One: AI companies should release local versions of their models. Two: they should optimize their models, not just make them bigger. Three: data centers should stay for training and for the biggest models.</a:t>
            </a:r>
          </a:p>
          <a:p>
            <a:endParaRPr lang="en-US" dirty="0"/>
          </a:p>
          <a:p>
            <a:r>
              <a:rPr lang="en-US" dirty="0"/>
              <a:t>This policy reform could mean fewer new data centers: less water, less land, and more privacy, because your data stays on your computer.</a:t>
            </a:r>
          </a:p>
          <a:p>
            <a:endParaRPr lang="en-US" dirty="0"/>
          </a:p>
          <a:p>
            <a:r>
              <a:rPr lang="en-US" dirty="0"/>
              <a:t>To be honest, a laptop also uses power-plant electricity. The real saving comes from smaller, smarter models.</a:t>
            </a:r>
          </a:p>
          <a:p>
            <a:endParaRPr lang="en-US" dirty="0"/>
          </a:p>
          <a:p>
            <a:r>
              <a:rPr lang="en-US" dirty="0"/>
              <a:t>Our awareness idea is an "AI label", like a food label. It shows how much water and power an AI tool uses.</a:t>
            </a:r>
          </a:p>
          <a:p>
            <a:endParaRPr lang="en-US" dirty="0"/>
          </a:p>
          <a:p>
            <a:r>
              <a:rPr lang="en-US" dirty="0"/>
              <a:t>This way, AI can keep growing without one community paying the price. So our message is: Don't just build bigger data centers. Make AI smarter and more efficient.</a:t>
            </a:r>
          </a:p>
          <a:p>
            <a:endParaRPr lang="en-US" dirty="0"/>
          </a:p>
          <a:p>
            <a:r>
              <a:rPr lang="en-US" dirty="0"/>
              <a:t>Thank you. Any questions?</a:t>
            </a:r>
          </a:p>
          <a:p>
            <a:endParaRPr lang="en-US" dirty="0"/>
          </a:p>
          <a:p>
            <a:r>
              <a:rPr lang="en-US" dirty="0"/>
              <a:t>————————————————————</a:t>
            </a:r>
          </a:p>
          <a:p>
            <a:endParaRPr lang="en-US" dirty="0"/>
          </a:p>
          <a:p>
            <a:r>
              <a:rPr lang="en-US" b="1" dirty="0"/>
              <a:t>SLIDE 7 – our plan and message (Speaker C). Full original wording:</a:t>
            </a:r>
          </a:p>
          <a:p>
            <a:r>
              <a:rPr lang="en-US" dirty="0"/>
              <a:t>What Would We Do? Our plan:</a:t>
            </a:r>
          </a:p>
          <a:p>
            <a:r>
              <a:rPr lang="en-US" dirty="0"/>
              <a:t>1. AI companies should make local versions of their LLMs.</a:t>
            </a:r>
          </a:p>
          <a:p>
            <a:r>
              <a:rPr lang="en-US" dirty="0"/>
              <a:t>2. These models should work on normal PCs and laptops whenever possible.</a:t>
            </a:r>
          </a:p>
          <a:p>
            <a:r>
              <a:rPr lang="en-US" dirty="0"/>
              <a:t>3. Companies should focus on optimization instead of just making models bigger.</a:t>
            </a:r>
          </a:p>
          <a:p>
            <a:r>
              <a:rPr lang="en-US" dirty="0"/>
              <a:t>4. New chips can gradually make local AI more powerful.</a:t>
            </a:r>
          </a:p>
          <a:p>
            <a:r>
              <a:rPr lang="en-US" dirty="0"/>
              <a:t>5. Data centers can still be used for extremely large models and training.</a:t>
            </a:r>
          </a:p>
          <a:p>
            <a:r>
              <a:rPr lang="en-US" dirty="0"/>
              <a:t>Possible benefits: less need for new data centers; less land used for AI infrastructure; potentially less water needed for cooling; more AI can run directly on people's computers; more privacy and control for users.</a:t>
            </a:r>
          </a:p>
          <a:p>
            <a:r>
              <a:rPr lang="en-US" dirty="0"/>
              <a:t>Our message: Don't just build bigger data centers. Make AI smarter and more efficient.</a:t>
            </a:r>
          </a:p>
          <a:p>
            <a:endParaRPr lang="en-US" dirty="0"/>
          </a:p>
          <a:p>
            <a:r>
              <a:rPr lang="en-US" dirty="0"/>
              <a:t>Background: an AI-generated image made by our team: a low-power AI chip (NPU) in front of rows of data-center servers. The chip's label and numbers are part of the illustration, not a real product.</a:t>
            </a:r>
          </a:p>
          <a:p>
            <a:r>
              <a:rPr lang="en-US" dirty="0"/>
              <a:t>Awareness idea: an 'AI label' (like a food label) showing how much water and electricity an AI tool uses, with the source and year.</a:t>
            </a:r>
          </a:p>
          <a:p>
            <a:r>
              <a:rPr lang="en-US" dirty="0"/>
              <a:t>Likely question: 'How do you make companies do this?' Answer: public pressure and awareness, plus reporting laws like the EU rule, which make water and power use visible.</a:t>
            </a:r>
          </a:p>
          <a:p>
            <a:r>
              <a:rPr lang="en-US" dirty="0"/>
              <a:t>Be honest: training still needs data centers, and local AI still uses electricity. The benefit comes from smaller, more efficient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image-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3-image-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640080" y="411480"/>
            <a:ext cx="8686800" cy="2148840"/>
          </a:xfrm>
          <a:prstGeom prst="rect">
            <a:avLst/>
          </a:prstGeom>
          <a:noFill/>
          <a:ln/>
          <a:effectLst>
            <a:outerShdw sx="100000" sy="100000" kx="0" ky="0" algn="bl" rotWithShape="0" blurRad="101600" dist="25400" dir="5400000">
              <a:srgbClr val="000000">
                <a:alpha val="55000"/>
              </a:srgbClr>
            </a:outerShdw>
          </a:effectLst>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AI’s Hidden Thirst:</a:t>
            </a:r>
            <a:endParaRPr lang="en-US" sz="6000" dirty="0"/>
          </a:p>
          <a:p>
            <a:pPr indent="0" marL="0">
              <a:buNone/>
            </a:pPr>
            <a:r>
              <a:rPr lang="en-US" sz="6000" b="1" dirty="0">
                <a:solidFill>
                  <a:srgbClr val="F2A33A"/>
                </a:solidFill>
                <a:latin typeface="Cambria" pitchFamily="34" charset="0"/>
                <a:ea typeface="Cambria" pitchFamily="34" charset="-122"/>
                <a:cs typeface="Cambria" pitchFamily="34" charset="-120"/>
              </a:rPr>
              <a:t>Who Pays?</a:t>
            </a:r>
            <a:endParaRPr lang="en-US" sz="6000" dirty="0"/>
          </a:p>
        </p:txBody>
      </p:sp>
      <p:sp>
        <p:nvSpPr>
          <p:cNvPr id="3" name="Shape 1"/>
          <p:cNvSpPr/>
          <p:nvPr/>
        </p:nvSpPr>
        <p:spPr>
          <a:xfrm>
            <a:off x="676656" y="5230368"/>
            <a:ext cx="1463040" cy="64008"/>
          </a:xfrm>
          <a:prstGeom prst="rect">
            <a:avLst/>
          </a:prstGeom>
          <a:solidFill>
            <a:srgbClr val="F2A33A"/>
          </a:solidFill>
          <a:ln w="12700">
            <a:solidFill>
              <a:srgbClr val="F2A33A"/>
            </a:solidFill>
            <a:prstDash val="solid"/>
          </a:ln>
        </p:spPr>
      </p:sp>
      <p:sp>
        <p:nvSpPr>
          <p:cNvPr id="4" name="names"/>
          <p:cNvSpPr txBox="1"/>
          <p:nvPr/>
        </p:nvSpPr>
        <p:spPr>
          <a:xfrm>
            <a:off x="640080" y="5394960"/>
            <a:ext cx="8686800" cy="502920"/>
          </a:xfrm>
          <a:prstGeom prst="rect">
            <a:avLst/>
          </a:prstGeom>
          <a:noFill/>
          <a:ln/>
          <a:effectLst>
            <a:outerShdw sx="100000" sy="100000" kx="0" ky="0" algn="bl" rotWithShape="0" blurRad="101600" dist="25400" dir="5400000">
              <a:srgbClr val="000000">
                <a:alpha val="55000"/>
              </a:srgbClr>
            </a:outerShdw>
          </a:effectLst>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[Name A]  ·  [Name B]  ·  [Name C]</a:t>
            </a:r>
            <a:endParaRPr lang="en-US" sz="2600" dirty="0"/>
          </a:p>
        </p:txBody>
      </p:sp>
      <p:sp>
        <p:nvSpPr>
          <p:cNvPr id="5" name="class-date"/>
          <p:cNvSpPr txBox="1"/>
          <p:nvPr/>
        </p:nvSpPr>
        <p:spPr>
          <a:xfrm>
            <a:off x="640080" y="5943600"/>
            <a:ext cx="8686800" cy="457200"/>
          </a:xfrm>
          <a:prstGeom prst="rect">
            <a:avLst/>
          </a:prstGeom>
          <a:noFill/>
          <a:ln/>
          <a:effectLst>
            <a:outerShdw sx="100000" sy="100000" kx="0" ky="0" algn="bl" rotWithShape="0" blurRad="101600" dist="25400" dir="5400000">
              <a:srgbClr val="000000">
                <a:alpha val="55000"/>
              </a:srgbClr>
            </a:outerShdw>
          </a:effectLst>
        </p:spPr>
        <p:txBody>
          <a:bodyPr wrap="square" lIns="0" tIns="0" rIns="0" bIns="0" rtlCol="0" anchor="t"/>
          <a:lstStyle/>
          <a:p>
            <a:pPr indent="0" marL="0">
              <a:buNone/>
            </a:pPr>
            <a:r>
              <a:rPr lang="en-US" sz="2200" dirty="0">
                <a:solidFill>
                  <a:srgbClr val="E3EBF1"/>
                </a:solidFill>
                <a:latin typeface="Calibri" pitchFamily="34" charset="0"/>
                <a:ea typeface="Calibri" pitchFamily="34" charset="-122"/>
                <a:cs typeface="Calibri" pitchFamily="34" charset="-120"/>
              </a:rPr>
              <a:t>English class  ·  [Class]  ·  [Date]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AI’s Hidden Thirst: Who Pays?</a:t>
            </a:r>
            <a:endParaRPr lang="en-US" sz="4600" dirty="0"/>
          </a:p>
        </p:txBody>
      </p:sp>
      <p:sp>
        <p:nvSpPr>
          <p:cNvPr id="3" name="kicker"/>
          <p:cNvSpPr txBox="1"/>
          <p:nvPr/>
        </p:nvSpPr>
        <p:spPr>
          <a:xfrm>
            <a:off x="548640" y="1298448"/>
            <a:ext cx="11064240" cy="457200"/>
          </a:xfrm>
          <a:prstGeom prst="rect">
            <a:avLst/>
          </a:prstGeom>
          <a:noFill/>
          <a:ln/>
        </p:spPr>
        <p:txBody>
          <a:bodyPr wrap="square" lIns="0" tIns="0" rIns="0" bIns="0" rtlCol="0" anchor="t"/>
          <a:lstStyle/>
          <a:p>
            <a:pPr indent="0" marL="0">
              <a:buNone/>
            </a:pPr>
            <a:r>
              <a:rPr lang="en-US" sz="2200" i="1" dirty="0">
                <a:solidFill>
                  <a:srgbClr val="F2A33A"/>
                </a:solidFill>
                <a:latin typeface="Calibri" pitchFamily="34" charset="0"/>
                <a:ea typeface="Calibri" pitchFamily="34" charset="-122"/>
                <a:cs typeface="Calibri" pitchFamily="34" charset="-120"/>
              </a:rPr>
              <a:t>A social justice question: who carries AI’s impact?</a:t>
            </a:r>
            <a:endParaRPr lang="en-US" sz="2200" dirty="0"/>
          </a:p>
        </p:txBody>
      </p:sp>
      <p:sp>
        <p:nvSpPr>
          <p:cNvPr id="4" name="body"/>
          <p:cNvSpPr txBox="1"/>
          <p:nvPr/>
        </p:nvSpPr>
        <p:spPr>
          <a:xfrm>
            <a:off x="548640" y="2148840"/>
            <a:ext cx="6035040" cy="3931920"/>
          </a:xfrm>
          <a:prstGeom prst="rect">
            <a:avLst/>
          </a:prstGeom>
          <a:noFill/>
          <a:ln/>
        </p:spPr>
        <p:txBody>
          <a:bodyPr wrap="square" lIns="0" tIns="0" rIns="0" bIns="0" rtlCol="0" anchor="t"/>
          <a:lstStyle/>
          <a:p>
            <a:pPr marL="279400" indent="-279400">
              <a:spcAft>
                <a:spcPts val="1600"/>
              </a:spcAft>
              <a:buSzPct val="100000"/>
              <a:buChar char="•"/>
            </a:pPr>
            <a:r>
              <a:rPr lang="en-US" sz="2200" dirty="0">
                <a:solidFill>
                  <a:srgbClr val="E3EBF1"/>
                </a:solidFill>
                <a:latin typeface="Calibri" pitchFamily="34" charset="0"/>
                <a:ea typeface="Calibri" pitchFamily="34" charset="-122"/>
                <a:cs typeface="Calibri" pitchFamily="34" charset="-120"/>
              </a:rPr>
              <a:t>AI data centers run on water </a:t>
            </a:r>
            <a:r>
              <a:rPr lang="en-US" sz="2200" b="1" dirty="0">
                <a:solidFill>
                  <a:srgbClr val="F2A33A"/>
                </a:solidFill>
                <a:latin typeface="Calibri" pitchFamily="34" charset="0"/>
                <a:ea typeface="Calibri" pitchFamily="34" charset="-122"/>
                <a:cs typeface="Calibri" pitchFamily="34" charset="-120"/>
              </a:rPr>
              <a:t>and</a:t>
            </a:r>
            <a:r>
              <a:rPr lang="en-US" sz="2200" dirty="0">
                <a:solidFill>
                  <a:srgbClr val="E3EBF1"/>
                </a:solidFill>
                <a:latin typeface="Calibri" pitchFamily="34" charset="0"/>
                <a:ea typeface="Calibri" pitchFamily="34" charset="-122"/>
                <a:cs typeface="Calibri" pitchFamily="34" charset="-120"/>
              </a:rPr>
              <a:t> power</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On-site: </a:t>
            </a:r>
            <a:r>
              <a:rPr lang="en-US" sz="2200" dirty="0">
                <a:solidFill>
                  <a:srgbClr val="E3EBF1"/>
                </a:solidFill>
                <a:latin typeface="Calibri" pitchFamily="34" charset="0"/>
                <a:ea typeface="Calibri" pitchFamily="34" charset="-122"/>
                <a:cs typeface="Calibri" pitchFamily="34" charset="-120"/>
              </a:rPr>
              <a:t>water evaporates to cool servers</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Off-site: </a:t>
            </a:r>
            <a:r>
              <a:rPr lang="en-US" sz="2200" dirty="0">
                <a:solidFill>
                  <a:srgbClr val="E3EBF1"/>
                </a:solidFill>
                <a:latin typeface="Calibri" pitchFamily="34" charset="0"/>
                <a:ea typeface="Calibri" pitchFamily="34" charset="-122"/>
                <a:cs typeface="Calibri" pitchFamily="34" charset="-120"/>
              </a:rPr>
              <a:t>US power plants use about </a:t>
            </a:r>
            <a:r>
              <a:rPr lang="en-US" sz="2200" b="1" dirty="0">
                <a:solidFill>
                  <a:srgbClr val="F2A33A"/>
                </a:solidFill>
                <a:latin typeface="Calibri" pitchFamily="34" charset="0"/>
                <a:ea typeface="Calibri" pitchFamily="34" charset="-122"/>
                <a:cs typeface="Calibri" pitchFamily="34" charset="-120"/>
              </a:rPr>
              <a:t>12× more</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Uruguay 2023: </a:t>
            </a:r>
            <a:r>
              <a:rPr lang="en-US" sz="2200" dirty="0">
                <a:solidFill>
                  <a:srgbClr val="E3EBF1"/>
                </a:solidFill>
                <a:latin typeface="Calibri" pitchFamily="34" charset="0"/>
                <a:ea typeface="Calibri" pitchFamily="34" charset="-122"/>
                <a:cs typeface="Calibri" pitchFamily="34" charset="-120"/>
              </a:rPr>
              <a:t>drought, salty tap water, protests</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Result: </a:t>
            </a:r>
            <a:r>
              <a:rPr lang="en-US" sz="2200" dirty="0">
                <a:solidFill>
                  <a:srgbClr val="E3EBF1"/>
                </a:solidFill>
                <a:latin typeface="Calibri" pitchFamily="34" charset="0"/>
                <a:ea typeface="Calibri" pitchFamily="34" charset="-122"/>
                <a:cs typeface="Calibri" pitchFamily="34" charset="-120"/>
              </a:rPr>
              <a:t>Google switched its plan to air cooling</a:t>
            </a:r>
            <a:endParaRPr lang="en-US" sz="2200" dirty="0"/>
          </a:p>
        </p:txBody>
      </p:sp>
      <p:sp>
        <p:nvSpPr>
          <p:cNvPr id="5" name="Shape 3"/>
          <p:cNvSpPr/>
          <p:nvPr/>
        </p:nvSpPr>
        <p:spPr>
          <a:xfrm>
            <a:off x="7543800" y="2011680"/>
            <a:ext cx="4206240" cy="4069080"/>
          </a:xfrm>
          <a:prstGeom prst="roundRect">
            <a:avLst>
              <a:gd name="adj" fmla="val 2697"/>
            </a:avLst>
          </a:prstGeom>
          <a:solidFill>
            <a:srgbClr val="FFFFFF">
              <a:alpha val="92000"/>
            </a:srgbClr>
          </a:solidFill>
          <a:ln w="12700">
            <a:solidFill>
              <a:srgbClr val="FFFFFF">
                <a:alpha val="0"/>
              </a:srgbClr>
            </a:solidFill>
            <a:prstDash val="solid"/>
          </a:ln>
        </p:spPr>
      </p:sp>
      <p:sp>
        <p:nvSpPr>
          <p:cNvPr id="6" name="chart-title"/>
          <p:cNvSpPr txBox="1"/>
          <p:nvPr/>
        </p:nvSpPr>
        <p:spPr>
          <a:xfrm>
            <a:off x="7772400" y="2148840"/>
            <a:ext cx="3749040" cy="777240"/>
          </a:xfrm>
          <a:prstGeom prst="rect">
            <a:avLst/>
          </a:prstGeom>
          <a:noFill/>
          <a:ln/>
        </p:spPr>
        <p:txBody>
          <a:bodyPr wrap="square" lIns="0" tIns="0" rIns="0" bIns="0" rtlCol="0" anchor="t"/>
          <a:lstStyle/>
          <a:p>
            <a:pPr indent="0" marL="0">
              <a:buNone/>
            </a:pPr>
            <a:r>
              <a:rPr lang="en-US" sz="2100" b="1" dirty="0">
                <a:solidFill>
                  <a:srgbClr val="0E1B2A"/>
                </a:solidFill>
                <a:latin typeface="Calibri" pitchFamily="34" charset="0"/>
                <a:ea typeface="Calibri" pitchFamily="34" charset="-122"/>
                <a:cs typeface="Calibri" pitchFamily="34" charset="-120"/>
              </a:rPr>
              <a:t>Google’s water use rose 70%</a:t>
            </a:r>
            <a:endParaRPr lang="en-US" sz="2100" dirty="0"/>
          </a:p>
          <a:p>
            <a:pPr indent="0" marL="0">
              <a:buNone/>
            </a:pPr>
            <a:r>
              <a:rPr lang="en-US" sz="2100" b="1" dirty="0">
                <a:solidFill>
                  <a:srgbClr val="0E1B2A"/>
                </a:solidFill>
                <a:latin typeface="Calibri" pitchFamily="34" charset="0"/>
                <a:ea typeface="Calibri" pitchFamily="34" charset="-122"/>
                <a:cs typeface="Calibri" pitchFamily="34" charset="-120"/>
              </a:rPr>
              <a:t>in two years</a:t>
            </a:r>
            <a:endParaRPr lang="en-US" sz="2100" dirty="0"/>
          </a:p>
        </p:txBody>
      </p:sp>
      <p:sp>
        <p:nvSpPr>
          <p:cNvPr id="7" name="caption-chart"/>
          <p:cNvSpPr txBox="1"/>
          <p:nvPr/>
        </p:nvSpPr>
        <p:spPr>
          <a:xfrm>
            <a:off x="7772400" y="2926080"/>
            <a:ext cx="3749040" cy="274320"/>
          </a:xfrm>
          <a:prstGeom prst="rect">
            <a:avLst/>
          </a:prstGeom>
          <a:noFill/>
          <a:ln/>
        </p:spPr>
        <p:txBody>
          <a:bodyPr wrap="square" lIns="0" tIns="0" rIns="0" bIns="0" rtlCol="0" anchor="t"/>
          <a:lstStyle/>
          <a:p>
            <a:pPr indent="0" marL="0">
              <a:buNone/>
            </a:pPr>
            <a:r>
              <a:rPr lang="en-US" sz="1100" dirty="0">
                <a:solidFill>
                  <a:srgbClr val="4A5A68"/>
                </a:solidFill>
                <a:latin typeface="Calibri" pitchFamily="34" charset="0"/>
                <a:ea typeface="Calibri" pitchFamily="34" charset="-122"/>
                <a:cs typeface="Calibri" pitchFamily="34" charset="-120"/>
              </a:rPr>
              <a:t>Billion litres · all Google operations · company-reported</a:t>
            </a:r>
            <a:endParaRPr lang="en-US" sz="1100" dirty="0"/>
          </a:p>
        </p:txBody>
      </p:sp>
      <p:graphicFrame>
        <p:nvGraphicFramePr>
          <p:cNvPr id="8" name="Chart 0" descr=""/>
          <p:cNvGraphicFramePr/>
          <p:nvPr/>
        </p:nvGraphicFramePr>
        <p:xfrm>
          <a:off x="7635240" y="3154680"/>
          <a:ext cx="4023360" cy="28346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Israel &amp; Lev HaSharon: The Power Problem</a:t>
            </a:r>
            <a:endParaRPr lang="en-US" sz="4000" dirty="0"/>
          </a:p>
        </p:txBody>
      </p:sp>
      <p:sp>
        <p:nvSpPr>
          <p:cNvPr id="3" name="body"/>
          <p:cNvSpPr txBox="1"/>
          <p:nvPr/>
        </p:nvSpPr>
        <p:spPr>
          <a:xfrm>
            <a:off x="548640" y="1417320"/>
            <a:ext cx="5943600" cy="4480560"/>
          </a:xfrm>
          <a:prstGeom prst="rect">
            <a:avLst/>
          </a:prstGeom>
          <a:noFill/>
          <a:ln/>
        </p:spPr>
        <p:txBody>
          <a:bodyPr wrap="square" lIns="0" tIns="0" rIns="0" bIns="0" rtlCol="0" anchor="t"/>
          <a:lstStyle/>
          <a:p>
            <a:pPr marL="279400" indent="-279400">
              <a:spcAft>
                <a:spcPts val="1300"/>
              </a:spcAft>
              <a:buSzPct val="100000"/>
              <a:buChar char="•"/>
            </a:pPr>
            <a:r>
              <a:rPr lang="en-US" sz="2100" dirty="0">
                <a:solidFill>
                  <a:srgbClr val="E3EBF1"/>
                </a:solidFill>
                <a:latin typeface="Calibri" pitchFamily="34" charset="0"/>
                <a:ea typeface="Calibri" pitchFamily="34" charset="-122"/>
                <a:cs typeface="Calibri" pitchFamily="34" charset="-120"/>
              </a:rPr>
              <a:t>Most of our tap water is </a:t>
            </a:r>
            <a:r>
              <a:rPr lang="en-US" sz="2100" b="1" dirty="0">
                <a:solidFill>
                  <a:srgbClr val="8FD3E8"/>
                </a:solidFill>
                <a:latin typeface="Calibri" pitchFamily="34" charset="0"/>
                <a:ea typeface="Calibri" pitchFamily="34" charset="-122"/>
                <a:cs typeface="Calibri" pitchFamily="34" charset="-120"/>
              </a:rPr>
              <a:t>desalinated</a:t>
            </a:r>
            <a:endParaRPr lang="en-US" sz="2100" dirty="0"/>
          </a:p>
          <a:p>
            <a:pPr marL="279400" indent="-279400">
              <a:spcAft>
                <a:spcPts val="1300"/>
              </a:spcAft>
              <a:buSzPct val="100000"/>
              <a:buChar char="•"/>
            </a:pPr>
            <a:r>
              <a:rPr lang="en-US" sz="2100" dirty="0">
                <a:solidFill>
                  <a:srgbClr val="E3EBF1"/>
                </a:solidFill>
                <a:latin typeface="Calibri" pitchFamily="34" charset="0"/>
                <a:ea typeface="Calibri" pitchFamily="34" charset="-122"/>
                <a:cs typeface="Calibri" pitchFamily="34" charset="-120"/>
              </a:rPr>
              <a:t>Desalination needs </a:t>
            </a:r>
            <a:r>
              <a:rPr lang="en-US" sz="2100" b="1" dirty="0">
                <a:solidFill>
                  <a:srgbClr val="FFFFFF"/>
                </a:solidFill>
                <a:latin typeface="Calibri" pitchFamily="34" charset="0"/>
                <a:ea typeface="Calibri" pitchFamily="34" charset="-122"/>
                <a:cs typeface="Calibri" pitchFamily="34" charset="-120"/>
              </a:rPr>
              <a:t>a lot of electricity</a:t>
            </a:r>
            <a:endParaRPr lang="en-US" sz="2100" dirty="0"/>
          </a:p>
          <a:p>
            <a:pPr marL="279400" indent="-279400">
              <a:spcAft>
                <a:spcPts val="1300"/>
              </a:spcAft>
              <a:buSzPct val="100000"/>
              <a:buChar char="•"/>
            </a:pPr>
            <a:r>
              <a:rPr lang="en-US" sz="2100" dirty="0">
                <a:solidFill>
                  <a:srgbClr val="E3EBF1"/>
                </a:solidFill>
                <a:latin typeface="Calibri" pitchFamily="34" charset="0"/>
                <a:ea typeface="Calibri" pitchFamily="34" charset="-122"/>
                <a:cs typeface="Calibri" pitchFamily="34" charset="-120"/>
              </a:rPr>
              <a:t>Data centers requested </a:t>
            </a:r>
            <a:r>
              <a:rPr lang="en-US" sz="2100" b="1" dirty="0">
                <a:solidFill>
                  <a:srgbClr val="F2A33A"/>
                </a:solidFill>
                <a:latin typeface="Calibri" pitchFamily="34" charset="0"/>
                <a:ea typeface="Calibri" pitchFamily="34" charset="-122"/>
                <a:cs typeface="Calibri" pitchFamily="34" charset="-120"/>
              </a:rPr>
              <a:t>27,000 MW</a:t>
            </a:r>
            <a:r>
              <a:rPr lang="en-US" sz="2100" dirty="0">
                <a:solidFill>
                  <a:srgbClr val="E3EBF1"/>
                </a:solidFill>
                <a:latin typeface="Calibri" pitchFamily="34" charset="0"/>
                <a:ea typeface="Calibri" pitchFamily="34" charset="-122"/>
                <a:cs typeface="Calibri" pitchFamily="34" charset="-120"/>
              </a:rPr>
              <a:t> (≈3× average)</a:t>
            </a:r>
            <a:endParaRPr lang="en-US" sz="2100" dirty="0"/>
          </a:p>
          <a:p>
            <a:pPr marL="279400" indent="-279400">
              <a:spcAft>
                <a:spcPts val="1300"/>
              </a:spcAft>
              <a:buSzPct val="100000"/>
              <a:buChar char="•"/>
            </a:pPr>
            <a:r>
              <a:rPr lang="en-US" sz="2100" b="1" dirty="0">
                <a:solidFill>
                  <a:srgbClr val="FFFFFF"/>
                </a:solidFill>
                <a:latin typeface="Calibri" pitchFamily="34" charset="0"/>
                <a:ea typeface="Calibri" pitchFamily="34" charset="-122"/>
                <a:cs typeface="Calibri" pitchFamily="34" charset="-120"/>
              </a:rPr>
              <a:t>July 2026: </a:t>
            </a:r>
            <a:r>
              <a:rPr lang="en-US" sz="2100" dirty="0">
                <a:solidFill>
                  <a:srgbClr val="E3EBF1"/>
                </a:solidFill>
                <a:latin typeface="Calibri" pitchFamily="34" charset="0"/>
                <a:ea typeface="Calibri" pitchFamily="34" charset="-122"/>
                <a:cs typeface="Calibri" pitchFamily="34" charset="-120"/>
              </a:rPr>
              <a:t>regulator froze new connections</a:t>
            </a:r>
            <a:endParaRPr lang="en-US" sz="2100" dirty="0"/>
          </a:p>
          <a:p>
            <a:pPr marL="279400" indent="-279400">
              <a:spcAft>
                <a:spcPts val="1300"/>
              </a:spcAft>
              <a:buSzPct val="100000"/>
              <a:buChar char="•"/>
            </a:pPr>
            <a:r>
              <a:rPr lang="en-US" sz="2100" b="1" dirty="0">
                <a:solidFill>
                  <a:srgbClr val="FFFFFF"/>
                </a:solidFill>
                <a:latin typeface="Calibri" pitchFamily="34" charset="0"/>
                <a:ea typeface="Calibri" pitchFamily="34" charset="-122"/>
                <a:cs typeface="Calibri" pitchFamily="34" charset="-120"/>
              </a:rPr>
              <a:t>Near us: </a:t>
            </a:r>
            <a:r>
              <a:rPr lang="en-US" sz="2100" dirty="0">
                <a:solidFill>
                  <a:srgbClr val="E3EBF1"/>
                </a:solidFill>
                <a:latin typeface="Calibri" pitchFamily="34" charset="0"/>
                <a:ea typeface="Calibri" pitchFamily="34" charset="-122"/>
                <a:cs typeface="Calibri" pitchFamily="34" charset="-120"/>
              </a:rPr>
              <a:t>Kfar Yona, Netanya, Hadera projects</a:t>
            </a:r>
            <a:endParaRPr lang="en-US" sz="2100" dirty="0"/>
          </a:p>
          <a:p>
            <a:pPr marL="279400" indent="-279400">
              <a:spcAft>
                <a:spcPts val="1300"/>
              </a:spcAft>
              <a:buSzPct val="100000"/>
              <a:buChar char="•"/>
            </a:pPr>
            <a:r>
              <a:rPr lang="en-US" sz="2100" b="1" dirty="0">
                <a:solidFill>
                  <a:srgbClr val="FFFFFF"/>
                </a:solidFill>
                <a:latin typeface="Calibri" pitchFamily="34" charset="0"/>
                <a:ea typeface="Calibri" pitchFamily="34" charset="-122"/>
                <a:cs typeface="Calibri" pitchFamily="34" charset="-120"/>
              </a:rPr>
              <a:t>2026 water shortage: </a:t>
            </a:r>
            <a:r>
              <a:rPr lang="en-US" sz="2100" dirty="0">
                <a:solidFill>
                  <a:srgbClr val="E3EBF1"/>
                </a:solidFill>
                <a:latin typeface="Calibri" pitchFamily="34" charset="0"/>
                <a:ea typeface="Calibri" pitchFamily="34" charset="-122"/>
                <a:cs typeface="Calibri" pitchFamily="34" charset="-120"/>
              </a:rPr>
              <a:t>farms were cut first</a:t>
            </a:r>
            <a:endParaRPr lang="en-US" sz="2100" dirty="0"/>
          </a:p>
        </p:txBody>
      </p:sp>
      <p:sp>
        <p:nvSpPr>
          <p:cNvPr id="4" name="Shape 2"/>
          <p:cNvSpPr/>
          <p:nvPr/>
        </p:nvSpPr>
        <p:spPr>
          <a:xfrm>
            <a:off x="7406640" y="1280160"/>
            <a:ext cx="4343400" cy="2560320"/>
          </a:xfrm>
          <a:prstGeom prst="roundRect">
            <a:avLst>
              <a:gd name="adj" fmla="val 4286"/>
            </a:avLst>
          </a:prstGeom>
          <a:solidFill>
            <a:srgbClr val="FFFFFF">
              <a:alpha val="92000"/>
            </a:srgbClr>
          </a:solidFill>
          <a:ln w="12700">
            <a:solidFill>
              <a:srgbClr val="FFFFFF">
                <a:alpha val="0"/>
              </a:srgbClr>
            </a:solidFill>
            <a:prstDash val="solid"/>
          </a:ln>
        </p:spPr>
      </p:sp>
      <p:sp>
        <p:nvSpPr>
          <p:cNvPr id="5" name="chart-title"/>
          <p:cNvSpPr txBox="1"/>
          <p:nvPr/>
        </p:nvSpPr>
        <p:spPr>
          <a:xfrm>
            <a:off x="7635240" y="1371600"/>
            <a:ext cx="3931920" cy="658368"/>
          </a:xfrm>
          <a:prstGeom prst="rect">
            <a:avLst/>
          </a:prstGeom>
          <a:noFill/>
          <a:ln/>
        </p:spPr>
        <p:txBody>
          <a:bodyPr wrap="square" lIns="0" tIns="0" rIns="0" bIns="0" rtlCol="0" anchor="t"/>
          <a:lstStyle/>
          <a:p>
            <a:pPr indent="0" marL="0">
              <a:buNone/>
            </a:pPr>
            <a:r>
              <a:rPr lang="en-US" sz="2000" b="1" dirty="0">
                <a:solidFill>
                  <a:srgbClr val="0E1B2A"/>
                </a:solidFill>
                <a:latin typeface="Calibri" pitchFamily="34" charset="0"/>
                <a:ea typeface="Calibri" pitchFamily="34" charset="-122"/>
                <a:cs typeface="Calibri" pitchFamily="34" charset="-120"/>
              </a:rPr>
              <a:t>Requests are 18× what</a:t>
            </a:r>
            <a:endParaRPr lang="en-US" sz="2000" dirty="0"/>
          </a:p>
          <a:p>
            <a:pPr indent="0" marL="0">
              <a:buNone/>
            </a:pPr>
            <a:r>
              <a:rPr lang="en-US" sz="2000" b="1" dirty="0">
                <a:solidFill>
                  <a:srgbClr val="0E1B2A"/>
                </a:solidFill>
                <a:latin typeface="Calibri" pitchFamily="34" charset="0"/>
                <a:ea typeface="Calibri" pitchFamily="34" charset="-122"/>
                <a:cs typeface="Calibri" pitchFamily="34" charset="-120"/>
              </a:rPr>
              <a:t>is already promised</a:t>
            </a:r>
            <a:endParaRPr lang="en-US" sz="2000" dirty="0"/>
          </a:p>
        </p:txBody>
      </p:sp>
      <p:graphicFrame>
        <p:nvGraphicFramePr>
          <p:cNvPr id="6" name="Chart 0" descr=""/>
          <p:cNvGraphicFramePr/>
          <p:nvPr/>
        </p:nvGraphicFramePr>
        <p:xfrm>
          <a:off x="7498080" y="2011680"/>
          <a:ext cx="4206240" cy="178308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Who Is Pushing Back? NGOs &amp; Laws</a:t>
            </a:r>
            <a:endParaRPr lang="en-US" sz="4000" dirty="0"/>
          </a:p>
        </p:txBody>
      </p:sp>
      <p:sp>
        <p:nvSpPr>
          <p:cNvPr id="3" name="Shape 1"/>
          <p:cNvSpPr/>
          <p:nvPr/>
        </p:nvSpPr>
        <p:spPr>
          <a:xfrm>
            <a:off x="320040" y="1234440"/>
            <a:ext cx="4206240" cy="4983480"/>
          </a:xfrm>
          <a:prstGeom prst="roundRect">
            <a:avLst>
              <a:gd name="adj" fmla="val 2609"/>
            </a:avLst>
          </a:prstGeom>
          <a:solidFill>
            <a:srgbClr val="0B2239">
              <a:alpha val="88000"/>
            </a:srgbClr>
          </a:solidFill>
          <a:ln w="12700">
            <a:solidFill>
              <a:srgbClr val="0B2239">
                <a:alpha val="0"/>
              </a:srgbClr>
            </a:solidFill>
            <a:prstDash val="solid"/>
          </a:ln>
        </p:spPr>
      </p:sp>
      <p:sp>
        <p:nvSpPr>
          <p:cNvPr id="4" name="header"/>
          <p:cNvSpPr txBox="1"/>
          <p:nvPr/>
        </p:nvSpPr>
        <p:spPr>
          <a:xfrm>
            <a:off x="548640" y="1371600"/>
            <a:ext cx="3794760" cy="7772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NGO: SPNI</a:t>
            </a:r>
            <a:endParaRPr lang="en-US" sz="2600" dirty="0"/>
          </a:p>
          <a:p>
            <a:pPr indent="0" marL="0">
              <a:buNone/>
            </a:pPr>
            <a:r>
              <a:rPr lang="en-US" sz="1300" dirty="0">
                <a:solidFill>
                  <a:srgbClr val="A9BCCB"/>
                </a:solidFill>
                <a:latin typeface="Calibri" pitchFamily="34" charset="0"/>
                <a:ea typeface="Calibri" pitchFamily="34" charset="-122"/>
                <a:cs typeface="Calibri" pitchFamily="34" charset="-120"/>
              </a:rPr>
              <a:t>Society for the Protection of Nature in Israel</a:t>
            </a:r>
            <a:endParaRPr lang="en-US" sz="2600" dirty="0"/>
          </a:p>
        </p:txBody>
      </p:sp>
      <p:sp>
        <p:nvSpPr>
          <p:cNvPr id="5" name="body"/>
          <p:cNvSpPr txBox="1"/>
          <p:nvPr/>
        </p:nvSpPr>
        <p:spPr>
          <a:xfrm>
            <a:off x="548640" y="2194560"/>
            <a:ext cx="3840480" cy="1508760"/>
          </a:xfrm>
          <a:prstGeom prst="rect">
            <a:avLst/>
          </a:prstGeom>
          <a:noFill/>
          <a:ln/>
        </p:spPr>
        <p:txBody>
          <a:bodyPr wrap="square" lIns="0" tIns="0" rIns="0" bIns="0" rtlCol="0" anchor="t"/>
          <a:lstStyle/>
          <a:p>
            <a:pPr marL="279400" indent="-279400">
              <a:spcAft>
                <a:spcPts val="800"/>
              </a:spcAft>
              <a:buSzPct val="100000"/>
              <a:buChar char="•"/>
            </a:pPr>
            <a:r>
              <a:rPr lang="en-US" sz="2000" dirty="0">
                <a:solidFill>
                  <a:srgbClr val="E3EBF1"/>
                </a:solidFill>
                <a:latin typeface="Calibri" pitchFamily="34" charset="0"/>
                <a:ea typeface="Calibri" pitchFamily="34" charset="-122"/>
                <a:cs typeface="Calibri" pitchFamily="34" charset="-120"/>
              </a:rPr>
              <a:t>Advocacy against the AI server-farm fast-track bill</a:t>
            </a:r>
            <a:endParaRPr lang="en-US" sz="2000" dirty="0"/>
          </a:p>
          <a:p>
            <a:pPr marL="279400" indent="-279400">
              <a:spcAft>
                <a:spcPts val="800"/>
              </a:spcAft>
              <a:buSzPct val="100000"/>
              <a:buChar char="•"/>
            </a:pPr>
            <a:r>
              <a:rPr lang="en-US" sz="2000" dirty="0">
                <a:solidFill>
                  <a:srgbClr val="E3EBF1"/>
                </a:solidFill>
                <a:latin typeface="Calibri" pitchFamily="34" charset="0"/>
                <a:ea typeface="Calibri" pitchFamily="34" charset="-122"/>
                <a:cs typeface="Calibri" pitchFamily="34" charset="-120"/>
              </a:rPr>
              <a:t>The bill lets big farms skip local committees</a:t>
            </a:r>
            <a:endParaRPr lang="en-US" sz="2000" dirty="0"/>
          </a:p>
        </p:txBody>
      </p:sp>
      <p:sp>
        <p:nvSpPr>
          <p:cNvPr id="6" name="header"/>
          <p:cNvSpPr txBox="1"/>
          <p:nvPr/>
        </p:nvSpPr>
        <p:spPr>
          <a:xfrm>
            <a:off x="548640" y="3749040"/>
            <a:ext cx="37947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Legislation &amp; regulation</a:t>
            </a:r>
            <a:endParaRPr lang="en-US" sz="2200" dirty="0"/>
          </a:p>
        </p:txBody>
      </p:sp>
      <p:sp>
        <p:nvSpPr>
          <p:cNvPr id="7" name="body"/>
          <p:cNvSpPr txBox="1"/>
          <p:nvPr/>
        </p:nvSpPr>
        <p:spPr>
          <a:xfrm>
            <a:off x="548640" y="4251960"/>
            <a:ext cx="3840480" cy="1783080"/>
          </a:xfrm>
          <a:prstGeom prst="rect">
            <a:avLst/>
          </a:prstGeom>
          <a:noFill/>
          <a:ln/>
        </p:spPr>
        <p:txBody>
          <a:bodyPr wrap="square" lIns="0" tIns="0" rIns="0" bIns="0" rtlCol="0" anchor="t"/>
          <a:lstStyle/>
          <a:p>
            <a:pPr marL="279400" indent="-279400">
              <a:spcAft>
                <a:spcPts val="600"/>
              </a:spcAft>
              <a:buSzPct val="100000"/>
              <a:buChar char="•"/>
            </a:pPr>
            <a:r>
              <a:rPr lang="en-US" sz="2000" b="1" dirty="0">
                <a:solidFill>
                  <a:srgbClr val="FFFFFF"/>
                </a:solidFill>
                <a:latin typeface="Calibri" pitchFamily="34" charset="0"/>
                <a:ea typeface="Calibri" pitchFamily="34" charset="-122"/>
                <a:cs typeface="Calibri" pitchFamily="34" charset="-120"/>
              </a:rPr>
              <a:t>EU (2023): </a:t>
            </a:r>
            <a:r>
              <a:rPr lang="en-US" sz="2000" dirty="0">
                <a:solidFill>
                  <a:srgbClr val="E3EBF1"/>
                </a:solidFill>
                <a:latin typeface="Calibri" pitchFamily="34" charset="0"/>
                <a:ea typeface="Calibri" pitchFamily="34" charset="-122"/>
                <a:cs typeface="Calibri" pitchFamily="34" charset="-120"/>
              </a:rPr>
              <a:t>data centers must report water use</a:t>
            </a:r>
            <a:endParaRPr lang="en-US" sz="2000" dirty="0"/>
          </a:p>
          <a:p>
            <a:pPr marL="279400" indent="-279400">
              <a:spcAft>
                <a:spcPts val="600"/>
              </a:spcAft>
              <a:buSzPct val="100000"/>
              <a:buChar char="•"/>
            </a:pPr>
            <a:r>
              <a:rPr lang="en-US" sz="2000" b="1" dirty="0">
                <a:solidFill>
                  <a:srgbClr val="FFFFFF"/>
                </a:solidFill>
                <a:latin typeface="Calibri" pitchFamily="34" charset="0"/>
                <a:ea typeface="Calibri" pitchFamily="34" charset="-122"/>
                <a:cs typeface="Calibri" pitchFamily="34" charset="-120"/>
              </a:rPr>
              <a:t>Israel’s Water Law (1959): </a:t>
            </a:r>
            <a:r>
              <a:rPr lang="en-US" sz="2000" dirty="0">
                <a:solidFill>
                  <a:srgbClr val="E3EBF1"/>
                </a:solidFill>
                <a:latin typeface="Calibri" pitchFamily="34" charset="0"/>
                <a:ea typeface="Calibri" pitchFamily="34" charset="-122"/>
                <a:cs typeface="Calibri" pitchFamily="34" charset="-120"/>
              </a:rPr>
              <a:t>water is public</a:t>
            </a:r>
            <a:endParaRPr lang="en-US" sz="2000" dirty="0"/>
          </a:p>
          <a:p>
            <a:pPr marL="279400" indent="-279400">
              <a:spcAft>
                <a:spcPts val="600"/>
              </a:spcAft>
              <a:buSzPct val="100000"/>
              <a:buChar char="•"/>
            </a:pPr>
            <a:r>
              <a:rPr lang="en-US" sz="2000" b="1" dirty="0">
                <a:solidFill>
                  <a:srgbClr val="FFFFFF"/>
                </a:solidFill>
                <a:latin typeface="Calibri" pitchFamily="34" charset="0"/>
                <a:ea typeface="Calibri" pitchFamily="34" charset="-122"/>
                <a:cs typeface="Calibri" pitchFamily="34" charset="-120"/>
              </a:rPr>
              <a:t>Israel: </a:t>
            </a:r>
            <a:r>
              <a:rPr lang="en-US" sz="2000" dirty="0">
                <a:solidFill>
                  <a:srgbClr val="E3EBF1"/>
                </a:solidFill>
                <a:latin typeface="Calibri" pitchFamily="34" charset="0"/>
                <a:ea typeface="Calibri" pitchFamily="34" charset="-122"/>
                <a:cs typeface="Calibri" pitchFamily="34" charset="-120"/>
              </a:rPr>
              <a:t>no disclosure rule found</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4200" b="1" dirty="0">
                <a:solidFill>
                  <a:srgbClr val="0E1B2A"/>
                </a:solidFill>
                <a:latin typeface="Cambria" pitchFamily="34" charset="0"/>
                <a:ea typeface="Cambria" pitchFamily="34" charset="-122"/>
                <a:cs typeface="Cambria" pitchFamily="34" charset="-120"/>
              </a:rPr>
              <a:t>Our Idea: Run AI Locally</a:t>
            </a:r>
            <a:endParaRPr lang="en-US" sz="4200" dirty="0"/>
          </a:p>
        </p:txBody>
      </p:sp>
      <p:sp>
        <p:nvSpPr>
          <p:cNvPr id="3" name="Shape 1"/>
          <p:cNvSpPr/>
          <p:nvPr/>
        </p:nvSpPr>
        <p:spPr>
          <a:xfrm>
            <a:off x="411480" y="1325880"/>
            <a:ext cx="6355080" cy="3566160"/>
          </a:xfrm>
          <a:prstGeom prst="roundRect">
            <a:avLst>
              <a:gd name="adj" fmla="val 3077"/>
            </a:avLst>
          </a:prstGeom>
          <a:solidFill>
            <a:srgbClr val="0B2239">
              <a:alpha val="88000"/>
            </a:srgbClr>
          </a:solidFill>
          <a:ln w="12700">
            <a:solidFill>
              <a:srgbClr val="0B2239">
                <a:alpha val="0"/>
              </a:srgbClr>
            </a:solidFill>
            <a:prstDash val="solid"/>
          </a:ln>
        </p:spPr>
      </p:sp>
      <p:sp>
        <p:nvSpPr>
          <p:cNvPr id="4" name="header"/>
          <p:cNvSpPr txBox="1"/>
          <p:nvPr/>
        </p:nvSpPr>
        <p:spPr>
          <a:xfrm>
            <a:off x="685800" y="1508760"/>
            <a:ext cx="5897880" cy="457200"/>
          </a:xfrm>
          <a:prstGeom prst="rect">
            <a:avLst/>
          </a:prstGeom>
          <a:noFill/>
          <a:ln/>
        </p:spPr>
        <p:txBody>
          <a:bodyPr wrap="square" lIns="0" tIns="0" rIns="0" bIns="0" rtlCol="0" anchor="t"/>
          <a:lstStyle/>
          <a:p>
            <a:pPr indent="0" marL="0">
              <a:buNone/>
            </a:pPr>
            <a:r>
              <a:rPr lang="en-US" sz="2200" b="1" dirty="0">
                <a:solidFill>
                  <a:srgbClr val="F2A33A"/>
                </a:solidFill>
                <a:latin typeface="Calibri" pitchFamily="34" charset="0"/>
                <a:ea typeface="Calibri" pitchFamily="34" charset="-122"/>
                <a:cs typeface="Calibri" pitchFamily="34" charset="-120"/>
              </a:rPr>
              <a:t>Make LLMs run on normal PCs and laptops</a:t>
            </a:r>
            <a:endParaRPr lang="en-US" sz="2200" dirty="0"/>
          </a:p>
        </p:txBody>
      </p:sp>
      <p:sp>
        <p:nvSpPr>
          <p:cNvPr id="5" name="body"/>
          <p:cNvSpPr txBox="1"/>
          <p:nvPr/>
        </p:nvSpPr>
        <p:spPr>
          <a:xfrm>
            <a:off x="685800" y="2148840"/>
            <a:ext cx="5897880" cy="265176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E3EBF1"/>
                </a:solidFill>
                <a:latin typeface="Calibri" pitchFamily="34" charset="0"/>
                <a:ea typeface="Calibri" pitchFamily="34" charset="-122"/>
                <a:cs typeface="Calibri" pitchFamily="34" charset="-120"/>
              </a:rPr>
              <a:t>Companies make models </a:t>
            </a:r>
            <a:r>
              <a:rPr lang="en-US" sz="2100" b="1" dirty="0">
                <a:solidFill>
                  <a:srgbClr val="FFFFFF"/>
                </a:solidFill>
                <a:latin typeface="Calibri" pitchFamily="34" charset="0"/>
                <a:ea typeface="Calibri" pitchFamily="34" charset="-122"/>
                <a:cs typeface="Calibri" pitchFamily="34" charset="-120"/>
              </a:rPr>
              <a:t>smaller and more efficient</a:t>
            </a:r>
            <a:endParaRPr lang="en-US" sz="2100" dirty="0"/>
          </a:p>
          <a:p>
            <a:pPr marL="279400" indent="-279400">
              <a:spcAft>
                <a:spcPts val="1400"/>
              </a:spcAft>
              <a:buSzPct val="100000"/>
              <a:buChar char="•"/>
            </a:pPr>
            <a:r>
              <a:rPr lang="en-US" sz="2100" dirty="0">
                <a:solidFill>
                  <a:srgbClr val="E3EBF1"/>
                </a:solidFill>
                <a:latin typeface="Calibri" pitchFamily="34" charset="0"/>
                <a:ea typeface="Calibri" pitchFamily="34" charset="-122"/>
                <a:cs typeface="Calibri" pitchFamily="34" charset="-120"/>
              </a:rPr>
              <a:t>People download a model instead of the cloud</a:t>
            </a:r>
            <a:endParaRPr lang="en-US" sz="2100" dirty="0"/>
          </a:p>
          <a:p>
            <a:pPr marL="279400" indent="-279400">
              <a:spcAft>
                <a:spcPts val="1400"/>
              </a:spcAft>
              <a:buSzPct val="100000"/>
              <a:buChar char="•"/>
            </a:pPr>
            <a:r>
              <a:rPr lang="en-US" sz="2100" b="1" dirty="0">
                <a:solidFill>
                  <a:srgbClr val="FFFFFF"/>
                </a:solidFill>
                <a:latin typeface="Calibri" pitchFamily="34" charset="0"/>
                <a:ea typeface="Calibri" pitchFamily="34" charset="-122"/>
                <a:cs typeface="Calibri" pitchFamily="34" charset="-120"/>
              </a:rPr>
              <a:t>How: </a:t>
            </a:r>
            <a:r>
              <a:rPr lang="en-US" sz="2100" dirty="0">
                <a:solidFill>
                  <a:srgbClr val="E3EBF1"/>
                </a:solidFill>
                <a:latin typeface="Calibri" pitchFamily="34" charset="0"/>
                <a:ea typeface="Calibri" pitchFamily="34" charset="-122"/>
                <a:cs typeface="Calibri" pitchFamily="34" charset="-120"/>
              </a:rPr>
              <a:t>optimization, quantization, smaller models</a:t>
            </a:r>
            <a:endParaRPr lang="en-US" sz="2100" dirty="0"/>
          </a:p>
          <a:p>
            <a:pPr marL="279400" indent="-279400">
              <a:spcAft>
                <a:spcPts val="1400"/>
              </a:spcAft>
              <a:buSzPct val="100000"/>
              <a:buChar char="•"/>
            </a:pPr>
            <a:r>
              <a:rPr lang="en-US" sz="2100" dirty="0">
                <a:solidFill>
                  <a:srgbClr val="E3EBF1"/>
                </a:solidFill>
                <a:latin typeface="Calibri" pitchFamily="34" charset="0"/>
                <a:ea typeface="Calibri" pitchFamily="34" charset="-122"/>
                <a:cs typeface="Calibri" pitchFamily="34" charset="-120"/>
              </a:rPr>
              <a:t>Better chips make local AI stronger</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Real Example: UGREEN HomeAgent HA100</a:t>
            </a:r>
            <a:endParaRPr lang="en-US" sz="4000" dirty="0"/>
          </a:p>
        </p:txBody>
      </p:sp>
      <p:sp>
        <p:nvSpPr>
          <p:cNvPr id="3" name="kicker"/>
          <p:cNvSpPr txBox="1"/>
          <p:nvPr/>
        </p:nvSpPr>
        <p:spPr>
          <a:xfrm>
            <a:off x="548640" y="1188720"/>
            <a:ext cx="11064240" cy="457200"/>
          </a:xfrm>
          <a:prstGeom prst="rect">
            <a:avLst/>
          </a:prstGeom>
          <a:noFill/>
          <a:ln/>
        </p:spPr>
        <p:txBody>
          <a:bodyPr wrap="square" lIns="0" tIns="0" rIns="0" bIns="0" rtlCol="0" anchor="t"/>
          <a:lstStyle/>
          <a:p>
            <a:pPr indent="0" marL="0">
              <a:buNone/>
            </a:pPr>
            <a:r>
              <a:rPr lang="en-US" sz="2200" i="1" dirty="0">
                <a:solidFill>
                  <a:srgbClr val="F2A33A"/>
                </a:solidFill>
                <a:latin typeface="Calibri" pitchFamily="34" charset="0"/>
                <a:ea typeface="Calibri" pitchFamily="34" charset="-122"/>
                <a:cs typeface="Calibri" pitchFamily="34" charset="-120"/>
              </a:rPr>
              <a:t>Announced at IFA 2026  ·  ships early 2027</a:t>
            </a:r>
            <a:endParaRPr lang="en-US" sz="2200" dirty="0"/>
          </a:p>
        </p:txBody>
      </p:sp>
      <p:sp>
        <p:nvSpPr>
          <p:cNvPr id="4" name="Shape 2"/>
          <p:cNvSpPr/>
          <p:nvPr/>
        </p:nvSpPr>
        <p:spPr>
          <a:xfrm>
            <a:off x="411480" y="1828800"/>
            <a:ext cx="7040880" cy="3520440"/>
          </a:xfrm>
          <a:prstGeom prst="roundRect">
            <a:avLst>
              <a:gd name="adj" fmla="val 3117"/>
            </a:avLst>
          </a:prstGeom>
          <a:solidFill>
            <a:srgbClr val="0B2239">
              <a:alpha val="88000"/>
            </a:srgbClr>
          </a:solidFill>
          <a:ln w="12700">
            <a:solidFill>
              <a:srgbClr val="0B2239">
                <a:alpha val="0"/>
              </a:srgbClr>
            </a:solidFill>
            <a:prstDash val="solid"/>
          </a:ln>
        </p:spPr>
      </p:sp>
      <p:sp>
        <p:nvSpPr>
          <p:cNvPr id="5" name="body"/>
          <p:cNvSpPr txBox="1"/>
          <p:nvPr/>
        </p:nvSpPr>
        <p:spPr>
          <a:xfrm>
            <a:off x="685800" y="2103120"/>
            <a:ext cx="6583680" cy="3108960"/>
          </a:xfrm>
          <a:prstGeom prst="rect">
            <a:avLst/>
          </a:prstGeom>
          <a:noFill/>
          <a:ln/>
        </p:spPr>
        <p:txBody>
          <a:bodyPr wrap="square" lIns="0" tIns="0" rIns="0" bIns="0" rtlCol="0" anchor="t"/>
          <a:lstStyle/>
          <a:p>
            <a:pPr marL="279400" indent="-279400">
              <a:spcAft>
                <a:spcPts val="1600"/>
              </a:spcAft>
              <a:buSzPct val="100000"/>
              <a:buChar char="•"/>
            </a:pPr>
            <a:r>
              <a:rPr lang="en-US" sz="2100" dirty="0">
                <a:solidFill>
                  <a:srgbClr val="E3EBF1"/>
                </a:solidFill>
                <a:latin typeface="Calibri" pitchFamily="34" charset="0"/>
                <a:ea typeface="Calibri" pitchFamily="34" charset="-122"/>
                <a:cs typeface="Calibri" pitchFamily="34" charset="-120"/>
              </a:rPr>
              <a:t>A home AI hub, </a:t>
            </a:r>
            <a:r>
              <a:rPr lang="en-US" sz="2100" b="1" dirty="0">
                <a:solidFill>
                  <a:srgbClr val="FFFFFF"/>
                </a:solidFill>
                <a:latin typeface="Calibri" pitchFamily="34" charset="0"/>
                <a:ea typeface="Calibri" pitchFamily="34" charset="-122"/>
                <a:cs typeface="Calibri" pitchFamily="34" charset="-120"/>
              </a:rPr>
              <a:t>not a cloud server</a:t>
            </a:r>
            <a:endParaRPr lang="en-US" sz="2100" dirty="0"/>
          </a:p>
          <a:p>
            <a:pPr marL="279400" indent="-279400">
              <a:spcAft>
                <a:spcPts val="1600"/>
              </a:spcAft>
              <a:buSzPct val="100000"/>
              <a:buChar char="•"/>
            </a:pPr>
            <a:r>
              <a:rPr lang="en-US" sz="2100" dirty="0">
                <a:solidFill>
                  <a:srgbClr val="E3EBF1"/>
                </a:solidFill>
                <a:latin typeface="Calibri" pitchFamily="34" charset="0"/>
                <a:ea typeface="Calibri" pitchFamily="34" charset="-122"/>
                <a:cs typeface="Calibri" pitchFamily="34" charset="-120"/>
              </a:rPr>
              <a:t>Its assistant runs the </a:t>
            </a:r>
            <a:r>
              <a:rPr lang="en-US" sz="2100" b="1" dirty="0">
                <a:solidFill>
                  <a:srgbClr val="F2A33A"/>
                </a:solidFill>
                <a:latin typeface="Calibri" pitchFamily="34" charset="0"/>
                <a:ea typeface="Calibri" pitchFamily="34" charset="-122"/>
                <a:cs typeface="Calibri" pitchFamily="34" charset="-120"/>
              </a:rPr>
              <a:t>Qwen3</a:t>
            </a:r>
            <a:r>
              <a:rPr lang="en-US" sz="2100" dirty="0">
                <a:solidFill>
                  <a:srgbClr val="E3EBF1"/>
                </a:solidFill>
                <a:latin typeface="Calibri" pitchFamily="34" charset="0"/>
                <a:ea typeface="Calibri" pitchFamily="34" charset="-122"/>
                <a:cs typeface="Calibri" pitchFamily="34" charset="-120"/>
              </a:rPr>
              <a:t> model at home</a:t>
            </a:r>
            <a:endParaRPr lang="en-US" sz="2100" dirty="0"/>
          </a:p>
          <a:p>
            <a:pPr marL="279400" indent="-279400">
              <a:spcAft>
                <a:spcPts val="1600"/>
              </a:spcAft>
              <a:buSzPct val="100000"/>
              <a:buChar char="•"/>
            </a:pPr>
            <a:r>
              <a:rPr lang="en-US" sz="2100" dirty="0">
                <a:solidFill>
                  <a:srgbClr val="E3EBF1"/>
                </a:solidFill>
                <a:latin typeface="Calibri" pitchFamily="34" charset="0"/>
                <a:ea typeface="Calibri" pitchFamily="34" charset="-122"/>
                <a:cs typeface="Calibri" pitchFamily="34" charset="-120"/>
              </a:rPr>
              <a:t>Spots people, pets, cars and packages</a:t>
            </a:r>
            <a:endParaRPr lang="en-US" sz="2100" dirty="0"/>
          </a:p>
          <a:p>
            <a:pPr marL="279400" indent="-279400">
              <a:spcAft>
                <a:spcPts val="1600"/>
              </a:spcAft>
              <a:buSzPct val="100000"/>
              <a:buChar char="•"/>
            </a:pPr>
            <a:r>
              <a:rPr lang="en-US" sz="2100" dirty="0">
                <a:solidFill>
                  <a:srgbClr val="E3EBF1"/>
                </a:solidFill>
                <a:latin typeface="Calibri" pitchFamily="34" charset="0"/>
                <a:ea typeface="Calibri" pitchFamily="34" charset="-122"/>
                <a:cs typeface="Calibri" pitchFamily="34" charset="-120"/>
              </a:rPr>
              <a:t>Search your camera videos by keyword</a:t>
            </a:r>
            <a:endParaRPr lang="en-US" sz="2100" dirty="0"/>
          </a:p>
          <a:p>
            <a:pPr marL="279400" indent="-279400">
              <a:spcAft>
                <a:spcPts val="1600"/>
              </a:spcAft>
              <a:buSzPct val="100000"/>
              <a:buChar char="•"/>
            </a:pPr>
            <a:r>
              <a:rPr lang="en-US" sz="2100" dirty="0">
                <a:solidFill>
                  <a:srgbClr val="E3EBF1"/>
                </a:solidFill>
                <a:latin typeface="Calibri" pitchFamily="34" charset="0"/>
                <a:ea typeface="Calibri" pitchFamily="34" charset="-122"/>
                <a:cs typeface="Calibri" pitchFamily="34" charset="-120"/>
              </a:rPr>
              <a:t>Your videos stay on </a:t>
            </a:r>
            <a:r>
              <a:rPr lang="en-US" sz="2100" b="1" dirty="0">
                <a:solidFill>
                  <a:srgbClr val="FFFFFF"/>
                </a:solidFill>
                <a:latin typeface="Calibri" pitchFamily="34" charset="0"/>
                <a:ea typeface="Calibri" pitchFamily="34" charset="-122"/>
                <a:cs typeface="Calibri" pitchFamily="34" charset="-120"/>
              </a:rPr>
              <a:t>your own drives</a:t>
            </a:r>
            <a:endParaRPr lang="en-US" sz="2100" dirty="0"/>
          </a:p>
          <a:p>
            <a:pPr marL="279400" indent="-279400">
              <a:spcAft>
                <a:spcPts val="1600"/>
              </a:spcAft>
              <a:buSzPct val="100000"/>
              <a:buChar char="•"/>
            </a:pPr>
            <a:r>
              <a:rPr lang="en-US" sz="2100" b="1" dirty="0">
                <a:solidFill>
                  <a:srgbClr val="F2A33A"/>
                </a:solidFill>
                <a:latin typeface="Calibri" pitchFamily="34" charset="0"/>
                <a:ea typeface="Calibri" pitchFamily="34" charset="-122"/>
                <a:cs typeface="Calibri" pitchFamily="34" charset="-120"/>
              </a:rPr>
              <a:t>Honest: </a:t>
            </a:r>
            <a:r>
              <a:rPr lang="en-US" sz="2100" dirty="0">
                <a:solidFill>
                  <a:srgbClr val="E3EBF1"/>
                </a:solidFill>
                <a:latin typeface="Calibri" pitchFamily="34" charset="0"/>
                <a:ea typeface="Calibri" pitchFamily="34" charset="-122"/>
                <a:cs typeface="Calibri" pitchFamily="34" charset="-120"/>
              </a:rPr>
              <a:t>some features still need the internet</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66751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Would We Do? Our Plan</a:t>
            </a:r>
            <a:endParaRPr lang="en-US" sz="3400" dirty="0"/>
          </a:p>
        </p:txBody>
      </p:sp>
      <p:sp>
        <p:nvSpPr>
          <p:cNvPr id="3" name="header"/>
          <p:cNvSpPr txBox="1"/>
          <p:nvPr/>
        </p:nvSpPr>
        <p:spPr>
          <a:xfrm>
            <a:off x="548640" y="1188720"/>
            <a:ext cx="6583680" cy="411480"/>
          </a:xfrm>
          <a:prstGeom prst="rect">
            <a:avLst/>
          </a:prstGeom>
          <a:noFill/>
          <a:ln/>
        </p:spPr>
        <p:txBody>
          <a:bodyPr wrap="square" lIns="0" tIns="0" rIns="0" bIns="0" rtlCol="0" anchor="t"/>
          <a:lstStyle/>
          <a:p>
            <a:pPr indent="0" marL="0">
              <a:buNone/>
            </a:pPr>
            <a:r>
              <a:rPr lang="en-US" sz="2200" i="1" dirty="0">
                <a:solidFill>
                  <a:srgbClr val="F2A33A"/>
                </a:solidFill>
                <a:latin typeface="Calibri" pitchFamily="34" charset="0"/>
                <a:ea typeface="Calibri" pitchFamily="34" charset="-122"/>
                <a:cs typeface="Calibri" pitchFamily="34" charset="-120"/>
              </a:rPr>
              <a:t>A policy reform for AI sustainability</a:t>
            </a:r>
            <a:endParaRPr lang="en-US" sz="2200" dirty="0"/>
          </a:p>
        </p:txBody>
      </p:sp>
      <p:sp>
        <p:nvSpPr>
          <p:cNvPr id="4" name="Shape 2"/>
          <p:cNvSpPr/>
          <p:nvPr/>
        </p:nvSpPr>
        <p:spPr>
          <a:xfrm>
            <a:off x="365760" y="1737360"/>
            <a:ext cx="4297680" cy="4434840"/>
          </a:xfrm>
          <a:prstGeom prst="roundRect">
            <a:avLst>
              <a:gd name="adj" fmla="val 2553"/>
            </a:avLst>
          </a:prstGeom>
          <a:solidFill>
            <a:srgbClr val="0B2239">
              <a:alpha val="86000"/>
            </a:srgbClr>
          </a:solidFill>
          <a:ln w="12700">
            <a:solidFill>
              <a:srgbClr val="0B2239">
                <a:alpha val="0"/>
              </a:srgbClr>
            </a:solidFill>
            <a:prstDash val="solid"/>
          </a:ln>
        </p:spPr>
      </p:sp>
      <p:sp>
        <p:nvSpPr>
          <p:cNvPr id="5" name="body"/>
          <p:cNvSpPr txBox="1"/>
          <p:nvPr/>
        </p:nvSpPr>
        <p:spPr>
          <a:xfrm>
            <a:off x="566928" y="1874520"/>
            <a:ext cx="3977640" cy="23317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000" dirty="0">
                <a:solidFill>
                  <a:srgbClr val="FFFFFF"/>
                </a:solidFill>
                <a:latin typeface="Calibri" pitchFamily="34" charset="0"/>
                <a:ea typeface="Calibri" pitchFamily="34" charset="-122"/>
                <a:cs typeface="Calibri" pitchFamily="34" charset="-120"/>
              </a:rPr>
              <a:t>Companies release local versions of their LLMs</a:t>
            </a:r>
            <a:endParaRPr lang="en-US" sz="2000" dirty="0"/>
          </a:p>
          <a:p>
            <a:pPr marL="342900" indent="-342900">
              <a:spcAft>
                <a:spcPts val="1000"/>
              </a:spcAft>
              <a:buSzPct val="100000"/>
              <a:buFont typeface="+mj-lt"/>
              <a:buAutoNum type="arabicPeriod" startAt="1"/>
            </a:pPr>
            <a:r>
              <a:rPr lang="en-US" sz="2000" dirty="0">
                <a:solidFill>
                  <a:srgbClr val="FFFFFF"/>
                </a:solidFill>
                <a:latin typeface="Calibri" pitchFamily="34" charset="0"/>
                <a:ea typeface="Calibri" pitchFamily="34" charset="-122"/>
                <a:cs typeface="Calibri" pitchFamily="34" charset="-120"/>
              </a:rPr>
              <a:t>Optimize models, not just make them bigger</a:t>
            </a:r>
            <a:endParaRPr lang="en-US" sz="2000" dirty="0"/>
          </a:p>
          <a:p>
            <a:pPr marL="342900" indent="-342900">
              <a:spcAft>
                <a:spcPts val="1000"/>
              </a:spcAft>
              <a:buSzPct val="100000"/>
              <a:buFont typeface="+mj-lt"/>
              <a:buAutoNum type="arabicPeriod" startAt="1"/>
            </a:pPr>
            <a:r>
              <a:rPr lang="en-US" sz="2000" dirty="0">
                <a:solidFill>
                  <a:srgbClr val="FFFFFF"/>
                </a:solidFill>
                <a:latin typeface="Calibri" pitchFamily="34" charset="0"/>
                <a:ea typeface="Calibri" pitchFamily="34" charset="-122"/>
                <a:cs typeface="Calibri" pitchFamily="34" charset="-120"/>
              </a:rPr>
              <a:t>Keep data centers for training and giant models</a:t>
            </a:r>
            <a:endParaRPr lang="en-US" sz="2000" dirty="0"/>
          </a:p>
        </p:txBody>
      </p:sp>
      <p:sp>
        <p:nvSpPr>
          <p:cNvPr id="6" name="body"/>
          <p:cNvSpPr txBox="1"/>
          <p:nvPr/>
        </p:nvSpPr>
        <p:spPr>
          <a:xfrm>
            <a:off x="566928" y="4297680"/>
            <a:ext cx="3977640" cy="1783080"/>
          </a:xfrm>
          <a:prstGeom prst="rect">
            <a:avLst/>
          </a:prstGeom>
          <a:noFill/>
          <a:ln/>
        </p:spPr>
        <p:txBody>
          <a:bodyPr wrap="square" lIns="0" tIns="0" rIns="0" bIns="0" rtlCol="0" anchor="t"/>
          <a:lstStyle/>
          <a:p>
            <a:pPr marL="279400" indent="-279400">
              <a:spcAft>
                <a:spcPts val="1000"/>
              </a:spcAft>
              <a:buSzPct val="100000"/>
              <a:buChar char="•"/>
            </a:pPr>
            <a:r>
              <a:rPr lang="en-US" sz="2000" b="1" dirty="0">
                <a:solidFill>
                  <a:srgbClr val="F2A33A"/>
                </a:solidFill>
                <a:latin typeface="Calibri" pitchFamily="34" charset="0"/>
                <a:ea typeface="Calibri" pitchFamily="34" charset="-122"/>
                <a:cs typeface="Calibri" pitchFamily="34" charset="-120"/>
              </a:rPr>
              <a:t>Could bring: </a:t>
            </a:r>
            <a:r>
              <a:rPr lang="en-US" sz="2000" dirty="0">
                <a:solidFill>
                  <a:srgbClr val="E3EBF1"/>
                </a:solidFill>
                <a:latin typeface="Calibri" pitchFamily="34" charset="0"/>
                <a:ea typeface="Calibri" pitchFamily="34" charset="-122"/>
                <a:cs typeface="Calibri" pitchFamily="34" charset="-120"/>
              </a:rPr>
              <a:t>less water, less land, more privacy</a:t>
            </a:r>
            <a:endParaRPr lang="en-US" sz="2000" dirty="0"/>
          </a:p>
          <a:p>
            <a:pPr marL="279400" indent="-279400">
              <a:spcAft>
                <a:spcPts val="1000"/>
              </a:spcAft>
              <a:buSzPct val="100000"/>
              <a:buChar char="•"/>
            </a:pPr>
            <a:r>
              <a:rPr lang="en-US" sz="2000" b="1" dirty="0">
                <a:solidFill>
                  <a:srgbClr val="F2A33A"/>
                </a:solidFill>
                <a:latin typeface="Calibri" pitchFamily="34" charset="0"/>
                <a:ea typeface="Calibri" pitchFamily="34" charset="-122"/>
                <a:cs typeface="Calibri" pitchFamily="34" charset="-120"/>
              </a:rPr>
              <a:t>Awareness idea: </a:t>
            </a:r>
            <a:r>
              <a:rPr lang="en-US" sz="2000" dirty="0">
                <a:solidFill>
                  <a:srgbClr val="E3EBF1"/>
                </a:solidFill>
                <a:latin typeface="Calibri" pitchFamily="34" charset="0"/>
                <a:ea typeface="Calibri" pitchFamily="34" charset="-122"/>
                <a:cs typeface="Calibri" pitchFamily="34" charset="-120"/>
              </a:rPr>
              <a:t>an “AI label” for water, power</a:t>
            </a:r>
            <a:endParaRPr lang="en-US" sz="2000" dirty="0"/>
          </a:p>
        </p:txBody>
      </p:sp>
      <p:sp>
        <p:nvSpPr>
          <p:cNvPr id="7" name="quote"/>
          <p:cNvSpPr txBox="1"/>
          <p:nvPr/>
        </p:nvSpPr>
        <p:spPr>
          <a:xfrm>
            <a:off x="6903720" y="365760"/>
            <a:ext cx="4892040" cy="20116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“Don’t just build bigger data centers. </a:t>
            </a:r>
            <a:r>
              <a:rPr lang="en-US" sz="2800" b="1" dirty="0">
                <a:solidFill>
                  <a:srgbClr val="F2A33A"/>
                </a:solidFill>
                <a:latin typeface="Cambria" pitchFamily="34" charset="0"/>
                <a:ea typeface="Cambria" pitchFamily="34" charset="-122"/>
                <a:cs typeface="Cambria" pitchFamily="34" charset="-120"/>
              </a:rPr>
              <a:t>Make AI smarter and more efficient.”</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Water &amp; Power: Who Pays?</dc:title>
  <dc:subject>PptxGenJS Presentation</dc:subject>
  <dc:creator>PptxGenJS</dc:creator>
  <cp:lastModifiedBy>PptxGenJS</cp:lastModifiedBy>
  <cp:revision>1</cp:revision>
  <dcterms:created xsi:type="dcterms:W3CDTF">2026-10-11T10:05:56Z</dcterms:created>
  <dcterms:modified xsi:type="dcterms:W3CDTF">2026-10-11T10:05:56Z</dcterms:modified>
</cp:coreProperties>
</file>