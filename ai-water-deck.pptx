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Google water use</c:v>
                </c:pt>
              </c:strCache>
            </c:strRef>
          </c:tx>
          <c:spPr>
            <a:solidFill>
              <a:srgbClr val="0F6E84"/>
            </a:solidFill>
            <a:effectLst/>
          </c:spPr>
          <c:invertIfNegative val="0"/>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Data-center grid demand</c:v>
                </c:pt>
              </c:strCache>
            </c:strRef>
          </c:tx>
          <c:spPr>
            <a:solidFill>
              <a:srgbClr val="E8942A"/>
            </a:solidFill>
            <a:effectLst/>
          </c:spPr>
          <c:invertIfNegative val="0"/>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33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talking points and sources (full script: speaker-notes.md)
- Background: an AI-generated image made by our team of the inside of a data center (rows of server racks). Not a real place.
- Data centers need water for cooling and electricity to run.
- ON-SITE vs OFF-SITE [S1 LBNL 2024]: US data centers used 66 billion litres on-site in 2023 and about 800 billion litres off-site (water used by the power plants). 800 / 66 ≈ 12.
- Google +70% [S6 Google Environmental Reports]: 6.4B gal = 24.2B L (2023); 8.1B gal = 30.7B L (2024); 10.9B gal = 41.3B L (2025). 41.3 / 24.2 = 1.71. Company-reported, all operations.
- Uruguay [S9]: 2023 drought, worst in 74 years. Montevideo tap water was mixed with salty water. Google's plan: about 7.6 million litres a day. Slogan: 'It's not drought, it's pillage.' Google made the project smaller and switched to air cooling.
- Careful: 'one bottle of water per question' is a misreading. The study [S3] says 500 ml per about 10–50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talking points and sources
- Background: an example of a large data-center campus next to farmland, with its own electricity substation (left). It is NOT in Israel; it shows what these projects look like.
- Chart: data-center grid demand in Israel, megawatts (2026). 1,500 MW already committed; 27,000 MW pending. 27,000 / 1,500 = 18.
- Desalination share [S17]: sources disagree (State Comptroller 2024: 'about half'; Times of Israel 2026: over 80%). Say 'most', not a single number.
- Desalination needs electricity [S16]: the State Comptroller (2024) names desalination AND data centers as drivers of 2030 electricity demand.
- 27,000 MW [S14, S15]: pending data-center requests to Noga, about 3 times Israel's average electricity use. 1,500 MW already committed uses up the planned new supply to 2035 (Ctech).
- July 2026 freeze [S14]: the Electricity Authority stopped new data-center applications of 8 MW or more for 140 days from 21 July 2026 (until about early December).
- Near us [S21, S22, S15]: MedOne, two underground data centers in Kfar Yona (next to Lev HaSharon, not inside it), first opens 2026. NED Alpha Campus in Netanya, 42 MW, early 2027. Mega Or asked for 1,111 MW at the old Alliance factory in Hadera.
- Farms first [S18]: end of Aug 2026, algae shut 5 of 6 big desalination plants. The Water Authority told councils to cut farm and park irrigation. Ramat HaNegev farms lost fresh water completely. NOT caused by data centers. It shows who is cut first.
- Unverified: water quotas for Lev HaSharon moshavim (no public figures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talking points and sources
- Background: an AI-generated image made by our team; not a real event. It shows residents protesting at the gate of a data center, seen from a drone.
- SPNI [S25]: publicly opposed the bill that makes AI server farms 'national infrastructure'. Warned of a 'destructive domino effect' on open land and energy security. Wants the status only for security, intelligence and academic use. Also active: Greenpeace Israel, Green Course.
- The bill [S24]: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
- Discrimination (required word): when big projects skip local committees, the people who live next door lose their voice. Critics say this is unfair and can become discrimination against small communities. We did not find proof that Israel targets poor areas on purpose.
- EU law [S28]: Energy Efficiency Directive (EU) 2023/1791, Article 12. Data centers with 500 kW or more of IT power must report energy and water use every year to an EU database.
- Water Law [S27]: Water Law 5719-1959, section 1. Water sources in Israel are public property, controlled by the State, for the needs of the residents and the development of the country.
- Gap: we found no Israeli rule that makes data centers publish their water or power use. Say 'we found no', not 'there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our idea (Speaker C). Full original wording:
Run AI Locally. Our idea is simple: Make LLMs able to run on normal PCs and laptops.
- AI companies should optimize their models so they can run locally.
- People could download an LLM instead of always connecting to a data center.
- Companies should make models smaller and more efficient.
- We can use: better optimization, quantization, smaller models, better computer chips.
- As chips become more powerful, more AI could run locally.
Instead of only building bigger data centers, make AI more efficient.
Sources: [S29] Microsoft Phi-3 report (Apr 2024): a 3.8B model, about 1.8 GB at 4 bits, runs on an iPhone 14. [S30] Meta Llama 3.2 1B/3B (Sep 2024): built for phones and edge devices. [S31] QLoRA (2023): 4-bit quantization makes models much smaller. [S32] Copilot+ PCs (May 2024) have an AI chip (NPU) of 40+ TOPS to run AI locally.
Background: a 3D illustration of a laptop running a small AI model offline.
Be honest if asked: a laptop's electricity also comes from power plants. The big saving comes from smaller, optimized models doing less work (Google cut energy per prompt 33x in one year by optimizing [S4]).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our plan and message (Speaker C). Full original wording:
What Would We Do? Our plan:
1. AI companies should make local versions of their LLMs.
2. These models should work on normal PCs and laptops whenever possible.
3. Companies should focus on optimization instead of just making models bigger.
4. New chips can gradually make local AI more powerful.
5. Data centers can still be used for extremely large models and training.
Possible benefits: less need for new data centers; less land used for AI infrastructure; potentially less water needed for cooling; more AI can run directly on people's computers; more privacy and control for users.
Our message: Don't just build bigger data centers. Make AI smarter and more efficient.
Background: an AI-generated image made by our team: a low-power AI chip (NPU) in front of rows of data-center servers. The chip's label and numbers are part of the illustration, not a real product.
Awareness idea: an 'AI label' (like a food label) showing how much water and electricity an AI tool uses, with the source and year.
Likely question: 'How do you make companies do this?' Answer: public pressure and awareness, plus reporting laws like the EU rule [S28], which make water and power use visible.
Be honest: training still needs data centers, and local AI still uses electricity. The benefit comes from smaller, more efficient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image-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2-image-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AI’s Hidden Thirst: Who Pays?</a:t>
            </a:r>
            <a:endParaRPr lang="en-US" sz="4600" dirty="0"/>
          </a:p>
        </p:txBody>
      </p:sp>
      <p:sp>
        <p:nvSpPr>
          <p:cNvPr id="3" name="kicker"/>
          <p:cNvSpPr txBox="1"/>
          <p:nvPr/>
        </p:nvSpPr>
        <p:spPr>
          <a:xfrm>
            <a:off x="548640" y="1298448"/>
            <a:ext cx="11064240" cy="45720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social justice question: who carries AI’s impact?</a:t>
            </a:r>
            <a:endParaRPr lang="en-US" sz="2200" dirty="0"/>
          </a:p>
        </p:txBody>
      </p:sp>
      <p:sp>
        <p:nvSpPr>
          <p:cNvPr id="4" name="body"/>
          <p:cNvSpPr txBox="1"/>
          <p:nvPr/>
        </p:nvSpPr>
        <p:spPr>
          <a:xfrm>
            <a:off x="548640" y="2148840"/>
            <a:ext cx="6035040" cy="3931920"/>
          </a:xfrm>
          <a:prstGeom prst="rect">
            <a:avLst/>
          </a:prstGeom>
          <a:noFill/>
          <a:ln/>
        </p:spPr>
        <p:txBody>
          <a:bodyPr wrap="square" lIns="0" tIns="0" rIns="0" bIns="0" rtlCol="0" anchor="t"/>
          <a:lstStyle/>
          <a:p>
            <a:pPr marL="279400" indent="-279400">
              <a:spcAft>
                <a:spcPts val="1600"/>
              </a:spcAft>
              <a:buSzPct val="100000"/>
              <a:buChar char="•"/>
            </a:pPr>
            <a:r>
              <a:rPr lang="en-US" sz="2200" dirty="0">
                <a:solidFill>
                  <a:srgbClr val="E3EBF1"/>
                </a:solidFill>
                <a:latin typeface="Calibri" pitchFamily="34" charset="0"/>
                <a:ea typeface="Calibri" pitchFamily="34" charset="-122"/>
                <a:cs typeface="Calibri" pitchFamily="34" charset="-120"/>
              </a:rPr>
              <a:t>AI data centers run on water </a:t>
            </a:r>
            <a:r>
              <a:rPr lang="en-US" sz="2200" b="1" dirty="0">
                <a:solidFill>
                  <a:srgbClr val="F2A33A"/>
                </a:solidFill>
                <a:latin typeface="Calibri" pitchFamily="34" charset="0"/>
                <a:ea typeface="Calibri" pitchFamily="34" charset="-122"/>
                <a:cs typeface="Calibri" pitchFamily="34" charset="-120"/>
              </a:rPr>
              <a:t>and</a:t>
            </a:r>
            <a:r>
              <a:rPr lang="en-US" sz="2200" dirty="0">
                <a:solidFill>
                  <a:srgbClr val="E3EBF1"/>
                </a:solidFill>
                <a:latin typeface="Calibri" pitchFamily="34" charset="0"/>
                <a:ea typeface="Calibri" pitchFamily="34" charset="-122"/>
                <a:cs typeface="Calibri" pitchFamily="34" charset="-120"/>
              </a:rPr>
              <a:t> power</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On-site: </a:t>
            </a:r>
            <a:r>
              <a:rPr lang="en-US" sz="2200" dirty="0">
                <a:solidFill>
                  <a:srgbClr val="E3EBF1"/>
                </a:solidFill>
                <a:latin typeface="Calibri" pitchFamily="34" charset="0"/>
                <a:ea typeface="Calibri" pitchFamily="34" charset="-122"/>
                <a:cs typeface="Calibri" pitchFamily="34" charset="-120"/>
              </a:rPr>
              <a:t>water evaporates to cool servers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Off-site: </a:t>
            </a:r>
            <a:r>
              <a:rPr lang="en-US" sz="2200" dirty="0">
                <a:solidFill>
                  <a:srgbClr val="E3EBF1"/>
                </a:solidFill>
                <a:latin typeface="Calibri" pitchFamily="34" charset="0"/>
                <a:ea typeface="Calibri" pitchFamily="34" charset="-122"/>
                <a:cs typeface="Calibri" pitchFamily="34" charset="-120"/>
              </a:rPr>
              <a:t>US power plants use about </a:t>
            </a:r>
            <a:r>
              <a:rPr lang="en-US" sz="2200" b="1" dirty="0">
                <a:solidFill>
                  <a:srgbClr val="F2A33A"/>
                </a:solidFill>
                <a:latin typeface="Calibri" pitchFamily="34" charset="0"/>
                <a:ea typeface="Calibri" pitchFamily="34" charset="-122"/>
                <a:cs typeface="Calibri" pitchFamily="34" charset="-120"/>
              </a:rPr>
              <a:t>12× more</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Uruguay 2023: </a:t>
            </a:r>
            <a:r>
              <a:rPr lang="en-US" sz="2200" dirty="0">
                <a:solidFill>
                  <a:srgbClr val="E3EBF1"/>
                </a:solidFill>
                <a:latin typeface="Calibri" pitchFamily="34" charset="0"/>
                <a:ea typeface="Calibri" pitchFamily="34" charset="-122"/>
                <a:cs typeface="Calibri" pitchFamily="34" charset="-120"/>
              </a:rPr>
              <a:t>drought, salty tap water, protests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Result: </a:t>
            </a:r>
            <a:r>
              <a:rPr lang="en-US" sz="2200" dirty="0">
                <a:solidFill>
                  <a:srgbClr val="E3EBF1"/>
                </a:solidFill>
                <a:latin typeface="Calibri" pitchFamily="34" charset="0"/>
                <a:ea typeface="Calibri" pitchFamily="34" charset="-122"/>
                <a:cs typeface="Calibri" pitchFamily="34" charset="-120"/>
              </a:rPr>
              <a:t>Google switched its plan to air cooling</a:t>
            </a:r>
            <a:endParaRPr lang="en-US" sz="2200" dirty="0"/>
          </a:p>
        </p:txBody>
      </p:sp>
      <p:sp>
        <p:nvSpPr>
          <p:cNvPr id="5" name="Shape 3"/>
          <p:cNvSpPr/>
          <p:nvPr/>
        </p:nvSpPr>
        <p:spPr>
          <a:xfrm>
            <a:off x="7543800" y="2011680"/>
            <a:ext cx="4206240" cy="4069080"/>
          </a:xfrm>
          <a:prstGeom prst="roundRect">
            <a:avLst>
              <a:gd name="adj" fmla="val 2697"/>
            </a:avLst>
          </a:prstGeom>
          <a:solidFill>
            <a:srgbClr val="FFFFFF">
              <a:alpha val="92000"/>
            </a:srgbClr>
          </a:solidFill>
          <a:ln w="12700">
            <a:solidFill>
              <a:srgbClr val="FFFFFF">
                <a:alpha val="0"/>
              </a:srgbClr>
            </a:solidFill>
            <a:prstDash val="solid"/>
          </a:ln>
        </p:spPr>
      </p:sp>
      <p:sp>
        <p:nvSpPr>
          <p:cNvPr id="6" name="chart-title"/>
          <p:cNvSpPr txBox="1"/>
          <p:nvPr/>
        </p:nvSpPr>
        <p:spPr>
          <a:xfrm>
            <a:off x="7772400" y="2148840"/>
            <a:ext cx="3749040" cy="777240"/>
          </a:xfrm>
          <a:prstGeom prst="rect">
            <a:avLst/>
          </a:prstGeom>
          <a:noFill/>
          <a:ln/>
        </p:spPr>
        <p:txBody>
          <a:bodyPr wrap="square" lIns="0" tIns="0" rIns="0" bIns="0" rtlCol="0" anchor="t"/>
          <a:lstStyle/>
          <a:p>
            <a:pPr indent="0" marL="0">
              <a:buNone/>
            </a:pPr>
            <a:r>
              <a:rPr lang="en-US" sz="2100" b="1" dirty="0">
                <a:solidFill>
                  <a:srgbClr val="0E1B2A"/>
                </a:solidFill>
                <a:latin typeface="Calibri" pitchFamily="34" charset="0"/>
                <a:ea typeface="Calibri" pitchFamily="34" charset="-122"/>
                <a:cs typeface="Calibri" pitchFamily="34" charset="-120"/>
              </a:rPr>
              <a:t>Google’s water use rose 70%</a:t>
            </a:r>
            <a:endParaRPr lang="en-US" sz="2100" dirty="0"/>
          </a:p>
          <a:p>
            <a:pPr indent="0" marL="0">
              <a:buNone/>
            </a:pPr>
            <a:r>
              <a:rPr lang="en-US" sz="2100" b="1" dirty="0">
                <a:solidFill>
                  <a:srgbClr val="0E1B2A"/>
                </a:solidFill>
                <a:latin typeface="Calibri" pitchFamily="34" charset="0"/>
                <a:ea typeface="Calibri" pitchFamily="34" charset="-122"/>
                <a:cs typeface="Calibri" pitchFamily="34" charset="-120"/>
              </a:rPr>
              <a:t>in two years</a:t>
            </a:r>
            <a:endParaRPr lang="en-US" sz="2100" dirty="0"/>
          </a:p>
        </p:txBody>
      </p:sp>
      <p:sp>
        <p:nvSpPr>
          <p:cNvPr id="7" name="caption-chart"/>
          <p:cNvSpPr txBox="1"/>
          <p:nvPr/>
        </p:nvSpPr>
        <p:spPr>
          <a:xfrm>
            <a:off x="7772400" y="2926080"/>
            <a:ext cx="3749040" cy="27432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Billion litres · all Google operations · company-reported</a:t>
            </a:r>
            <a:endParaRPr lang="en-US" sz="1100" dirty="0"/>
          </a:p>
        </p:txBody>
      </p:sp>
      <p:graphicFrame>
        <p:nvGraphicFramePr>
          <p:cNvPr id="8" name="Chart 0" descr=""/>
          <p:cNvGraphicFramePr/>
          <p:nvPr/>
        </p:nvGraphicFramePr>
        <p:xfrm>
          <a:off x="7635240" y="3154680"/>
          <a:ext cx="4023360" cy="2834640"/>
        </p:xfrm>
        <a:graphic xmlns:a="http://schemas.openxmlformats.org/drawingml/2006/main">
          <a:graphicData uri="http://schemas.openxmlformats.org/drawingml/2006/chart">
            <c:chart xmlns:c="http://schemas.openxmlformats.org/drawingml/2006/chart" r:id="rId2"/>
          </a:graphicData>
        </a:graphic>
      </p:graphicFrame>
      <p:sp>
        <p:nvSpPr>
          <p:cNvPr id="9"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LBNL 2024 US Data Center Energy Report · Google Environmental Reports 2024–26 · The Guardian 2023, Mongabay 2023  ·  Image: AI-generated illustration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Israel &amp; Lev HaSharon: The Power Problem</a:t>
            </a:r>
            <a:endParaRPr lang="en-US" sz="4000" dirty="0"/>
          </a:p>
        </p:txBody>
      </p:sp>
      <p:sp>
        <p:nvSpPr>
          <p:cNvPr id="3" name="body"/>
          <p:cNvSpPr txBox="1"/>
          <p:nvPr/>
        </p:nvSpPr>
        <p:spPr>
          <a:xfrm>
            <a:off x="548640" y="1417320"/>
            <a:ext cx="5943600" cy="4480560"/>
          </a:xfrm>
          <a:prstGeom prst="rect">
            <a:avLst/>
          </a:prstGeom>
          <a:noFill/>
          <a:ln/>
        </p:spPr>
        <p:txBody>
          <a:bodyPr wrap="square" lIns="0" tIns="0" rIns="0" bIns="0" rtlCol="0" anchor="t"/>
          <a:lstStyle/>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Most of our tap water is </a:t>
            </a:r>
            <a:r>
              <a:rPr lang="en-US" sz="2100" b="1" dirty="0">
                <a:solidFill>
                  <a:srgbClr val="8FD3E8"/>
                </a:solidFill>
                <a:latin typeface="Calibri" pitchFamily="34" charset="0"/>
                <a:ea typeface="Calibri" pitchFamily="34" charset="-122"/>
                <a:cs typeface="Calibri" pitchFamily="34" charset="-120"/>
              </a:rPr>
              <a:t>desalinated</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Desalination needs </a:t>
            </a:r>
            <a:r>
              <a:rPr lang="en-US" sz="2100" b="1" dirty="0">
                <a:solidFill>
                  <a:srgbClr val="FFFFFF"/>
                </a:solidFill>
                <a:latin typeface="Calibri" pitchFamily="34" charset="0"/>
                <a:ea typeface="Calibri" pitchFamily="34" charset="-122"/>
                <a:cs typeface="Calibri" pitchFamily="34" charset="-120"/>
              </a:rPr>
              <a:t>a lot of electricity</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Data centers requested </a:t>
            </a:r>
            <a:r>
              <a:rPr lang="en-US" sz="2100" b="1" dirty="0">
                <a:solidFill>
                  <a:srgbClr val="F2A33A"/>
                </a:solidFill>
                <a:latin typeface="Calibri" pitchFamily="34" charset="0"/>
                <a:ea typeface="Calibri" pitchFamily="34" charset="-122"/>
                <a:cs typeface="Calibri" pitchFamily="34" charset="-120"/>
              </a:rPr>
              <a:t>27,000 MW</a:t>
            </a:r>
            <a:r>
              <a:rPr lang="en-US" sz="2100" dirty="0">
                <a:solidFill>
                  <a:srgbClr val="E3EBF1"/>
                </a:solidFill>
                <a:latin typeface="Calibri" pitchFamily="34" charset="0"/>
                <a:ea typeface="Calibri" pitchFamily="34" charset="-122"/>
                <a:cs typeface="Calibri" pitchFamily="34" charset="-120"/>
              </a:rPr>
              <a:t> (≈3× average)</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July 2026: </a:t>
            </a:r>
            <a:r>
              <a:rPr lang="en-US" sz="2100" dirty="0">
                <a:solidFill>
                  <a:srgbClr val="E3EBF1"/>
                </a:solidFill>
                <a:latin typeface="Calibri" pitchFamily="34" charset="0"/>
                <a:ea typeface="Calibri" pitchFamily="34" charset="-122"/>
                <a:cs typeface="Calibri" pitchFamily="34" charset="-120"/>
              </a:rPr>
              <a:t>regulator froze new connections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Near us: </a:t>
            </a:r>
            <a:r>
              <a:rPr lang="en-US" sz="2100" dirty="0">
                <a:solidFill>
                  <a:srgbClr val="E3EBF1"/>
                </a:solidFill>
                <a:latin typeface="Calibri" pitchFamily="34" charset="0"/>
                <a:ea typeface="Calibri" pitchFamily="34" charset="-122"/>
                <a:cs typeface="Calibri" pitchFamily="34" charset="-120"/>
              </a:rPr>
              <a:t>Kfar Yona, Netanya, Hadera projects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2026 water shortage: </a:t>
            </a:r>
            <a:r>
              <a:rPr lang="en-US" sz="2100" dirty="0">
                <a:solidFill>
                  <a:srgbClr val="E3EBF1"/>
                </a:solidFill>
                <a:latin typeface="Calibri" pitchFamily="34" charset="0"/>
                <a:ea typeface="Calibri" pitchFamily="34" charset="-122"/>
                <a:cs typeface="Calibri" pitchFamily="34" charset="-120"/>
              </a:rPr>
              <a:t>farms were cut first</a:t>
            </a:r>
            <a:endParaRPr lang="en-US" sz="2100" dirty="0"/>
          </a:p>
        </p:txBody>
      </p:sp>
      <p:sp>
        <p:nvSpPr>
          <p:cNvPr id="4" name="Shape 2"/>
          <p:cNvSpPr/>
          <p:nvPr/>
        </p:nvSpPr>
        <p:spPr>
          <a:xfrm>
            <a:off x="7406640" y="1280160"/>
            <a:ext cx="4343400" cy="2560320"/>
          </a:xfrm>
          <a:prstGeom prst="roundRect">
            <a:avLst>
              <a:gd name="adj" fmla="val 4286"/>
            </a:avLst>
          </a:prstGeom>
          <a:solidFill>
            <a:srgbClr val="FFFFFF">
              <a:alpha val="92000"/>
            </a:srgbClr>
          </a:solidFill>
          <a:ln w="12700">
            <a:solidFill>
              <a:srgbClr val="FFFFFF">
                <a:alpha val="0"/>
              </a:srgbClr>
            </a:solidFill>
            <a:prstDash val="solid"/>
          </a:ln>
        </p:spPr>
      </p:sp>
      <p:sp>
        <p:nvSpPr>
          <p:cNvPr id="5" name="chart-title"/>
          <p:cNvSpPr txBox="1"/>
          <p:nvPr/>
        </p:nvSpPr>
        <p:spPr>
          <a:xfrm>
            <a:off x="7635240" y="1371600"/>
            <a:ext cx="3931920" cy="658368"/>
          </a:xfrm>
          <a:prstGeom prst="rect">
            <a:avLst/>
          </a:prstGeom>
          <a:noFill/>
          <a:ln/>
        </p:spPr>
        <p:txBody>
          <a:bodyPr wrap="square" lIns="0" tIns="0" rIns="0" bIns="0" rtlCol="0" anchor="t"/>
          <a:lstStyle/>
          <a:p>
            <a:pPr indent="0" marL="0">
              <a:buNone/>
            </a:pPr>
            <a:r>
              <a:rPr lang="en-US" sz="2000" b="1" dirty="0">
                <a:solidFill>
                  <a:srgbClr val="0E1B2A"/>
                </a:solidFill>
                <a:latin typeface="Calibri" pitchFamily="34" charset="0"/>
                <a:ea typeface="Calibri" pitchFamily="34" charset="-122"/>
                <a:cs typeface="Calibri" pitchFamily="34" charset="-120"/>
              </a:rPr>
              <a:t>Requests are 18× what</a:t>
            </a:r>
            <a:endParaRPr lang="en-US" sz="2000" dirty="0"/>
          </a:p>
          <a:p>
            <a:pPr indent="0" marL="0">
              <a:buNone/>
            </a:pPr>
            <a:r>
              <a:rPr lang="en-US" sz="2000" b="1" dirty="0">
                <a:solidFill>
                  <a:srgbClr val="0E1B2A"/>
                </a:solidFill>
                <a:latin typeface="Calibri" pitchFamily="34" charset="0"/>
                <a:ea typeface="Calibri" pitchFamily="34" charset="-122"/>
                <a:cs typeface="Calibri" pitchFamily="34" charset="-120"/>
              </a:rPr>
              <a:t>is already promised</a:t>
            </a:r>
            <a:endParaRPr lang="en-US" sz="2000" dirty="0"/>
          </a:p>
        </p:txBody>
      </p:sp>
      <p:graphicFrame>
        <p:nvGraphicFramePr>
          <p:cNvPr id="6" name="Chart 0" descr=""/>
          <p:cNvGraphicFramePr/>
          <p:nvPr/>
        </p:nvGraphicFramePr>
        <p:xfrm>
          <a:off x="7498080" y="2011680"/>
          <a:ext cx="4206240" cy="1783080"/>
        </p:xfrm>
        <a:graphic xmlns:a="http://schemas.openxmlformats.org/drawingml/2006/main">
          <a:graphicData uri="http://schemas.openxmlformats.org/drawingml/2006/chart">
            <c:chart xmlns:c="http://schemas.openxmlformats.org/drawingml/2006/chart" r:id="rId2"/>
          </a:graphicData>
        </a:graphic>
      </p:graphicFrame>
      <p:sp>
        <p:nvSpPr>
          <p:cNvPr id="7"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Electricity Authority &amp; Noga via DCD, JNS, Ctech (Jul 2026) · State Comptroller 2024 · DCD, Globes, Ctech · Times of Israel, CNN (Sep 2026)  ·  Image: example data-center campus, not in Israel</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Who Is Pushing Back? NGOs &amp; Laws</a:t>
            </a:r>
            <a:endParaRPr lang="en-US" sz="4000" dirty="0"/>
          </a:p>
        </p:txBody>
      </p:sp>
      <p:sp>
        <p:nvSpPr>
          <p:cNvPr id="3" name="Shape 1"/>
          <p:cNvSpPr/>
          <p:nvPr/>
        </p:nvSpPr>
        <p:spPr>
          <a:xfrm>
            <a:off x="320040" y="1234440"/>
            <a:ext cx="4206240" cy="5440680"/>
          </a:xfrm>
          <a:prstGeom prst="roundRect">
            <a:avLst>
              <a:gd name="adj" fmla="val 2609"/>
            </a:avLst>
          </a:prstGeom>
          <a:solidFill>
            <a:srgbClr val="0B2239">
              <a:alpha val="88000"/>
            </a:srgbClr>
          </a:solidFill>
          <a:ln w="12700">
            <a:solidFill>
              <a:srgbClr val="0B2239">
                <a:alpha val="0"/>
              </a:srgbClr>
            </a:solidFill>
            <a:prstDash val="solid"/>
          </a:ln>
        </p:spPr>
      </p:sp>
      <p:sp>
        <p:nvSpPr>
          <p:cNvPr id="4" name="header"/>
          <p:cNvSpPr txBox="1"/>
          <p:nvPr/>
        </p:nvSpPr>
        <p:spPr>
          <a:xfrm>
            <a:off x="548640" y="1371600"/>
            <a:ext cx="3794760" cy="7772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NGO: SPNI</a:t>
            </a:r>
            <a:endParaRPr lang="en-US" sz="2600" dirty="0"/>
          </a:p>
          <a:p>
            <a:pPr indent="0" marL="0">
              <a:buNone/>
            </a:pPr>
            <a:r>
              <a:rPr lang="en-US" sz="1300" dirty="0">
                <a:solidFill>
                  <a:srgbClr val="A9BCCB"/>
                </a:solidFill>
                <a:latin typeface="Calibri" pitchFamily="34" charset="0"/>
                <a:ea typeface="Calibri" pitchFamily="34" charset="-122"/>
                <a:cs typeface="Calibri" pitchFamily="34" charset="-120"/>
              </a:rPr>
              <a:t>Society for the Protection of Nature in Israel</a:t>
            </a:r>
            <a:endParaRPr lang="en-US" sz="2600" dirty="0"/>
          </a:p>
        </p:txBody>
      </p:sp>
      <p:sp>
        <p:nvSpPr>
          <p:cNvPr id="5" name="body"/>
          <p:cNvSpPr txBox="1"/>
          <p:nvPr/>
        </p:nvSpPr>
        <p:spPr>
          <a:xfrm>
            <a:off x="548640" y="2194560"/>
            <a:ext cx="3840480" cy="1508760"/>
          </a:xfrm>
          <a:prstGeom prst="rect">
            <a:avLst/>
          </a:prstGeom>
          <a:noFill/>
          <a:ln/>
        </p:spPr>
        <p:txBody>
          <a:bodyPr wrap="square" lIns="0" tIns="0" rIns="0" bIns="0" rtlCol="0" anchor="t"/>
          <a:lstStyle/>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Advocacy against the AI server-farm fast-track bill</a:t>
            </a:r>
            <a:endParaRPr lang="en-US" sz="2000" dirty="0"/>
          </a:p>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The bill lets big farms skip local committees</a:t>
            </a:r>
            <a:endParaRPr lang="en-US" sz="2000" dirty="0"/>
          </a:p>
        </p:txBody>
      </p:sp>
      <p:sp>
        <p:nvSpPr>
          <p:cNvPr id="6" name="header"/>
          <p:cNvSpPr txBox="1"/>
          <p:nvPr/>
        </p:nvSpPr>
        <p:spPr>
          <a:xfrm>
            <a:off x="548640" y="3749040"/>
            <a:ext cx="379476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Legislation &amp; regulation</a:t>
            </a:r>
            <a:endParaRPr lang="en-US" sz="2200" dirty="0"/>
          </a:p>
        </p:txBody>
      </p:sp>
      <p:sp>
        <p:nvSpPr>
          <p:cNvPr id="7" name="body"/>
          <p:cNvSpPr txBox="1"/>
          <p:nvPr/>
        </p:nvSpPr>
        <p:spPr>
          <a:xfrm>
            <a:off x="548640" y="4251960"/>
            <a:ext cx="3840480" cy="1783080"/>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EU (2023): </a:t>
            </a:r>
            <a:r>
              <a:rPr lang="en-US" sz="2000" dirty="0">
                <a:solidFill>
                  <a:srgbClr val="E3EBF1"/>
                </a:solidFill>
                <a:latin typeface="Calibri" pitchFamily="34" charset="0"/>
                <a:ea typeface="Calibri" pitchFamily="34" charset="-122"/>
                <a:cs typeface="Calibri" pitchFamily="34" charset="-120"/>
              </a:rPr>
              <a:t>data centers must report water use</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Israel’s Water Law (1959): </a:t>
            </a:r>
            <a:r>
              <a:rPr lang="en-US" sz="2000" dirty="0">
                <a:solidFill>
                  <a:srgbClr val="E3EBF1"/>
                </a:solidFill>
                <a:latin typeface="Calibri" pitchFamily="34" charset="0"/>
                <a:ea typeface="Calibri" pitchFamily="34" charset="-122"/>
                <a:cs typeface="Calibri" pitchFamily="34" charset="-120"/>
              </a:rPr>
              <a:t>water is public</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 </a:t>
            </a:r>
            <a:r>
              <a:rPr lang="en-US" sz="2000" dirty="0">
                <a:solidFill>
                  <a:srgbClr val="E3EBF1"/>
                </a:solidFill>
                <a:latin typeface="Calibri" pitchFamily="34" charset="0"/>
                <a:ea typeface="Calibri" pitchFamily="34" charset="-122"/>
                <a:cs typeface="Calibri" pitchFamily="34" charset="-120"/>
              </a:rPr>
              <a:t>no disclosure rule found</a:t>
            </a:r>
            <a:endParaRPr lang="en-US" sz="2000" dirty="0"/>
          </a:p>
        </p:txBody>
      </p:sp>
      <p:sp>
        <p:nvSpPr>
          <p:cNvPr id="8" name="caption-sources"/>
          <p:cNvSpPr txBox="1"/>
          <p:nvPr/>
        </p:nvSpPr>
        <p:spPr>
          <a:xfrm>
            <a:off x="548640" y="6108192"/>
            <a:ext cx="3794760" cy="502920"/>
          </a:xfrm>
          <a:prstGeom prst="rect">
            <a:avLst/>
          </a:prstGeom>
          <a:noFill/>
          <a:ln/>
        </p:spPr>
        <p:txBody>
          <a:bodyPr wrap="square" lIns="0" tIns="0" rIns="0" bIns="0" rtlCol="0" anchor="t"/>
          <a:lstStyle/>
          <a:p>
            <a:pPr indent="0" marL="0">
              <a:buNone/>
            </a:pPr>
            <a:r>
              <a:rPr lang="en-US" sz="900" dirty="0">
                <a:solidFill>
                  <a:srgbClr val="A9BCCB"/>
                </a:solidFill>
                <a:latin typeface="Calibri" pitchFamily="34" charset="0"/>
                <a:ea typeface="Calibri" pitchFamily="34" charset="-122"/>
                <a:cs typeface="Calibri" pitchFamily="34" charset="-120"/>
              </a:rPr>
              <a:t>Sources: Calcalist 2026 (SPNI) · Knesset bill, 1st reading 1 Jun 2026 · EU Dir. 2023/1791 Art. 12 · Water Law 1959 · Image: AI-generated illustration, not a real event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200" b="1" dirty="0">
                <a:solidFill>
                  <a:srgbClr val="0E1B2A"/>
                </a:solidFill>
                <a:latin typeface="Cambria" pitchFamily="34" charset="0"/>
                <a:ea typeface="Cambria" pitchFamily="34" charset="-122"/>
                <a:cs typeface="Cambria" pitchFamily="34" charset="-120"/>
              </a:rPr>
              <a:t>Our Idea: Run AI Locally</a:t>
            </a:r>
            <a:endParaRPr lang="en-US" sz="4200" dirty="0"/>
          </a:p>
        </p:txBody>
      </p:sp>
      <p:sp>
        <p:nvSpPr>
          <p:cNvPr id="3" name="Shape 1"/>
          <p:cNvSpPr/>
          <p:nvPr/>
        </p:nvSpPr>
        <p:spPr>
          <a:xfrm>
            <a:off x="411480" y="1325880"/>
            <a:ext cx="6355080" cy="3977640"/>
          </a:xfrm>
          <a:prstGeom prst="roundRect">
            <a:avLst>
              <a:gd name="adj" fmla="val 2759"/>
            </a:avLst>
          </a:prstGeom>
          <a:solidFill>
            <a:srgbClr val="0B2239">
              <a:alpha val="88000"/>
            </a:srgbClr>
          </a:solidFill>
          <a:ln w="12700">
            <a:solidFill>
              <a:srgbClr val="0B2239">
                <a:alpha val="0"/>
              </a:srgbClr>
            </a:solidFill>
            <a:prstDash val="solid"/>
          </a:ln>
        </p:spPr>
      </p:sp>
      <p:sp>
        <p:nvSpPr>
          <p:cNvPr id="4" name="header"/>
          <p:cNvSpPr txBox="1"/>
          <p:nvPr/>
        </p:nvSpPr>
        <p:spPr>
          <a:xfrm>
            <a:off x="685800" y="1508760"/>
            <a:ext cx="5897880" cy="457200"/>
          </a:xfrm>
          <a:prstGeom prst="rect">
            <a:avLst/>
          </a:prstGeom>
          <a:noFill/>
          <a:ln/>
        </p:spPr>
        <p:txBody>
          <a:bodyPr wrap="square" lIns="0" tIns="0" rIns="0" bIns="0" rtlCol="0" anchor="t"/>
          <a:lstStyle/>
          <a:p>
            <a:pPr indent="0" marL="0">
              <a:buNone/>
            </a:pPr>
            <a:r>
              <a:rPr lang="en-US" sz="2200" b="1" dirty="0">
                <a:solidFill>
                  <a:srgbClr val="F2A33A"/>
                </a:solidFill>
                <a:latin typeface="Calibri" pitchFamily="34" charset="0"/>
                <a:ea typeface="Calibri" pitchFamily="34" charset="-122"/>
                <a:cs typeface="Calibri" pitchFamily="34" charset="-120"/>
              </a:rPr>
              <a:t>Make LLMs run on normal PCs and laptops</a:t>
            </a:r>
            <a:endParaRPr lang="en-US" sz="2200" dirty="0"/>
          </a:p>
        </p:txBody>
      </p:sp>
      <p:sp>
        <p:nvSpPr>
          <p:cNvPr id="5" name="body"/>
          <p:cNvSpPr txBox="1"/>
          <p:nvPr/>
        </p:nvSpPr>
        <p:spPr>
          <a:xfrm>
            <a:off x="685800" y="2148840"/>
            <a:ext cx="5897880" cy="3840480"/>
          </a:xfrm>
          <a:prstGeom prst="rect">
            <a:avLst/>
          </a:prstGeom>
          <a:noFill/>
          <a:ln/>
        </p:spPr>
        <p:txBody>
          <a:bodyPr wrap="square" lIns="0" tIns="0" rIns="0" bIns="0" rtlCol="0" anchor="t"/>
          <a:lstStyle/>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Companies make models </a:t>
            </a:r>
            <a:r>
              <a:rPr lang="en-US" sz="2100" b="1" dirty="0">
                <a:solidFill>
                  <a:srgbClr val="FFFFFF"/>
                </a:solidFill>
                <a:latin typeface="Calibri" pitchFamily="34" charset="0"/>
                <a:ea typeface="Calibri" pitchFamily="34" charset="-122"/>
                <a:cs typeface="Calibri" pitchFamily="34" charset="-120"/>
              </a:rPr>
              <a:t>smaller and more efficient</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People download a model instead of the cloud</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How: </a:t>
            </a:r>
            <a:r>
              <a:rPr lang="en-US" sz="2100" dirty="0">
                <a:solidFill>
                  <a:srgbClr val="E3EBF1"/>
                </a:solidFill>
                <a:latin typeface="Calibri" pitchFamily="34" charset="0"/>
                <a:ea typeface="Calibri" pitchFamily="34" charset="-122"/>
                <a:cs typeface="Calibri" pitchFamily="34" charset="-120"/>
              </a:rPr>
              <a:t>optimization, quantization, smaller models</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Better chips make local AI stronger</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Already real: </a:t>
            </a:r>
            <a:r>
              <a:rPr lang="en-US" sz="2100" dirty="0">
                <a:solidFill>
                  <a:srgbClr val="E3EBF1"/>
                </a:solidFill>
                <a:latin typeface="Calibri" pitchFamily="34" charset="0"/>
                <a:ea typeface="Calibri" pitchFamily="34" charset="-122"/>
                <a:cs typeface="Calibri" pitchFamily="34" charset="-120"/>
              </a:rPr>
              <a:t>Phi-3 runs on a phone</a:t>
            </a:r>
            <a:endParaRPr lang="en-US" sz="2100" dirty="0"/>
          </a:p>
        </p:txBody>
      </p:sp>
      <p:sp>
        <p:nvSpPr>
          <p:cNvPr id="6"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E6E0D8"/>
                </a:solidFill>
                <a:latin typeface="Calibri" pitchFamily="34" charset="0"/>
                <a:ea typeface="Calibri" pitchFamily="34" charset="-122"/>
                <a:cs typeface="Calibri" pitchFamily="34" charset="-120"/>
              </a:rPr>
              <a:t>Sources: Microsoft Phi-3 report (2024) · Meta Llama 3.2 (2024) · Dettmers et al., QLoRA (2023) · Microsoft Copilot+ PC (2024)  ·  Images: 3D illustrations made for this presentation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667512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Would We Do? Our Plan</a:t>
            </a:r>
            <a:endParaRPr lang="en-US" sz="3400" dirty="0"/>
          </a:p>
        </p:txBody>
      </p:sp>
      <p:sp>
        <p:nvSpPr>
          <p:cNvPr id="3" name="header"/>
          <p:cNvSpPr txBox="1"/>
          <p:nvPr/>
        </p:nvSpPr>
        <p:spPr>
          <a:xfrm>
            <a:off x="548640" y="1188720"/>
            <a:ext cx="6583680" cy="41148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policy reform for AI sustainability</a:t>
            </a:r>
            <a:endParaRPr lang="en-US" sz="2200" dirty="0"/>
          </a:p>
        </p:txBody>
      </p:sp>
      <p:sp>
        <p:nvSpPr>
          <p:cNvPr id="4" name="Shape 2"/>
          <p:cNvSpPr/>
          <p:nvPr/>
        </p:nvSpPr>
        <p:spPr>
          <a:xfrm>
            <a:off x="365760" y="1737360"/>
            <a:ext cx="4297680" cy="4434840"/>
          </a:xfrm>
          <a:prstGeom prst="roundRect">
            <a:avLst>
              <a:gd name="adj" fmla="val 2553"/>
            </a:avLst>
          </a:prstGeom>
          <a:solidFill>
            <a:srgbClr val="0B2239">
              <a:alpha val="86000"/>
            </a:srgbClr>
          </a:solidFill>
          <a:ln w="12700">
            <a:solidFill>
              <a:srgbClr val="0B2239">
                <a:alpha val="0"/>
              </a:srgbClr>
            </a:solidFill>
            <a:prstDash val="solid"/>
          </a:ln>
        </p:spPr>
      </p:sp>
      <p:sp>
        <p:nvSpPr>
          <p:cNvPr id="5" name="body"/>
          <p:cNvSpPr txBox="1"/>
          <p:nvPr/>
        </p:nvSpPr>
        <p:spPr>
          <a:xfrm>
            <a:off x="566928" y="1874520"/>
            <a:ext cx="3977640" cy="233172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Companies release local versions of their LLMs</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Optimize models, not just make them bigger</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Keep data centers for training and giant models</a:t>
            </a:r>
            <a:endParaRPr lang="en-US" sz="2000" dirty="0"/>
          </a:p>
        </p:txBody>
      </p:sp>
      <p:sp>
        <p:nvSpPr>
          <p:cNvPr id="6" name="body"/>
          <p:cNvSpPr txBox="1"/>
          <p:nvPr/>
        </p:nvSpPr>
        <p:spPr>
          <a:xfrm>
            <a:off x="566928" y="4297680"/>
            <a:ext cx="3977640" cy="1783080"/>
          </a:xfrm>
          <a:prstGeom prst="rect">
            <a:avLst/>
          </a:prstGeom>
          <a:noFill/>
          <a:ln/>
        </p:spPr>
        <p:txBody>
          <a:bodyPr wrap="square" lIns="0" tIns="0" rIns="0" bIns="0" rtlCol="0" anchor="t"/>
          <a:lstStyle/>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Could bring: </a:t>
            </a:r>
            <a:r>
              <a:rPr lang="en-US" sz="2000" dirty="0">
                <a:solidFill>
                  <a:srgbClr val="E3EBF1"/>
                </a:solidFill>
                <a:latin typeface="Calibri" pitchFamily="34" charset="0"/>
                <a:ea typeface="Calibri" pitchFamily="34" charset="-122"/>
                <a:cs typeface="Calibri" pitchFamily="34" charset="-120"/>
              </a:rPr>
              <a:t>less water, less land, more privacy</a:t>
            </a:r>
            <a:endParaRPr lang="en-US" sz="2000" dirty="0"/>
          </a:p>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Awareness idea: </a:t>
            </a:r>
            <a:r>
              <a:rPr lang="en-US" sz="2000" dirty="0">
                <a:solidFill>
                  <a:srgbClr val="E3EBF1"/>
                </a:solidFill>
                <a:latin typeface="Calibri" pitchFamily="34" charset="0"/>
                <a:ea typeface="Calibri" pitchFamily="34" charset="-122"/>
                <a:cs typeface="Calibri" pitchFamily="34" charset="-120"/>
              </a:rPr>
              <a:t>an “AI label” for water, power</a:t>
            </a:r>
            <a:endParaRPr lang="en-US" sz="2000" dirty="0"/>
          </a:p>
        </p:txBody>
      </p:sp>
      <p:sp>
        <p:nvSpPr>
          <p:cNvPr id="7" name="quote"/>
          <p:cNvSpPr txBox="1"/>
          <p:nvPr/>
        </p:nvSpPr>
        <p:spPr>
          <a:xfrm>
            <a:off x="6903720" y="365760"/>
            <a:ext cx="4892040" cy="20116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“Don’t just build bigger data centers. </a:t>
            </a:r>
            <a:r>
              <a:rPr lang="en-US" sz="2800" b="1" dirty="0">
                <a:solidFill>
                  <a:srgbClr val="F2A33A"/>
                </a:solidFill>
                <a:latin typeface="Cambria" pitchFamily="34" charset="0"/>
                <a:ea typeface="Cambria" pitchFamily="34" charset="-122"/>
                <a:cs typeface="Cambria" pitchFamily="34" charset="-120"/>
              </a:rPr>
              <a:t>Make AI smarter and more efficient.”</a:t>
            </a:r>
            <a:endParaRPr lang="en-US" sz="2800" dirty="0"/>
          </a:p>
        </p:txBody>
      </p:sp>
      <p:sp>
        <p:nvSpPr>
          <p:cNvPr id="8"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Our team’s plan · Sources for efficiency: Google 2025 (energy per prompt −33× in one year), Microsoft Phi-3 2024  ·  Image: AI-generated illustration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2026-09-29T16:17:05Z</dcterms:created>
  <dcterms:modified xsi:type="dcterms:W3CDTF">2026-09-29T16:17:05Z</dcterms:modified>
</cp:coreProperties>
</file>