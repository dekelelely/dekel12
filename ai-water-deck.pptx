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Google water use</c:v>
                </c:pt>
              </c:strCache>
            </c:strRef>
          </c:tx>
          <c:spPr>
            <a:solidFill>
              <a:srgbClr val="1A9BB8"/>
            </a:solidFill>
            <a:effectLst/>
          </c:spPr>
          <c:invertIfNegative val="0"/>
          <c:dLbls>
            <c:numFmt formatCode="0.0" sourceLinked="0"/>
            <c:txPr>
              <a:bodyPr/>
              <a:lstStyle/>
              <a:p>
                <a:pPr>
                  <a:defRPr b="1" i="0" strike="noStrike" sz="1800" u="none">
                    <a:solidFill>
                      <a:srgbClr val="FFFFF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24.2</c:v>
                </c:pt>
                <c:pt idx="1">
                  <c:v>30.7</c:v>
                </c:pt>
                <c:pt idx="2">
                  <c:v>41.3</c:v>
                </c:pt>
              </c:numCache>
            </c:numRef>
          </c:val>
        </c:ser>
        <c:dLbls>
          <c:numFmt formatCode="0.0" sourceLinked="0"/>
          <c:txPr>
            <a:bodyPr/>
            <a:lstStyle/>
            <a:p>
              <a:pPr>
                <a:defRPr b="1" i="0" strike="noStrike" sz="1800" u="none">
                  <a:solidFill>
                    <a:srgbClr val="FFFFFF"/>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FFFFFF"/>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Data-center grid demand</c:v>
                </c:pt>
              </c:strCache>
            </c:strRef>
          </c:tx>
          <c:spPr>
            <a:solidFill>
              <a:srgbClr val="F2A33A"/>
            </a:solidFill>
            <a:effectLst/>
          </c:spPr>
          <c:invertIfNegative val="0"/>
          <c:dLbls>
            <c:numFmt formatCode="#,##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Already committed</c:v>
                  </c:pt>
                  <c:pt idx="1">
                    <c:v>Pending requests</c:v>
                  </c:pt>
                </c:lvl>
              </c:multiLvlStrCache>
            </c:multiLvlStrRef>
          </c:cat>
          <c:val>
            <c:numRef>
              <c:f>Sheet1!$B$2:$B$3</c:f>
              <c:numCache>
                <c:formatCode>General</c:formatCode>
                <c:ptCount val="2"/>
                <c:pt idx="0">
                  <c:v>1500</c:v>
                </c:pt>
                <c:pt idx="1">
                  <c:v>27000</c:v>
                </c:pt>
              </c:numCache>
            </c:numRef>
          </c:val>
        </c:ser>
        <c:dLbls>
          <c:numFmt formatCode="#,##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5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30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talking points and sources (full script: speaker-notes.md)
- Data centers need water for cooling and electricity to run.
- ON-SITE vs OFF-SITE [S1 LBNL 2024]: US data centers used 66 billion litres on-site in 2023 and about 800 billion litres off-site (water used by the power plants). 800 / 66 ≈ 12.
- Google +70% [S6 Google Environmental Reports]: 6.4B gal = 24.2B L (2023); 8.1B gal = 30.7B L (2024); 10.9B gal = 41.3B L (2025). 41.3 / 24.2 = 1.71. Company-reported, all operations.
- Uruguay [S9]: 2023 drought, worst in 74 years. Montevideo tap water was mixed with salty water. Google's plan: about 7.6 million litres a day. Slogan: 'It's not drought, it's pillage.' Google made the project smaller and switched to air cooling.
- Careful: 'one bottle of water per question' is a misreading. The study [S3] says 500 ml per about 10–50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talking points and sources
- Desalination share [S17]: sources disagree (State Comptroller 2024: 'about half'; Times of Israel 2026: over 80%). Say 'most', not a single number.
- Desalination needs electricity [S16]: the State Comptroller (2024) names desalination AND data centers as drivers of 2030 electricity demand.
- 27,000 MW [S14, S15]: pending data-center requests to Noga, about 3 times Israel's average electricity use. 1,500 MW already committed uses up the planned new supply to 2035 (Ctech). 27,000 / 1,500 = 18.
- July 2026 freeze [S14]: the Electricity Authority stopped new data-center applications of 8 MW or more for 140 days from 21 July 2026 (until about early December).
- Near us [S21, S22, S15]: MedOne, two underground data centers in Kfar Yona (next to Lev HaSharon, not inside it), first opens 2026. NED Alpha Campus in Netanya, 42 MW, early 2027. Mega Or asked for 1,111 MW at the old Alliance factory in Hadera.
- Farms first [S18]: end of Aug 2026, algae shut 5 of 6 big desalination plants. The Water Authority told councils to cut farm and park irrigation. Ramat HaNegev farms lost fresh water completely. NOT caused by data centers. It shows who is cut first.
- Unverified: water quotas for Lev HaSharon moshavim (no public figures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talking points and sources
- SPNI [S25]: publicly opposed the bill that makes AI server farms 'national infrastructure'. Warned of a 'destructive domino effect' on open land and energy security. Wants the status only for security, intelligence and academic use. Also active: Greenpeace Israel, Green Course.
- The bill [S24]: Planning and Building Law amendment. AI server farms of 50 MW or more become 'national infrastructure'. They go to the National Infrastructure Committee and skip local and district committees and their objections. Passed first reading on 1 June 2026. FINAL PASSAGE UNVERIFIED: check before presenting.
- EU law [S28]: Energy Efficiency Directive (EU) 2023/1791, Article 12. Data centers with 500 kW or more of IT power must report energy and water use every year to an EU database.
- Water Law [S27]: Water Law 5719-1959, section 1. Water sources in Israel are public property, controlled by the State, for the needs of the residents and the development of the country.
- Gap: we found no Israeli rule that makes data centers publish their water or power use. Say 'we found no', not 'there is no'.
- Photo idea: real protest or public meeting photo (e.g. Tucson council, Uruguay protest), or a Knesset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talking points
- This is OUR proposal, not an existing law. It is a policy reform with three parts:
  1) Disclosure: every data center in Israel above 5 MW publishes its yearly water and electricity use, like the EU rule [S28] (EU threshold: 500 kW). The 5 MW threshold is our choice.
  2) Local voice: even on the national fast track [S24], the local council and residents still get a public hearing before approval.
  3) Priority: in a water or power shortage, homes and farms come before servers. In the 2026 shortage, farms were cut first [S18].
- 'Discrimination': we use it carefully. We did NOT find proof that Israel puts data centers in poor areas on purpose. Our point: when locals lose their say, some communities can be treated unfairly. Fair siting rules prevent that.
- Awareness idea: an 'AI nutrition label' poster, like a food label. It shows on-site water, off-site water and electricity, with the source and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closing
- Takeaway: AI is not magic in the sky. It uses real water and real electricity, in real places, like Kfar Yona, Netanya and Hadera.
- Call to action: when a new data center is planned, ask who decides and who pays.
- Sustainability without social justice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239"/>
        </a:solidFill>
      </p:bgPr>
    </p:bg>
    <p:spTree>
      <p:nvGrpSpPr>
        <p:cNvPr id="1" name=""/>
        <p:cNvGrpSpPr/>
        <p:nvPr/>
      </p:nvGrpSpPr>
      <p:grpSpPr>
        <a:xfrm>
          <a:off x="0" y="0"/>
          <a:ext cx="0" cy="0"/>
          <a:chOff x="0" y="0"/>
          <a:chExt cx="0" cy="0"/>
        </a:xfrm>
      </p:grpSpPr>
      <p:sp>
        <p:nvSpPr>
          <p:cNvPr id="2" name="title"/>
          <p:cNvSpPr txBox="1"/>
          <p:nvPr/>
        </p:nvSpPr>
        <p:spPr>
          <a:xfrm>
            <a:off x="548640" y="502920"/>
            <a:ext cx="11064240" cy="868680"/>
          </a:xfrm>
          <a:prstGeom prst="rect">
            <a:avLst/>
          </a:prstGeom>
          <a:noFill/>
          <a:ln/>
        </p:spPr>
        <p:txBody>
          <a:bodyPr wrap="square" lIns="0" tIns="0" rIns="0" bIns="0" rtlCol="0" anchor="ctr"/>
          <a:lstStyle/>
          <a:p>
            <a:pPr indent="0" marL="0">
              <a:buNone/>
            </a:pPr>
            <a:r>
              <a:rPr lang="en-US" sz="4600" dirty="0">
                <a:solidFill>
                  <a:srgbClr val="FFFFFF"/>
                </a:solidFill>
                <a:latin typeface="Cambria" pitchFamily="34" charset="0"/>
                <a:ea typeface="Cambria" pitchFamily="34" charset="-122"/>
                <a:cs typeface="Cambria" pitchFamily="34" charset="-120"/>
              </a:rPr>
              <a:t>AI’s Hidden Thirst: Who Pays?</a:t>
            </a:r>
            <a:endParaRPr lang="en-US" sz="4600" dirty="0"/>
          </a:p>
        </p:txBody>
      </p:sp>
      <p:sp>
        <p:nvSpPr>
          <p:cNvPr id="3" name="kicker"/>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2200" dirty="0">
                <a:solidFill>
                  <a:srgbClr val="8FA6B8"/>
                </a:solidFill>
                <a:latin typeface="Calibri" pitchFamily="34" charset="0"/>
                <a:ea typeface="Calibri" pitchFamily="34" charset="-122"/>
                <a:cs typeface="Calibri" pitchFamily="34" charset="-120"/>
              </a:rPr>
              <a:t>A social justice question: who carries AI’s impact?</a:t>
            </a:r>
            <a:endParaRPr lang="en-US" sz="2200" dirty="0"/>
          </a:p>
        </p:txBody>
      </p:sp>
      <p:sp>
        <p:nvSpPr>
          <p:cNvPr id="4" name="body"/>
          <p:cNvSpPr txBox="1"/>
          <p:nvPr/>
        </p:nvSpPr>
        <p:spPr>
          <a:xfrm>
            <a:off x="548640" y="2240280"/>
            <a:ext cx="5897880" cy="3749040"/>
          </a:xfrm>
          <a:prstGeom prst="rect">
            <a:avLst/>
          </a:prstGeom>
          <a:noFill/>
          <a:ln/>
        </p:spPr>
        <p:txBody>
          <a:bodyPr wrap="square" lIns="0" tIns="0" rIns="0" bIns="0" rtlCol="0" anchor="t"/>
          <a:lstStyle/>
          <a:p>
            <a:pPr marL="279400" indent="-279400">
              <a:spcAft>
                <a:spcPts val="1600"/>
              </a:spcAft>
              <a:buSzPct val="100000"/>
              <a:buChar char="•"/>
            </a:pPr>
            <a:r>
              <a:rPr lang="en-US" sz="2200" dirty="0">
                <a:solidFill>
                  <a:srgbClr val="D3DEE6"/>
                </a:solidFill>
                <a:latin typeface="Calibri" pitchFamily="34" charset="0"/>
                <a:ea typeface="Calibri" pitchFamily="34" charset="-122"/>
                <a:cs typeface="Calibri" pitchFamily="34" charset="-120"/>
              </a:rPr>
              <a:t>AI data centers run on water </a:t>
            </a:r>
            <a:r>
              <a:rPr lang="en-US" sz="2200" b="1" dirty="0">
                <a:solidFill>
                  <a:srgbClr val="F2A33A"/>
                </a:solidFill>
                <a:latin typeface="Calibri" pitchFamily="34" charset="0"/>
                <a:ea typeface="Calibri" pitchFamily="34" charset="-122"/>
                <a:cs typeface="Calibri" pitchFamily="34" charset="-120"/>
              </a:rPr>
              <a:t>and</a:t>
            </a:r>
            <a:r>
              <a:rPr lang="en-US" sz="2200" dirty="0">
                <a:solidFill>
                  <a:srgbClr val="D3DEE6"/>
                </a:solidFill>
                <a:latin typeface="Calibri" pitchFamily="34" charset="0"/>
                <a:ea typeface="Calibri" pitchFamily="34" charset="-122"/>
                <a:cs typeface="Calibri" pitchFamily="34" charset="-120"/>
              </a:rPr>
              <a:t> power</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On-site: </a:t>
            </a:r>
            <a:r>
              <a:rPr lang="en-US" sz="2200" dirty="0">
                <a:solidFill>
                  <a:srgbClr val="D3DEE6"/>
                </a:solidFill>
                <a:latin typeface="Calibri" pitchFamily="34" charset="0"/>
                <a:ea typeface="Calibri" pitchFamily="34" charset="-122"/>
                <a:cs typeface="Calibri" pitchFamily="34" charset="-120"/>
              </a:rPr>
              <a:t>water evaporates to cool servers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Off-site: </a:t>
            </a:r>
            <a:r>
              <a:rPr lang="en-US" sz="2200" dirty="0">
                <a:solidFill>
                  <a:srgbClr val="D3DEE6"/>
                </a:solidFill>
                <a:latin typeface="Calibri" pitchFamily="34" charset="0"/>
                <a:ea typeface="Calibri" pitchFamily="34" charset="-122"/>
                <a:cs typeface="Calibri" pitchFamily="34" charset="-120"/>
              </a:rPr>
              <a:t>US power plants use about </a:t>
            </a:r>
            <a:r>
              <a:rPr lang="en-US" sz="2200" b="1" dirty="0">
                <a:solidFill>
                  <a:srgbClr val="F2A33A"/>
                </a:solidFill>
                <a:latin typeface="Calibri" pitchFamily="34" charset="0"/>
                <a:ea typeface="Calibri" pitchFamily="34" charset="-122"/>
                <a:cs typeface="Calibri" pitchFamily="34" charset="-120"/>
              </a:rPr>
              <a:t>12× more</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Uruguay 2023: </a:t>
            </a:r>
            <a:r>
              <a:rPr lang="en-US" sz="2200" dirty="0">
                <a:solidFill>
                  <a:srgbClr val="D3DEE6"/>
                </a:solidFill>
                <a:latin typeface="Calibri" pitchFamily="34" charset="0"/>
                <a:ea typeface="Calibri" pitchFamily="34" charset="-122"/>
                <a:cs typeface="Calibri" pitchFamily="34" charset="-120"/>
              </a:rPr>
              <a:t>drought, salty tap water, protests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Result: </a:t>
            </a:r>
            <a:r>
              <a:rPr lang="en-US" sz="2200" dirty="0">
                <a:solidFill>
                  <a:srgbClr val="D3DEE6"/>
                </a:solidFill>
                <a:latin typeface="Calibri" pitchFamily="34" charset="0"/>
                <a:ea typeface="Calibri" pitchFamily="34" charset="-122"/>
                <a:cs typeface="Calibri" pitchFamily="34" charset="-120"/>
              </a:rPr>
              <a:t>Google switched its plan to air cooling</a:t>
            </a:r>
            <a:endParaRPr lang="en-US" sz="2200" dirty="0"/>
          </a:p>
        </p:txBody>
      </p:sp>
      <p:sp>
        <p:nvSpPr>
          <p:cNvPr id="5" name="chart-title"/>
          <p:cNvSpPr txBox="1"/>
          <p:nvPr/>
        </p:nvSpPr>
        <p:spPr>
          <a:xfrm>
            <a:off x="6903720" y="2194560"/>
            <a:ext cx="4754880" cy="77724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Google’s water use rose 70%</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in two years</a:t>
            </a:r>
            <a:endParaRPr lang="en-US" sz="2200" dirty="0"/>
          </a:p>
        </p:txBody>
      </p:sp>
      <p:sp>
        <p:nvSpPr>
          <p:cNvPr id="6" name="caption-chart"/>
          <p:cNvSpPr txBox="1"/>
          <p:nvPr/>
        </p:nvSpPr>
        <p:spPr>
          <a:xfrm>
            <a:off x="6903720" y="2971800"/>
            <a:ext cx="4754880" cy="274320"/>
          </a:xfrm>
          <a:prstGeom prst="rect">
            <a:avLst/>
          </a:prstGeom>
          <a:noFill/>
          <a:ln/>
        </p:spPr>
        <p:txBody>
          <a:bodyPr wrap="square" lIns="0" tIns="0" rIns="0" bIns="0" rtlCol="0" anchor="t"/>
          <a:lstStyle/>
          <a:p>
            <a:pPr indent="0" marL="0">
              <a:buNone/>
            </a:pPr>
            <a:r>
              <a:rPr lang="en-US" sz="1200" dirty="0">
                <a:solidFill>
                  <a:srgbClr val="8FA6B8"/>
                </a:solidFill>
                <a:latin typeface="Calibri" pitchFamily="34" charset="0"/>
                <a:ea typeface="Calibri" pitchFamily="34" charset="-122"/>
                <a:cs typeface="Calibri" pitchFamily="34" charset="-120"/>
              </a:rPr>
              <a:t>Billion litres · all Google operations · company-reported</a:t>
            </a:r>
            <a:endParaRPr lang="en-US" sz="1200" dirty="0"/>
          </a:p>
        </p:txBody>
      </p:sp>
      <p:graphicFrame>
        <p:nvGraphicFramePr>
          <p:cNvPr id="7" name="Chart 0" descr=""/>
          <p:cNvGraphicFramePr/>
          <p:nvPr/>
        </p:nvGraphicFramePr>
        <p:xfrm>
          <a:off x="6720840" y="3246120"/>
          <a:ext cx="5029200" cy="2880360"/>
        </p:xfrm>
        <a:graphic xmlns:a="http://schemas.openxmlformats.org/drawingml/2006/main">
          <a:graphicData uri="http://schemas.openxmlformats.org/drawingml/2006/chart">
            <c:chart xmlns:c="http://schemas.openxmlformats.org/drawingml/2006/chart" r:id="rId1"/>
          </a:graphicData>
        </a:graphic>
      </p:graphicFrame>
      <p:sp>
        <p:nvSpPr>
          <p:cNvPr id="8" name="caption-sources"/>
          <p:cNvSpPr txBox="1"/>
          <p:nvPr/>
        </p:nvSpPr>
        <p:spPr>
          <a:xfrm>
            <a:off x="548640" y="6309360"/>
            <a:ext cx="11064240" cy="365760"/>
          </a:xfrm>
          <a:prstGeom prst="rect">
            <a:avLst/>
          </a:prstGeom>
          <a:noFill/>
          <a:ln/>
        </p:spPr>
        <p:txBody>
          <a:bodyPr wrap="square" lIns="0" tIns="0" rIns="0" bIns="0" rtlCol="0" anchor="ctr"/>
          <a:lstStyle/>
          <a:p>
            <a:pPr indent="0" marL="0">
              <a:buNone/>
            </a:pPr>
            <a:r>
              <a:rPr lang="en-US" sz="1100" dirty="0">
                <a:solidFill>
                  <a:srgbClr val="8FA6B8"/>
                </a:solidFill>
                <a:latin typeface="Calibri" pitchFamily="34" charset="0"/>
                <a:ea typeface="Calibri" pitchFamily="34" charset="-122"/>
                <a:cs typeface="Calibri" pitchFamily="34" charset="-120"/>
              </a:rPr>
              <a:t>Sources: LBNL, 2024 US Data Center Energy Usage Report · Google Environmental Reports 2024–2026 · The Guardian (Jul 2023), Mongabay (Nov 2023), DCD on Uruguay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457200"/>
            <a:ext cx="11064240" cy="822960"/>
          </a:xfrm>
          <a:prstGeom prst="rect">
            <a:avLst/>
          </a:prstGeom>
          <a:noFill/>
          <a:ln/>
        </p:spPr>
        <p:txBody>
          <a:bodyPr wrap="square" lIns="0" tIns="0" rIns="0" bIns="0" rtlCol="0" anchor="ctr"/>
          <a:lstStyle/>
          <a:p>
            <a:pPr indent="0" marL="0">
              <a:buNone/>
            </a:pPr>
            <a:r>
              <a:rPr lang="en-US" sz="4000" dirty="0">
                <a:solidFill>
                  <a:srgbClr val="0E1B2A"/>
                </a:solidFill>
                <a:latin typeface="Cambria" pitchFamily="34" charset="0"/>
                <a:ea typeface="Cambria" pitchFamily="34" charset="-122"/>
                <a:cs typeface="Cambria" pitchFamily="34" charset="-120"/>
              </a:rPr>
              <a:t>Israel &amp; Lev HaSharon: The Power Problem</a:t>
            </a:r>
            <a:endParaRPr lang="en-US" sz="4000" dirty="0"/>
          </a:p>
        </p:txBody>
      </p:sp>
      <p:sp>
        <p:nvSpPr>
          <p:cNvPr id="3" name="Shape 1"/>
          <p:cNvSpPr/>
          <p:nvPr/>
        </p:nvSpPr>
        <p:spPr>
          <a:xfrm>
            <a:off x="548640" y="1508760"/>
            <a:ext cx="4983480" cy="4526280"/>
          </a:xfrm>
          <a:prstGeom prst="rect">
            <a:avLst/>
          </a:prstGeom>
          <a:solidFill>
            <a:srgbClr val="F1F4F6"/>
          </a:solidFill>
          <a:ln w="9525">
            <a:solidFill>
              <a:srgbClr val="F1F4F6"/>
            </a:solidFill>
            <a:prstDash val="solid"/>
          </a:ln>
          <a:effectLst>
            <a:outerShdw sx="100000" sy="100000" kx="0" ky="0" algn="bl" rotWithShape="0" blurRad="254000" dist="63500" dir="5400000">
              <a:srgbClr val="000000">
                <a:alpha val="14000"/>
              </a:srgbClr>
            </a:outerShdw>
          </a:effectLst>
        </p:spPr>
      </p:sp>
      <p:sp>
        <p:nvSpPr>
          <p:cNvPr id="4" name="chart-title"/>
          <p:cNvSpPr txBox="1"/>
          <p:nvPr/>
        </p:nvSpPr>
        <p:spPr>
          <a:xfrm>
            <a:off x="822960" y="1691640"/>
            <a:ext cx="4480560" cy="777240"/>
          </a:xfrm>
          <a:prstGeom prst="rect">
            <a:avLst/>
          </a:prstGeom>
          <a:noFill/>
          <a:ln/>
        </p:spPr>
        <p:txBody>
          <a:bodyPr wrap="square" lIns="0" tIns="0" rIns="0" bIns="0" rtlCol="0" anchor="t"/>
          <a:lstStyle/>
          <a:p>
            <a:pPr indent="0" marL="0">
              <a:buNone/>
            </a:pPr>
            <a:r>
              <a:rPr lang="en-US" sz="2200" b="1" dirty="0">
                <a:solidFill>
                  <a:srgbClr val="0E1B2A"/>
                </a:solidFill>
                <a:latin typeface="Calibri" pitchFamily="34" charset="0"/>
                <a:ea typeface="Calibri" pitchFamily="34" charset="-122"/>
                <a:cs typeface="Calibri" pitchFamily="34" charset="-120"/>
              </a:rPr>
              <a:t>Requests are 18× what</a:t>
            </a:r>
            <a:endParaRPr lang="en-US" sz="2200" dirty="0"/>
          </a:p>
          <a:p>
            <a:pPr indent="0" marL="0">
              <a:buNone/>
            </a:pPr>
            <a:r>
              <a:rPr lang="en-US" sz="2200" b="1" dirty="0">
                <a:solidFill>
                  <a:srgbClr val="0E1B2A"/>
                </a:solidFill>
                <a:latin typeface="Calibri" pitchFamily="34" charset="0"/>
                <a:ea typeface="Calibri" pitchFamily="34" charset="-122"/>
                <a:cs typeface="Calibri" pitchFamily="34" charset="-120"/>
              </a:rPr>
              <a:t>is already promised</a:t>
            </a:r>
            <a:endParaRPr lang="en-US" sz="2200" dirty="0"/>
          </a:p>
        </p:txBody>
      </p:sp>
      <p:sp>
        <p:nvSpPr>
          <p:cNvPr id="5" name="caption-chart"/>
          <p:cNvSpPr txBox="1"/>
          <p:nvPr/>
        </p:nvSpPr>
        <p:spPr>
          <a:xfrm>
            <a:off x="822960" y="2468880"/>
            <a:ext cx="4480560" cy="274320"/>
          </a:xfrm>
          <a:prstGeom prst="rect">
            <a:avLst/>
          </a:prstGeom>
          <a:noFill/>
          <a:ln/>
        </p:spPr>
        <p:txBody>
          <a:bodyPr wrap="square" lIns="0" tIns="0" rIns="0" bIns="0" rtlCol="0" anchor="t"/>
          <a:lstStyle/>
          <a:p>
            <a:pPr indent="0" marL="0">
              <a:buNone/>
            </a:pPr>
            <a:r>
              <a:rPr lang="en-US" sz="1200" dirty="0">
                <a:solidFill>
                  <a:srgbClr val="5B6875"/>
                </a:solidFill>
                <a:latin typeface="Calibri" pitchFamily="34" charset="0"/>
                <a:ea typeface="Calibri" pitchFamily="34" charset="-122"/>
                <a:cs typeface="Calibri" pitchFamily="34" charset="-120"/>
              </a:rPr>
              <a:t>Data-center grid demand in Israel, megawatts (2026)</a:t>
            </a:r>
            <a:endParaRPr lang="en-US" sz="1200" dirty="0"/>
          </a:p>
        </p:txBody>
      </p:sp>
      <p:graphicFrame>
        <p:nvGraphicFramePr>
          <p:cNvPr id="6" name="Chart 0" descr=""/>
          <p:cNvGraphicFramePr/>
          <p:nvPr/>
        </p:nvGraphicFramePr>
        <p:xfrm>
          <a:off x="685800" y="2743200"/>
          <a:ext cx="4709160" cy="2788920"/>
        </p:xfrm>
        <a:graphic xmlns:a="http://schemas.openxmlformats.org/drawingml/2006/main">
          <a:graphicData uri="http://schemas.openxmlformats.org/drawingml/2006/chart">
            <c:chart xmlns:c="http://schemas.openxmlformats.org/drawingml/2006/chart" r:id="rId1"/>
          </a:graphicData>
        </a:graphic>
      </p:graphicFrame>
      <p:sp>
        <p:nvSpPr>
          <p:cNvPr id="7" name="caption-chart"/>
          <p:cNvSpPr txBox="1"/>
          <p:nvPr/>
        </p:nvSpPr>
        <p:spPr>
          <a:xfrm>
            <a:off x="822960" y="5532120"/>
            <a:ext cx="4480560" cy="411480"/>
          </a:xfrm>
          <a:prstGeom prst="rect">
            <a:avLst/>
          </a:prstGeom>
          <a:noFill/>
          <a:ln/>
        </p:spPr>
        <p:txBody>
          <a:bodyPr wrap="square" lIns="0" tIns="0" rIns="0" bIns="0" rtlCol="0" anchor="t"/>
          <a:lstStyle/>
          <a:p>
            <a:pPr indent="0" marL="0">
              <a:buNone/>
            </a:pPr>
            <a:r>
              <a:rPr lang="en-US" sz="1200" dirty="0">
                <a:solidFill>
                  <a:srgbClr val="5B6875"/>
                </a:solidFill>
                <a:latin typeface="Calibri" pitchFamily="34" charset="0"/>
                <a:ea typeface="Calibri" pitchFamily="34" charset="-122"/>
                <a:cs typeface="Calibri" pitchFamily="34" charset="-120"/>
              </a:rPr>
              <a:t>Committed demand already uses the planned new supply to 2035</a:t>
            </a:r>
            <a:endParaRPr lang="en-US" sz="1200" dirty="0"/>
          </a:p>
        </p:txBody>
      </p:sp>
      <p:sp>
        <p:nvSpPr>
          <p:cNvPr id="8" name="body"/>
          <p:cNvSpPr txBox="1"/>
          <p:nvPr/>
        </p:nvSpPr>
        <p:spPr>
          <a:xfrm>
            <a:off x="5943600" y="1645920"/>
            <a:ext cx="5715000" cy="4389120"/>
          </a:xfrm>
          <a:prstGeom prst="rect">
            <a:avLst/>
          </a:prstGeom>
          <a:noFill/>
          <a:ln/>
        </p:spPr>
        <p:txBody>
          <a:bodyPr wrap="square" lIns="0" tIns="0" rIns="0" bIns="0" rtlCol="0" anchor="t"/>
          <a:lstStyle/>
          <a:p>
            <a:pPr marL="279400" indent="-279400">
              <a:spcAft>
                <a:spcPts val="1300"/>
              </a:spcAft>
              <a:buSzPct val="100000"/>
              <a:buChar char="•"/>
            </a:pPr>
            <a:r>
              <a:rPr lang="en-US" sz="2100" dirty="0">
                <a:solidFill>
                  <a:srgbClr val="0E1B2A"/>
                </a:solidFill>
                <a:latin typeface="Calibri" pitchFamily="34" charset="0"/>
                <a:ea typeface="Calibri" pitchFamily="34" charset="-122"/>
                <a:cs typeface="Calibri" pitchFamily="34" charset="-120"/>
              </a:rPr>
              <a:t>Most of our tap water is </a:t>
            </a:r>
            <a:r>
              <a:rPr lang="en-US" sz="2100" b="1" dirty="0">
                <a:solidFill>
                  <a:srgbClr val="0F6E84"/>
                </a:solidFill>
                <a:latin typeface="Calibri" pitchFamily="34" charset="0"/>
                <a:ea typeface="Calibri" pitchFamily="34" charset="-122"/>
                <a:cs typeface="Calibri" pitchFamily="34" charset="-120"/>
              </a:rPr>
              <a:t>desalinated</a:t>
            </a:r>
            <a:endParaRPr lang="en-US" sz="2100" dirty="0"/>
          </a:p>
          <a:p>
            <a:pPr marL="279400" indent="-279400">
              <a:spcAft>
                <a:spcPts val="1300"/>
              </a:spcAft>
              <a:buSzPct val="100000"/>
              <a:buChar char="•"/>
            </a:pPr>
            <a:r>
              <a:rPr lang="en-US" sz="2100" dirty="0">
                <a:solidFill>
                  <a:srgbClr val="0E1B2A"/>
                </a:solidFill>
                <a:latin typeface="Calibri" pitchFamily="34" charset="0"/>
                <a:ea typeface="Calibri" pitchFamily="34" charset="-122"/>
                <a:cs typeface="Calibri" pitchFamily="34" charset="-120"/>
              </a:rPr>
              <a:t>Desalination needs </a:t>
            </a:r>
            <a:r>
              <a:rPr lang="en-US" sz="2100" b="1" dirty="0">
                <a:solidFill>
                  <a:srgbClr val="0E1B2A"/>
                </a:solidFill>
                <a:latin typeface="Calibri" pitchFamily="34" charset="0"/>
                <a:ea typeface="Calibri" pitchFamily="34" charset="-122"/>
                <a:cs typeface="Calibri" pitchFamily="34" charset="-120"/>
              </a:rPr>
              <a:t>a lot of electricity</a:t>
            </a:r>
            <a:endParaRPr lang="en-US" sz="2100" dirty="0"/>
          </a:p>
          <a:p>
            <a:pPr marL="279400" indent="-279400">
              <a:spcAft>
                <a:spcPts val="1300"/>
              </a:spcAft>
              <a:buSzPct val="100000"/>
              <a:buChar char="•"/>
            </a:pPr>
            <a:r>
              <a:rPr lang="en-US" sz="2100" dirty="0">
                <a:solidFill>
                  <a:srgbClr val="0E1B2A"/>
                </a:solidFill>
                <a:latin typeface="Calibri" pitchFamily="34" charset="0"/>
                <a:ea typeface="Calibri" pitchFamily="34" charset="-122"/>
                <a:cs typeface="Calibri" pitchFamily="34" charset="-120"/>
              </a:rPr>
              <a:t>Data centers requested </a:t>
            </a:r>
            <a:r>
              <a:rPr lang="en-US" sz="2100" b="1" dirty="0">
                <a:solidFill>
                  <a:srgbClr val="A85A0C"/>
                </a:solidFill>
                <a:latin typeface="Calibri" pitchFamily="34" charset="0"/>
                <a:ea typeface="Calibri" pitchFamily="34" charset="-122"/>
                <a:cs typeface="Calibri" pitchFamily="34" charset="-120"/>
              </a:rPr>
              <a:t>27,000 MW</a:t>
            </a:r>
            <a:r>
              <a:rPr lang="en-US" sz="2100" dirty="0">
                <a:solidFill>
                  <a:srgbClr val="0E1B2A"/>
                </a:solidFill>
                <a:latin typeface="Calibri" pitchFamily="34" charset="0"/>
                <a:ea typeface="Calibri" pitchFamily="34" charset="-122"/>
                <a:cs typeface="Calibri" pitchFamily="34" charset="-120"/>
              </a:rPr>
              <a:t> (≈3× average)</a:t>
            </a:r>
            <a:endParaRPr lang="en-US" sz="2100" dirty="0"/>
          </a:p>
          <a:p>
            <a:pPr marL="279400" indent="-279400">
              <a:spcAft>
                <a:spcPts val="1300"/>
              </a:spcAft>
              <a:buSzPct val="100000"/>
              <a:buChar char="•"/>
            </a:pPr>
            <a:r>
              <a:rPr lang="en-US" sz="2100" b="1" dirty="0">
                <a:solidFill>
                  <a:srgbClr val="0E1B2A"/>
                </a:solidFill>
                <a:latin typeface="Calibri" pitchFamily="34" charset="0"/>
                <a:ea typeface="Calibri" pitchFamily="34" charset="-122"/>
                <a:cs typeface="Calibri" pitchFamily="34" charset="-120"/>
              </a:rPr>
              <a:t>July 2026: </a:t>
            </a:r>
            <a:r>
              <a:rPr lang="en-US" sz="2100" dirty="0">
                <a:solidFill>
                  <a:srgbClr val="0E1B2A"/>
                </a:solidFill>
                <a:latin typeface="Calibri" pitchFamily="34" charset="0"/>
                <a:ea typeface="Calibri" pitchFamily="34" charset="-122"/>
                <a:cs typeface="Calibri" pitchFamily="34" charset="-120"/>
              </a:rPr>
              <a:t>regulator froze new connections</a:t>
            </a:r>
            <a:endParaRPr lang="en-US" sz="2100" dirty="0"/>
          </a:p>
          <a:p>
            <a:pPr marL="279400" indent="-279400">
              <a:spcAft>
                <a:spcPts val="1300"/>
              </a:spcAft>
              <a:buSzPct val="100000"/>
              <a:buChar char="•"/>
            </a:pPr>
            <a:r>
              <a:rPr lang="en-US" sz="2100" b="1" dirty="0">
                <a:solidFill>
                  <a:srgbClr val="0E1B2A"/>
                </a:solidFill>
                <a:latin typeface="Calibri" pitchFamily="34" charset="0"/>
                <a:ea typeface="Calibri" pitchFamily="34" charset="-122"/>
                <a:cs typeface="Calibri" pitchFamily="34" charset="-120"/>
              </a:rPr>
              <a:t>Near us: </a:t>
            </a:r>
            <a:r>
              <a:rPr lang="en-US" sz="2100" dirty="0">
                <a:solidFill>
                  <a:srgbClr val="0E1B2A"/>
                </a:solidFill>
                <a:latin typeface="Calibri" pitchFamily="34" charset="0"/>
                <a:ea typeface="Calibri" pitchFamily="34" charset="-122"/>
                <a:cs typeface="Calibri" pitchFamily="34" charset="-120"/>
              </a:rPr>
              <a:t>Kfar Yona, Netanya, Hadera projects</a:t>
            </a:r>
            <a:endParaRPr lang="en-US" sz="2100" dirty="0"/>
          </a:p>
          <a:p>
            <a:pPr marL="279400" indent="-279400">
              <a:spcAft>
                <a:spcPts val="1300"/>
              </a:spcAft>
              <a:buSzPct val="100000"/>
              <a:buChar char="•"/>
            </a:pPr>
            <a:r>
              <a:rPr lang="en-US" sz="2100" b="1" dirty="0">
                <a:solidFill>
                  <a:srgbClr val="0E1B2A"/>
                </a:solidFill>
                <a:latin typeface="Calibri" pitchFamily="34" charset="0"/>
                <a:ea typeface="Calibri" pitchFamily="34" charset="-122"/>
                <a:cs typeface="Calibri" pitchFamily="34" charset="-120"/>
              </a:rPr>
              <a:t>2026 water shortage: </a:t>
            </a:r>
            <a:r>
              <a:rPr lang="en-US" sz="2100" dirty="0">
                <a:solidFill>
                  <a:srgbClr val="0E1B2A"/>
                </a:solidFill>
                <a:latin typeface="Calibri" pitchFamily="34" charset="0"/>
                <a:ea typeface="Calibri" pitchFamily="34" charset="-122"/>
                <a:cs typeface="Calibri" pitchFamily="34" charset="-120"/>
              </a:rPr>
              <a:t>farms were cut first</a:t>
            </a:r>
            <a:endParaRPr lang="en-US" sz="2100" dirty="0"/>
          </a:p>
        </p:txBody>
      </p:sp>
      <p:sp>
        <p:nvSpPr>
          <p:cNvPr id="9" name="caption-sources"/>
          <p:cNvSpPr txBox="1"/>
          <p:nvPr/>
        </p:nvSpPr>
        <p:spPr>
          <a:xfrm>
            <a:off x="548640" y="6309360"/>
            <a:ext cx="11064240" cy="365760"/>
          </a:xfrm>
          <a:prstGeom prst="rect">
            <a:avLst/>
          </a:prstGeom>
          <a:noFill/>
          <a:ln/>
        </p:spPr>
        <p:txBody>
          <a:bodyPr wrap="square" lIns="0" tIns="0" rIns="0" bIns="0" rtlCol="0" anchor="ctr"/>
          <a:lstStyle/>
          <a:p>
            <a:pPr indent="0" marL="0">
              <a:buNone/>
            </a:pPr>
            <a:r>
              <a:rPr lang="en-US" sz="1100" dirty="0">
                <a:solidFill>
                  <a:srgbClr val="5B6875"/>
                </a:solidFill>
                <a:latin typeface="Calibri" pitchFamily="34" charset="0"/>
                <a:ea typeface="Calibri" pitchFamily="34" charset="-122"/>
                <a:cs typeface="Calibri" pitchFamily="34" charset="-120"/>
              </a:rPr>
              <a:t>Sources: Electricity Authority &amp; Noga via DCD, JNS, Ctech (Jul 2026) · State Comptroller (2024) · DCD, Globes, Ctech (local projects) · Times of Israel, CNN (Sep 2026)</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photo-frame"/>
          <p:cNvSpPr/>
          <p:nvPr/>
        </p:nvSpPr>
        <p:spPr>
          <a:xfrm>
            <a:off x="0" y="0"/>
            <a:ext cx="4480560" cy="6858000"/>
          </a:xfrm>
          <a:prstGeom prst="rect">
            <a:avLst/>
          </a:prstGeom>
          <a:solidFill>
            <a:srgbClr val="D5DEE5"/>
          </a:solidFill>
          <a:ln w="12700">
            <a:solidFill>
              <a:srgbClr val="D5DEE5"/>
            </a:solidFill>
            <a:prstDash val="solid"/>
          </a:ln>
        </p:spPr>
      </p:sp>
      <p:sp>
        <p:nvSpPr>
          <p:cNvPr id="3" name="caption-photo"/>
          <p:cNvSpPr txBox="1"/>
          <p:nvPr/>
        </p:nvSpPr>
        <p:spPr>
          <a:xfrm>
            <a:off x="320040" y="6172200"/>
            <a:ext cx="3840480" cy="411480"/>
          </a:xfrm>
          <a:prstGeom prst="rect">
            <a:avLst/>
          </a:prstGeom>
          <a:noFill/>
          <a:ln/>
        </p:spPr>
        <p:txBody>
          <a:bodyPr wrap="square" lIns="0" tIns="0" rIns="0" bIns="0" rtlCol="0" anchor="b"/>
          <a:lstStyle/>
          <a:p>
            <a:pPr indent="0" marL="0">
              <a:buNone/>
            </a:pPr>
            <a:r>
              <a:rPr lang="en-US" sz="1200" b="1" dirty="0">
                <a:solidFill>
                  <a:srgbClr val="3E4C59"/>
                </a:solidFill>
                <a:latin typeface="Calibri" pitchFamily="34" charset="0"/>
                <a:ea typeface="Calibri" pitchFamily="34" charset="-122"/>
                <a:cs typeface="Calibri" pitchFamily="34" charset="-120"/>
              </a:rPr>
              <a:t>Photo: </a:t>
            </a:r>
            <a:r>
              <a:rPr lang="en-US" sz="1200" dirty="0">
                <a:solidFill>
                  <a:srgbClr val="3E4C59"/>
                </a:solidFill>
                <a:latin typeface="Calibri" pitchFamily="34" charset="0"/>
                <a:ea typeface="Calibri" pitchFamily="34" charset="-122"/>
                <a:cs typeface="Calibri" pitchFamily="34" charset="-120"/>
              </a:rPr>
              <a:t>community protest or public meeting (add a real photo)</a:t>
            </a:r>
            <a:endParaRPr lang="en-US" sz="1200" dirty="0"/>
          </a:p>
        </p:txBody>
      </p:sp>
      <p:sp>
        <p:nvSpPr>
          <p:cNvPr id="4" name="title"/>
          <p:cNvSpPr txBox="1"/>
          <p:nvPr/>
        </p:nvSpPr>
        <p:spPr>
          <a:xfrm>
            <a:off x="5074920" y="457200"/>
            <a:ext cx="6583680" cy="822960"/>
          </a:xfrm>
          <a:prstGeom prst="rect">
            <a:avLst/>
          </a:prstGeom>
          <a:noFill/>
          <a:ln/>
        </p:spPr>
        <p:txBody>
          <a:bodyPr wrap="square" lIns="0" tIns="0" rIns="0" bIns="0" rtlCol="0" anchor="ctr"/>
          <a:lstStyle/>
          <a:p>
            <a:pPr indent="0" marL="0">
              <a:buNone/>
            </a:pPr>
            <a:r>
              <a:rPr lang="en-US" sz="4000" dirty="0">
                <a:solidFill>
                  <a:srgbClr val="0E1B2A"/>
                </a:solidFill>
                <a:latin typeface="Cambria" pitchFamily="34" charset="0"/>
                <a:ea typeface="Cambria" pitchFamily="34" charset="-122"/>
                <a:cs typeface="Cambria" pitchFamily="34" charset="-120"/>
              </a:rPr>
              <a:t>Who Is Pushing Back?</a:t>
            </a:r>
            <a:endParaRPr lang="en-US" sz="4000" dirty="0"/>
          </a:p>
        </p:txBody>
      </p:sp>
      <p:sp>
        <p:nvSpPr>
          <p:cNvPr id="5" name="kicker"/>
          <p:cNvSpPr txBox="1"/>
          <p:nvPr/>
        </p:nvSpPr>
        <p:spPr>
          <a:xfrm>
            <a:off x="5074920" y="1261872"/>
            <a:ext cx="6583680" cy="411480"/>
          </a:xfrm>
          <a:prstGeom prst="rect">
            <a:avLst/>
          </a:prstGeom>
          <a:noFill/>
          <a:ln/>
        </p:spPr>
        <p:txBody>
          <a:bodyPr wrap="square" lIns="0" tIns="0" rIns="0" bIns="0" rtlCol="0" anchor="t"/>
          <a:lstStyle/>
          <a:p>
            <a:pPr indent="0" marL="0">
              <a:buNone/>
            </a:pPr>
            <a:r>
              <a:rPr lang="en-US" sz="2200" dirty="0">
                <a:solidFill>
                  <a:srgbClr val="0F6E84"/>
                </a:solidFill>
                <a:latin typeface="Calibri" pitchFamily="34" charset="0"/>
                <a:ea typeface="Calibri" pitchFamily="34" charset="-122"/>
                <a:cs typeface="Calibri" pitchFamily="34" charset="-120"/>
              </a:rPr>
              <a:t>NGOs &amp; laws</a:t>
            </a:r>
            <a:endParaRPr lang="en-US" sz="2200" dirty="0"/>
          </a:p>
        </p:txBody>
      </p:sp>
      <p:sp>
        <p:nvSpPr>
          <p:cNvPr id="6" name="header"/>
          <p:cNvSpPr txBox="1"/>
          <p:nvPr/>
        </p:nvSpPr>
        <p:spPr>
          <a:xfrm>
            <a:off x="5074920" y="1874520"/>
            <a:ext cx="6583680" cy="777240"/>
          </a:xfrm>
          <a:prstGeom prst="rect">
            <a:avLst/>
          </a:prstGeom>
          <a:noFill/>
          <a:ln/>
        </p:spPr>
        <p:txBody>
          <a:bodyPr wrap="square" lIns="0" tIns="0" rIns="0" bIns="0" rtlCol="0" anchor="t"/>
          <a:lstStyle/>
          <a:p>
            <a:pPr indent="0" marL="0">
              <a:buNone/>
            </a:pPr>
            <a:r>
              <a:rPr lang="en-US" sz="2600" dirty="0">
                <a:solidFill>
                  <a:srgbClr val="0E1B2A"/>
                </a:solidFill>
                <a:latin typeface="Cambria" pitchFamily="34" charset="0"/>
                <a:ea typeface="Cambria" pitchFamily="34" charset="-122"/>
                <a:cs typeface="Cambria" pitchFamily="34" charset="-120"/>
              </a:rPr>
              <a:t>NGO: SPNI</a:t>
            </a:r>
            <a:endParaRPr lang="en-US" sz="2600" dirty="0"/>
          </a:p>
          <a:p>
            <a:pPr indent="0" marL="0">
              <a:buNone/>
            </a:pPr>
            <a:r>
              <a:rPr lang="en-US" sz="1400" dirty="0">
                <a:solidFill>
                  <a:srgbClr val="5B6875"/>
                </a:solidFill>
                <a:latin typeface="Calibri" pitchFamily="34" charset="0"/>
                <a:ea typeface="Calibri" pitchFamily="34" charset="-122"/>
                <a:cs typeface="Calibri" pitchFamily="34" charset="-120"/>
              </a:rPr>
              <a:t>Society for the Protection of Nature in Israel</a:t>
            </a:r>
            <a:endParaRPr lang="en-US" sz="2600" dirty="0"/>
          </a:p>
        </p:txBody>
      </p:sp>
      <p:sp>
        <p:nvSpPr>
          <p:cNvPr id="7" name="body"/>
          <p:cNvSpPr txBox="1"/>
          <p:nvPr/>
        </p:nvSpPr>
        <p:spPr>
          <a:xfrm>
            <a:off x="5074920" y="2697480"/>
            <a:ext cx="6583680" cy="960120"/>
          </a:xfrm>
          <a:prstGeom prst="rect">
            <a:avLst/>
          </a:prstGeom>
          <a:noFill/>
          <a:ln/>
        </p:spPr>
        <p:txBody>
          <a:bodyPr wrap="square" lIns="0" tIns="0" rIns="0" bIns="0" rtlCol="0" anchor="t"/>
          <a:lstStyle/>
          <a:p>
            <a:pPr marL="279400" indent="-279400">
              <a:spcAft>
                <a:spcPts val="800"/>
              </a:spcAft>
              <a:buSzPct val="100000"/>
              <a:buChar char="•"/>
            </a:pPr>
            <a:r>
              <a:rPr lang="en-US" sz="2000" dirty="0">
                <a:solidFill>
                  <a:srgbClr val="0E1B2A"/>
                </a:solidFill>
                <a:latin typeface="Calibri" pitchFamily="34" charset="0"/>
                <a:ea typeface="Calibri" pitchFamily="34" charset="-122"/>
                <a:cs typeface="Calibri" pitchFamily="34" charset="-120"/>
              </a:rPr>
              <a:t>Advocacy against the AI server-farm fast-track bill</a:t>
            </a:r>
            <a:endParaRPr lang="en-US" sz="2000" dirty="0"/>
          </a:p>
          <a:p>
            <a:pPr marL="279400" indent="-279400">
              <a:spcAft>
                <a:spcPts val="800"/>
              </a:spcAft>
              <a:buSzPct val="100000"/>
              <a:buChar char="•"/>
            </a:pPr>
            <a:r>
              <a:rPr lang="en-US" sz="2000" dirty="0">
                <a:solidFill>
                  <a:srgbClr val="0E1B2A"/>
                </a:solidFill>
                <a:latin typeface="Calibri" pitchFamily="34" charset="0"/>
                <a:ea typeface="Calibri" pitchFamily="34" charset="-122"/>
                <a:cs typeface="Calibri" pitchFamily="34" charset="-120"/>
              </a:rPr>
              <a:t>The bill lets big farms skip local committees</a:t>
            </a:r>
            <a:endParaRPr lang="en-US" sz="2000" dirty="0"/>
          </a:p>
        </p:txBody>
      </p:sp>
      <p:sp>
        <p:nvSpPr>
          <p:cNvPr id="8" name="Shape 6"/>
          <p:cNvSpPr/>
          <p:nvPr/>
        </p:nvSpPr>
        <p:spPr>
          <a:xfrm>
            <a:off x="4114800" y="3840480"/>
            <a:ext cx="7543800" cy="2240280"/>
          </a:xfrm>
          <a:prstGeom prst="rect">
            <a:avLst/>
          </a:prstGeom>
          <a:solidFill>
            <a:srgbClr val="FFFFFF"/>
          </a:solidFill>
          <a:ln w="9525">
            <a:solidFill>
              <a:srgbClr val="DDE3E8"/>
            </a:solidFill>
            <a:prstDash val="solid"/>
          </a:ln>
          <a:effectLst>
            <a:outerShdw sx="100000" sy="100000" kx="0" ky="0" algn="bl" rotWithShape="0" blurRad="254000" dist="63500" dir="5400000">
              <a:srgbClr val="000000">
                <a:alpha val="20000"/>
              </a:srgbClr>
            </a:outerShdw>
          </a:effectLst>
        </p:spPr>
      </p:sp>
      <p:sp>
        <p:nvSpPr>
          <p:cNvPr id="9" name="header"/>
          <p:cNvSpPr txBox="1"/>
          <p:nvPr/>
        </p:nvSpPr>
        <p:spPr>
          <a:xfrm>
            <a:off x="4434840" y="4005072"/>
            <a:ext cx="6949440" cy="502920"/>
          </a:xfrm>
          <a:prstGeom prst="rect">
            <a:avLst/>
          </a:prstGeom>
          <a:noFill/>
          <a:ln/>
        </p:spPr>
        <p:txBody>
          <a:bodyPr wrap="square" lIns="0" tIns="0" rIns="0" bIns="0" rtlCol="0" anchor="ctr"/>
          <a:lstStyle/>
          <a:p>
            <a:pPr indent="0" marL="0">
              <a:buNone/>
            </a:pPr>
            <a:r>
              <a:rPr lang="en-US" sz="2600" dirty="0">
                <a:solidFill>
                  <a:srgbClr val="0E1B2A"/>
                </a:solidFill>
                <a:latin typeface="Cambria" pitchFamily="34" charset="0"/>
                <a:ea typeface="Cambria" pitchFamily="34" charset="-122"/>
                <a:cs typeface="Cambria" pitchFamily="34" charset="-120"/>
              </a:rPr>
              <a:t>Legislation &amp; regulation</a:t>
            </a:r>
            <a:endParaRPr lang="en-US" sz="2600" dirty="0"/>
          </a:p>
        </p:txBody>
      </p:sp>
      <p:sp>
        <p:nvSpPr>
          <p:cNvPr id="10" name="body"/>
          <p:cNvSpPr txBox="1"/>
          <p:nvPr/>
        </p:nvSpPr>
        <p:spPr>
          <a:xfrm>
            <a:off x="4434840" y="4572000"/>
            <a:ext cx="6949440" cy="1417320"/>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0E1B2A"/>
                </a:solidFill>
                <a:latin typeface="Calibri" pitchFamily="34" charset="0"/>
                <a:ea typeface="Calibri" pitchFamily="34" charset="-122"/>
                <a:cs typeface="Calibri" pitchFamily="34" charset="-120"/>
              </a:rPr>
              <a:t>EU (2023): </a:t>
            </a:r>
            <a:r>
              <a:rPr lang="en-US" sz="2000" dirty="0">
                <a:solidFill>
                  <a:srgbClr val="0E1B2A"/>
                </a:solidFill>
                <a:latin typeface="Calibri" pitchFamily="34" charset="0"/>
                <a:ea typeface="Calibri" pitchFamily="34" charset="-122"/>
                <a:cs typeface="Calibri" pitchFamily="34" charset="-120"/>
              </a:rPr>
              <a:t>data centers must report water use</a:t>
            </a:r>
            <a:endParaRPr lang="en-US" sz="2000" dirty="0"/>
          </a:p>
          <a:p>
            <a:pPr marL="279400" indent="-279400">
              <a:spcAft>
                <a:spcPts val="600"/>
              </a:spcAft>
              <a:buSzPct val="100000"/>
              <a:buChar char="•"/>
            </a:pPr>
            <a:r>
              <a:rPr lang="en-US" sz="2000" b="1" dirty="0">
                <a:solidFill>
                  <a:srgbClr val="0E1B2A"/>
                </a:solidFill>
                <a:latin typeface="Calibri" pitchFamily="34" charset="0"/>
                <a:ea typeface="Calibri" pitchFamily="34" charset="-122"/>
                <a:cs typeface="Calibri" pitchFamily="34" charset="-120"/>
              </a:rPr>
              <a:t>Israel’s Water Law (1959): </a:t>
            </a:r>
            <a:r>
              <a:rPr lang="en-US" sz="2000" dirty="0">
                <a:solidFill>
                  <a:srgbClr val="0E1B2A"/>
                </a:solidFill>
                <a:latin typeface="Calibri" pitchFamily="34" charset="0"/>
                <a:ea typeface="Calibri" pitchFamily="34" charset="-122"/>
                <a:cs typeface="Calibri" pitchFamily="34" charset="-120"/>
              </a:rPr>
              <a:t>water is public</a:t>
            </a:r>
            <a:endParaRPr lang="en-US" sz="2000" dirty="0"/>
          </a:p>
          <a:p>
            <a:pPr marL="279400" indent="-279400">
              <a:spcAft>
                <a:spcPts val="600"/>
              </a:spcAft>
              <a:buSzPct val="100000"/>
              <a:buChar char="•"/>
            </a:pPr>
            <a:r>
              <a:rPr lang="en-US" sz="2000" b="1" dirty="0">
                <a:solidFill>
                  <a:srgbClr val="0E1B2A"/>
                </a:solidFill>
                <a:latin typeface="Calibri" pitchFamily="34" charset="0"/>
                <a:ea typeface="Calibri" pitchFamily="34" charset="-122"/>
                <a:cs typeface="Calibri" pitchFamily="34" charset="-120"/>
              </a:rPr>
              <a:t>Israel: </a:t>
            </a:r>
            <a:r>
              <a:rPr lang="en-US" sz="2000" dirty="0">
                <a:solidFill>
                  <a:srgbClr val="0E1B2A"/>
                </a:solidFill>
                <a:latin typeface="Calibri" pitchFamily="34" charset="0"/>
                <a:ea typeface="Calibri" pitchFamily="34" charset="-122"/>
                <a:cs typeface="Calibri" pitchFamily="34" charset="-120"/>
              </a:rPr>
              <a:t>no disclosure rule found</a:t>
            </a:r>
            <a:endParaRPr lang="en-US" sz="2000" dirty="0"/>
          </a:p>
        </p:txBody>
      </p:sp>
      <p:sp>
        <p:nvSpPr>
          <p:cNvPr id="11" name="caption-sources"/>
          <p:cNvSpPr txBox="1"/>
          <p:nvPr/>
        </p:nvSpPr>
        <p:spPr>
          <a:xfrm>
            <a:off x="4846320" y="6309360"/>
            <a:ext cx="6812280" cy="365760"/>
          </a:xfrm>
          <a:prstGeom prst="rect">
            <a:avLst/>
          </a:prstGeom>
          <a:noFill/>
          <a:ln/>
        </p:spPr>
        <p:txBody>
          <a:bodyPr wrap="square" lIns="0" tIns="0" rIns="0" bIns="0" rtlCol="0" anchor="ctr"/>
          <a:lstStyle/>
          <a:p>
            <a:pPr indent="0" marL="0">
              <a:buNone/>
            </a:pPr>
            <a:r>
              <a:rPr lang="en-US" sz="1100" dirty="0">
                <a:solidFill>
                  <a:srgbClr val="5B6875"/>
                </a:solidFill>
                <a:latin typeface="Calibri" pitchFamily="34" charset="0"/>
                <a:ea typeface="Calibri" pitchFamily="34" charset="-122"/>
                <a:cs typeface="Calibri" pitchFamily="34" charset="-120"/>
              </a:rPr>
              <a:t>Sources: Calcalist 2026 (SPNI) · Knesset bill, 1st reading 1 Jun 2026 · EU Dir. 2023/1791 Art. 12 · Water Law 1959</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4F6"/>
        </a:solidFill>
      </p:bgPr>
    </p:bg>
    <p:spTree>
      <p:nvGrpSpPr>
        <p:cNvPr id="1" name=""/>
        <p:cNvGrpSpPr/>
        <p:nvPr/>
      </p:nvGrpSpPr>
      <p:grpSpPr>
        <a:xfrm>
          <a:off x="0" y="0"/>
          <a:ext cx="0" cy="0"/>
          <a:chOff x="0" y="0"/>
          <a:chExt cx="0" cy="0"/>
        </a:xfrm>
      </p:grpSpPr>
      <p:sp>
        <p:nvSpPr>
          <p:cNvPr id="2" name="title"/>
          <p:cNvSpPr txBox="1"/>
          <p:nvPr/>
        </p:nvSpPr>
        <p:spPr>
          <a:xfrm>
            <a:off x="548640" y="457200"/>
            <a:ext cx="11064240" cy="822960"/>
          </a:xfrm>
          <a:prstGeom prst="rect">
            <a:avLst/>
          </a:prstGeom>
          <a:noFill/>
          <a:ln/>
        </p:spPr>
        <p:txBody>
          <a:bodyPr wrap="square" lIns="0" tIns="0" rIns="0" bIns="0" rtlCol="0" anchor="ctr"/>
          <a:lstStyle/>
          <a:p>
            <a:pPr indent="0" marL="0">
              <a:buNone/>
            </a:pPr>
            <a:r>
              <a:rPr lang="en-US" sz="4000" dirty="0">
                <a:solidFill>
                  <a:srgbClr val="0E1B2A"/>
                </a:solidFill>
                <a:latin typeface="Cambria" pitchFamily="34" charset="0"/>
                <a:ea typeface="Cambria" pitchFamily="34" charset="-122"/>
                <a:cs typeface="Cambria" pitchFamily="34" charset="-120"/>
              </a:rPr>
              <a:t>What Would We Do? Our Proposal</a:t>
            </a:r>
            <a:endParaRPr lang="en-US" sz="4000" dirty="0"/>
          </a:p>
        </p:txBody>
      </p:sp>
      <p:sp>
        <p:nvSpPr>
          <p:cNvPr id="3" name="header"/>
          <p:cNvSpPr txBox="1"/>
          <p:nvPr/>
        </p:nvSpPr>
        <p:spPr>
          <a:xfrm>
            <a:off x="548640" y="1298448"/>
            <a:ext cx="11064240" cy="457200"/>
          </a:xfrm>
          <a:prstGeom prst="rect">
            <a:avLst/>
          </a:prstGeom>
          <a:noFill/>
          <a:ln/>
        </p:spPr>
        <p:txBody>
          <a:bodyPr wrap="square" lIns="0" tIns="0" rIns="0" bIns="0" rtlCol="0" anchor="t"/>
          <a:lstStyle/>
          <a:p>
            <a:pPr indent="0" marL="0">
              <a:buNone/>
            </a:pPr>
            <a:r>
              <a:rPr lang="en-US" sz="2400" b="1" dirty="0">
                <a:solidFill>
                  <a:srgbClr val="0F6E84"/>
                </a:solidFill>
                <a:latin typeface="Calibri" pitchFamily="34" charset="0"/>
                <a:ea typeface="Calibri" pitchFamily="34" charset="-122"/>
                <a:cs typeface="Calibri" pitchFamily="34" charset="-120"/>
              </a:rPr>
              <a:t>Policy reform: </a:t>
            </a:r>
            <a:r>
              <a:rPr lang="en-US" sz="2400" dirty="0">
                <a:solidFill>
                  <a:srgbClr val="0E1B2A"/>
                </a:solidFill>
                <a:latin typeface="Calibri" pitchFamily="34" charset="0"/>
                <a:ea typeface="Calibri" pitchFamily="34" charset="-122"/>
                <a:cs typeface="Calibri" pitchFamily="34" charset="-120"/>
              </a:rPr>
              <a:t>the “Open Meter” Law</a:t>
            </a:r>
            <a:endParaRPr lang="en-US" sz="2400" dirty="0"/>
          </a:p>
        </p:txBody>
      </p:sp>
      <p:sp>
        <p:nvSpPr>
          <p:cNvPr id="4" name="Shape 2"/>
          <p:cNvSpPr/>
          <p:nvPr/>
        </p:nvSpPr>
        <p:spPr>
          <a:xfrm>
            <a:off x="548640" y="1965960"/>
            <a:ext cx="3566160" cy="2011680"/>
          </a:xfrm>
          <a:prstGeom prst="rect">
            <a:avLst/>
          </a:prstGeom>
          <a:solidFill>
            <a:srgbClr val="FFFFFF"/>
          </a:solidFill>
          <a:ln w="9525">
            <a:solidFill>
              <a:srgbClr val="DDE3E8"/>
            </a:solidFill>
            <a:prstDash val="solid"/>
          </a:ln>
          <a:effectLst>
            <a:outerShdw sx="100000" sy="100000" kx="0" ky="0" algn="bl" rotWithShape="0" blurRad="254000" dist="63500" dir="5400000">
              <a:srgbClr val="000000">
                <a:alpha val="14000"/>
              </a:srgbClr>
            </a:outerShdw>
          </a:effectLst>
        </p:spPr>
      </p:sp>
      <p:sp>
        <p:nvSpPr>
          <p:cNvPr id="5" name="number"/>
          <p:cNvSpPr txBox="1"/>
          <p:nvPr/>
        </p:nvSpPr>
        <p:spPr>
          <a:xfrm>
            <a:off x="822960" y="2057400"/>
            <a:ext cx="914400" cy="777240"/>
          </a:xfrm>
          <a:prstGeom prst="rect">
            <a:avLst/>
          </a:prstGeom>
          <a:noFill/>
          <a:ln/>
        </p:spPr>
        <p:txBody>
          <a:bodyPr wrap="square" lIns="0" tIns="0" rIns="0" bIns="0" rtlCol="0" anchor="ctr"/>
          <a:lstStyle/>
          <a:p>
            <a:pPr indent="0" marL="0">
              <a:buNone/>
            </a:pPr>
            <a:r>
              <a:rPr lang="en-US" sz="4800" dirty="0">
                <a:solidFill>
                  <a:srgbClr val="0F6E84"/>
                </a:solidFill>
                <a:latin typeface="Cambria" pitchFamily="34" charset="0"/>
                <a:ea typeface="Cambria" pitchFamily="34" charset="-122"/>
                <a:cs typeface="Cambria" pitchFamily="34" charset="-120"/>
              </a:rPr>
              <a:t>1</a:t>
            </a:r>
            <a:endParaRPr lang="en-US" sz="4800" dirty="0"/>
          </a:p>
        </p:txBody>
      </p:sp>
      <p:sp>
        <p:nvSpPr>
          <p:cNvPr id="6" name="body"/>
          <p:cNvSpPr txBox="1"/>
          <p:nvPr/>
        </p:nvSpPr>
        <p:spPr>
          <a:xfrm>
            <a:off x="822960" y="2880360"/>
            <a:ext cx="3017520" cy="960120"/>
          </a:xfrm>
          <a:prstGeom prst="rect">
            <a:avLst/>
          </a:prstGeom>
          <a:noFill/>
          <a:ln/>
        </p:spPr>
        <p:txBody>
          <a:bodyPr wrap="square" lIns="0" tIns="0" rIns="0" bIns="0" rtlCol="0" anchor="t"/>
          <a:lstStyle/>
          <a:p>
            <a:pPr indent="0" marL="0">
              <a:buNone/>
            </a:pPr>
            <a:r>
              <a:rPr lang="en-US" sz="2100" dirty="0">
                <a:solidFill>
                  <a:srgbClr val="0E1B2A"/>
                </a:solidFill>
                <a:latin typeface="Calibri" pitchFamily="34" charset="0"/>
                <a:ea typeface="Calibri" pitchFamily="34" charset="-122"/>
                <a:cs typeface="Calibri" pitchFamily="34" charset="-120"/>
              </a:rPr>
              <a:t>Data centers publish yearly water and power use</a:t>
            </a:r>
            <a:endParaRPr lang="en-US" sz="2100" dirty="0"/>
          </a:p>
        </p:txBody>
      </p:sp>
      <p:sp>
        <p:nvSpPr>
          <p:cNvPr id="7" name="Shape 5"/>
          <p:cNvSpPr/>
          <p:nvPr/>
        </p:nvSpPr>
        <p:spPr>
          <a:xfrm>
            <a:off x="4315968" y="1965960"/>
            <a:ext cx="3566160" cy="2011680"/>
          </a:xfrm>
          <a:prstGeom prst="rect">
            <a:avLst/>
          </a:prstGeom>
          <a:solidFill>
            <a:srgbClr val="FFFFFF"/>
          </a:solidFill>
          <a:ln w="9525">
            <a:solidFill>
              <a:srgbClr val="DDE3E8"/>
            </a:solidFill>
            <a:prstDash val="solid"/>
          </a:ln>
          <a:effectLst>
            <a:outerShdw sx="100000" sy="100000" kx="0" ky="0" algn="bl" rotWithShape="0" blurRad="254000" dist="63500" dir="5400000">
              <a:srgbClr val="000000">
                <a:alpha val="14000"/>
              </a:srgbClr>
            </a:outerShdw>
          </a:effectLst>
        </p:spPr>
      </p:sp>
      <p:sp>
        <p:nvSpPr>
          <p:cNvPr id="8" name="number"/>
          <p:cNvSpPr txBox="1"/>
          <p:nvPr/>
        </p:nvSpPr>
        <p:spPr>
          <a:xfrm>
            <a:off x="4590288" y="2057400"/>
            <a:ext cx="914400" cy="777240"/>
          </a:xfrm>
          <a:prstGeom prst="rect">
            <a:avLst/>
          </a:prstGeom>
          <a:noFill/>
          <a:ln/>
        </p:spPr>
        <p:txBody>
          <a:bodyPr wrap="square" lIns="0" tIns="0" rIns="0" bIns="0" rtlCol="0" anchor="ctr"/>
          <a:lstStyle/>
          <a:p>
            <a:pPr indent="0" marL="0">
              <a:buNone/>
            </a:pPr>
            <a:r>
              <a:rPr lang="en-US" sz="4800" dirty="0">
                <a:solidFill>
                  <a:srgbClr val="0F6E84"/>
                </a:solidFill>
                <a:latin typeface="Cambria" pitchFamily="34" charset="0"/>
                <a:ea typeface="Cambria" pitchFamily="34" charset="-122"/>
                <a:cs typeface="Cambria" pitchFamily="34" charset="-120"/>
              </a:rPr>
              <a:t>2</a:t>
            </a:r>
            <a:endParaRPr lang="en-US" sz="4800" dirty="0"/>
          </a:p>
        </p:txBody>
      </p:sp>
      <p:sp>
        <p:nvSpPr>
          <p:cNvPr id="9" name="body"/>
          <p:cNvSpPr txBox="1"/>
          <p:nvPr/>
        </p:nvSpPr>
        <p:spPr>
          <a:xfrm>
            <a:off x="4590288" y="2880360"/>
            <a:ext cx="3017520" cy="960120"/>
          </a:xfrm>
          <a:prstGeom prst="rect">
            <a:avLst/>
          </a:prstGeom>
          <a:noFill/>
          <a:ln/>
        </p:spPr>
        <p:txBody>
          <a:bodyPr wrap="square" lIns="0" tIns="0" rIns="0" bIns="0" rtlCol="0" anchor="t"/>
          <a:lstStyle/>
          <a:p>
            <a:pPr indent="0" marL="0">
              <a:buNone/>
            </a:pPr>
            <a:r>
              <a:rPr lang="en-US" sz="2100" dirty="0">
                <a:solidFill>
                  <a:srgbClr val="0E1B2A"/>
                </a:solidFill>
                <a:latin typeface="Calibri" pitchFamily="34" charset="0"/>
                <a:ea typeface="Calibri" pitchFamily="34" charset="-122"/>
                <a:cs typeface="Calibri" pitchFamily="34" charset="-120"/>
              </a:rPr>
              <a:t>Local hearings stay, even on the fast track</a:t>
            </a:r>
            <a:endParaRPr lang="en-US" sz="2100" dirty="0"/>
          </a:p>
        </p:txBody>
      </p:sp>
      <p:sp>
        <p:nvSpPr>
          <p:cNvPr id="10" name="Shape 8"/>
          <p:cNvSpPr/>
          <p:nvPr/>
        </p:nvSpPr>
        <p:spPr>
          <a:xfrm>
            <a:off x="8083296" y="1965960"/>
            <a:ext cx="3566160" cy="2011680"/>
          </a:xfrm>
          <a:prstGeom prst="rect">
            <a:avLst/>
          </a:prstGeom>
          <a:solidFill>
            <a:srgbClr val="FFFFFF"/>
          </a:solidFill>
          <a:ln w="9525">
            <a:solidFill>
              <a:srgbClr val="DDE3E8"/>
            </a:solidFill>
            <a:prstDash val="solid"/>
          </a:ln>
          <a:effectLst>
            <a:outerShdw sx="100000" sy="100000" kx="0" ky="0" algn="bl" rotWithShape="0" blurRad="254000" dist="63500" dir="5400000">
              <a:srgbClr val="000000">
                <a:alpha val="14000"/>
              </a:srgbClr>
            </a:outerShdw>
          </a:effectLst>
        </p:spPr>
      </p:sp>
      <p:sp>
        <p:nvSpPr>
          <p:cNvPr id="11" name="number"/>
          <p:cNvSpPr txBox="1"/>
          <p:nvPr/>
        </p:nvSpPr>
        <p:spPr>
          <a:xfrm>
            <a:off x="8357616" y="2057400"/>
            <a:ext cx="914400" cy="777240"/>
          </a:xfrm>
          <a:prstGeom prst="rect">
            <a:avLst/>
          </a:prstGeom>
          <a:noFill/>
          <a:ln/>
        </p:spPr>
        <p:txBody>
          <a:bodyPr wrap="square" lIns="0" tIns="0" rIns="0" bIns="0" rtlCol="0" anchor="ctr"/>
          <a:lstStyle/>
          <a:p>
            <a:pPr indent="0" marL="0">
              <a:buNone/>
            </a:pPr>
            <a:r>
              <a:rPr lang="en-US" sz="4800" dirty="0">
                <a:solidFill>
                  <a:srgbClr val="0F6E84"/>
                </a:solidFill>
                <a:latin typeface="Cambria" pitchFamily="34" charset="0"/>
                <a:ea typeface="Cambria" pitchFamily="34" charset="-122"/>
                <a:cs typeface="Cambria" pitchFamily="34" charset="-120"/>
              </a:rPr>
              <a:t>3</a:t>
            </a:r>
            <a:endParaRPr lang="en-US" sz="4800" dirty="0"/>
          </a:p>
        </p:txBody>
      </p:sp>
      <p:sp>
        <p:nvSpPr>
          <p:cNvPr id="12" name="body"/>
          <p:cNvSpPr txBox="1"/>
          <p:nvPr/>
        </p:nvSpPr>
        <p:spPr>
          <a:xfrm>
            <a:off x="8357616" y="2880360"/>
            <a:ext cx="3017520" cy="960120"/>
          </a:xfrm>
          <a:prstGeom prst="rect">
            <a:avLst/>
          </a:prstGeom>
          <a:noFill/>
          <a:ln/>
        </p:spPr>
        <p:txBody>
          <a:bodyPr wrap="square" lIns="0" tIns="0" rIns="0" bIns="0" rtlCol="0" anchor="t"/>
          <a:lstStyle/>
          <a:p>
            <a:pPr indent="0" marL="0">
              <a:buNone/>
            </a:pPr>
            <a:r>
              <a:rPr lang="en-US" sz="2100" dirty="0">
                <a:solidFill>
                  <a:srgbClr val="0E1B2A"/>
                </a:solidFill>
                <a:latin typeface="Calibri" pitchFamily="34" charset="0"/>
                <a:ea typeface="Calibri" pitchFamily="34" charset="-122"/>
                <a:cs typeface="Calibri" pitchFamily="34" charset="-120"/>
              </a:rPr>
              <a:t>In shortages: homes and farms before servers</a:t>
            </a:r>
            <a:endParaRPr lang="en-US" sz="2100" dirty="0"/>
          </a:p>
        </p:txBody>
      </p:sp>
      <p:sp>
        <p:nvSpPr>
          <p:cNvPr id="13" name="body"/>
          <p:cNvSpPr txBox="1"/>
          <p:nvPr/>
        </p:nvSpPr>
        <p:spPr>
          <a:xfrm>
            <a:off x="548640" y="4114800"/>
            <a:ext cx="11064240" cy="411480"/>
          </a:xfrm>
          <a:prstGeom prst="rect">
            <a:avLst/>
          </a:prstGeom>
          <a:noFill/>
          <a:ln/>
        </p:spPr>
        <p:txBody>
          <a:bodyPr wrap="square" lIns="0" tIns="0" rIns="0" bIns="0" rtlCol="0" anchor="ctr"/>
          <a:lstStyle/>
          <a:p>
            <a:pPr indent="0" marL="0">
              <a:buNone/>
            </a:pPr>
            <a:r>
              <a:rPr lang="en-US" sz="2100" i="1" dirty="0">
                <a:solidFill>
                  <a:srgbClr val="0F6E84"/>
                </a:solidFill>
                <a:latin typeface="Calibri" pitchFamily="34" charset="0"/>
                <a:ea typeface="Calibri" pitchFamily="34" charset="-122"/>
                <a:cs typeface="Calibri" pitchFamily="34" charset="-120"/>
              </a:rPr>
              <a:t>Aim: fair siting, no discrimination</a:t>
            </a:r>
            <a:endParaRPr lang="en-US" sz="2100" dirty="0"/>
          </a:p>
        </p:txBody>
      </p:sp>
      <p:sp>
        <p:nvSpPr>
          <p:cNvPr id="14" name="Shape 12"/>
          <p:cNvSpPr/>
          <p:nvPr/>
        </p:nvSpPr>
        <p:spPr>
          <a:xfrm>
            <a:off x="548640" y="4663440"/>
            <a:ext cx="7333488" cy="1417320"/>
          </a:xfrm>
          <a:prstGeom prst="rect">
            <a:avLst/>
          </a:prstGeom>
          <a:solidFill>
            <a:srgbClr val="FFFFFF"/>
          </a:solidFill>
          <a:ln w="9525">
            <a:solidFill>
              <a:srgbClr val="DDE3E8"/>
            </a:solidFill>
            <a:prstDash val="solid"/>
          </a:ln>
          <a:effectLst>
            <a:outerShdw sx="100000" sy="100000" kx="0" ky="0" algn="bl" rotWithShape="0" blurRad="254000" dist="63500" dir="5400000">
              <a:srgbClr val="000000">
                <a:alpha val="14000"/>
              </a:srgbClr>
            </a:outerShdw>
          </a:effectLst>
        </p:spPr>
      </p:sp>
      <p:sp>
        <p:nvSpPr>
          <p:cNvPr id="15" name="body"/>
          <p:cNvSpPr txBox="1"/>
          <p:nvPr/>
        </p:nvSpPr>
        <p:spPr>
          <a:xfrm>
            <a:off x="822960" y="4773168"/>
            <a:ext cx="6858000" cy="1188720"/>
          </a:xfrm>
          <a:prstGeom prst="rect">
            <a:avLst/>
          </a:prstGeom>
          <a:noFill/>
          <a:ln/>
        </p:spPr>
        <p:txBody>
          <a:bodyPr wrap="square" lIns="0" tIns="0" rIns="0" bIns="0" rtlCol="0" anchor="ctr"/>
          <a:lstStyle/>
          <a:p>
            <a:pPr indent="0" marL="0">
              <a:buNone/>
            </a:pPr>
            <a:r>
              <a:rPr lang="en-US" sz="2400" dirty="0">
                <a:solidFill>
                  <a:srgbClr val="0E1B2A"/>
                </a:solidFill>
                <a:latin typeface="Cambria" pitchFamily="34" charset="0"/>
                <a:ea typeface="Cambria" pitchFamily="34" charset="-122"/>
                <a:cs typeface="Cambria" pitchFamily="34" charset="-120"/>
              </a:rPr>
              <a:t>Awareness idea: an “AI nutrition label”</a:t>
            </a:r>
            <a:endParaRPr lang="en-US" sz="2400" dirty="0"/>
          </a:p>
          <a:p>
            <a:pPr indent="0" marL="0">
              <a:buNone/>
            </a:pPr>
            <a:r>
              <a:rPr lang="en-US" sz="2000" dirty="0">
                <a:solidFill>
                  <a:srgbClr val="0E1B2A"/>
                </a:solidFill>
                <a:latin typeface="Calibri" pitchFamily="34" charset="0"/>
                <a:ea typeface="Calibri" pitchFamily="34" charset="-122"/>
                <a:cs typeface="Calibri" pitchFamily="34" charset="-120"/>
              </a:rPr>
              <a:t>Posters showing each AI tool’s water and power</a:t>
            </a:r>
            <a:endParaRPr lang="en-US" sz="2400" dirty="0"/>
          </a:p>
        </p:txBody>
      </p:sp>
      <p:sp>
        <p:nvSpPr>
          <p:cNvPr id="16" name="photo-frame"/>
          <p:cNvSpPr/>
          <p:nvPr/>
        </p:nvSpPr>
        <p:spPr>
          <a:xfrm>
            <a:off x="8083296" y="4663440"/>
            <a:ext cx="3566160" cy="1417320"/>
          </a:xfrm>
          <a:prstGeom prst="rect">
            <a:avLst/>
          </a:prstGeom>
          <a:solidFill>
            <a:srgbClr val="D5DEE5"/>
          </a:solidFill>
          <a:ln w="12700">
            <a:solidFill>
              <a:srgbClr val="D5DEE5"/>
            </a:solidFill>
            <a:prstDash val="solid"/>
          </a:ln>
        </p:spPr>
      </p:sp>
      <p:sp>
        <p:nvSpPr>
          <p:cNvPr id="17" name="caption-photo"/>
          <p:cNvSpPr txBox="1"/>
          <p:nvPr/>
        </p:nvSpPr>
        <p:spPr>
          <a:xfrm>
            <a:off x="8403336" y="5394960"/>
            <a:ext cx="2926080" cy="411480"/>
          </a:xfrm>
          <a:prstGeom prst="rect">
            <a:avLst/>
          </a:prstGeom>
          <a:noFill/>
          <a:ln/>
        </p:spPr>
        <p:txBody>
          <a:bodyPr wrap="square" lIns="0" tIns="0" rIns="0" bIns="0" rtlCol="0" anchor="b"/>
          <a:lstStyle/>
          <a:p>
            <a:pPr indent="0" marL="0">
              <a:buNone/>
            </a:pPr>
            <a:r>
              <a:rPr lang="en-US" sz="1200" b="1" dirty="0">
                <a:solidFill>
                  <a:srgbClr val="3E4C59"/>
                </a:solidFill>
                <a:latin typeface="Calibri" pitchFamily="34" charset="0"/>
                <a:ea typeface="Calibri" pitchFamily="34" charset="-122"/>
                <a:cs typeface="Calibri" pitchFamily="34" charset="-120"/>
              </a:rPr>
              <a:t>Photo: </a:t>
            </a:r>
            <a:r>
              <a:rPr lang="en-US" sz="1200" dirty="0">
                <a:solidFill>
                  <a:srgbClr val="3E4C59"/>
                </a:solidFill>
                <a:latin typeface="Calibri" pitchFamily="34" charset="0"/>
                <a:ea typeface="Calibri" pitchFamily="34" charset="-122"/>
                <a:cs typeface="Calibri" pitchFamily="34" charset="-120"/>
              </a:rPr>
              <a:t>town hall meeting (add a real photo)</a:t>
            </a:r>
            <a:endParaRPr lang="en-US" sz="1200" dirty="0"/>
          </a:p>
        </p:txBody>
      </p:sp>
      <p:sp>
        <p:nvSpPr>
          <p:cNvPr id="18" name="caption-sources"/>
          <p:cNvSpPr txBox="1"/>
          <p:nvPr/>
        </p:nvSpPr>
        <p:spPr>
          <a:xfrm>
            <a:off x="548640" y="6309360"/>
            <a:ext cx="11064240" cy="365760"/>
          </a:xfrm>
          <a:prstGeom prst="rect">
            <a:avLst/>
          </a:prstGeom>
          <a:noFill/>
          <a:ln/>
        </p:spPr>
        <p:txBody>
          <a:bodyPr wrap="square" lIns="0" tIns="0" rIns="0" bIns="0" rtlCol="0" anchor="ctr"/>
          <a:lstStyle/>
          <a:p>
            <a:pPr indent="0" marL="0">
              <a:buNone/>
            </a:pPr>
            <a:r>
              <a:rPr lang="en-US" sz="1100" dirty="0">
                <a:solidFill>
                  <a:srgbClr val="5B6875"/>
                </a:solidFill>
                <a:latin typeface="Calibri" pitchFamily="34" charset="0"/>
                <a:ea typeface="Calibri" pitchFamily="34" charset="-122"/>
                <a:cs typeface="Calibri" pitchFamily="34" charset="-120"/>
              </a:rPr>
              <a:t>Our team’s proposal · Disclosure idea modeled on EU Energy Efficiency Directive 2023/1791, Art. 12</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2239"/>
        </a:solidFill>
      </p:bgPr>
    </p:bg>
    <p:spTree>
      <p:nvGrpSpPr>
        <p:cNvPr id="1" name=""/>
        <p:cNvGrpSpPr/>
        <p:nvPr/>
      </p:nvGrpSpPr>
      <p:grpSpPr>
        <a:xfrm>
          <a:off x="0" y="0"/>
          <a:ext cx="0" cy="0"/>
          <a:chOff x="0" y="0"/>
          <a:chExt cx="0" cy="0"/>
        </a:xfrm>
      </p:grpSpPr>
      <p:sp>
        <p:nvSpPr>
          <p:cNvPr id="2" name="photo-frame"/>
          <p:cNvSpPr/>
          <p:nvPr/>
        </p:nvSpPr>
        <p:spPr>
          <a:xfrm>
            <a:off x="6400800" y="0"/>
            <a:ext cx="5790895" cy="6858000"/>
          </a:xfrm>
          <a:prstGeom prst="rect">
            <a:avLst/>
          </a:prstGeom>
          <a:solidFill>
            <a:srgbClr val="1C3A55"/>
          </a:solidFill>
          <a:ln w="12700">
            <a:solidFill>
              <a:srgbClr val="1C3A55"/>
            </a:solidFill>
            <a:prstDash val="solid"/>
          </a:ln>
        </p:spPr>
      </p:sp>
      <p:sp>
        <p:nvSpPr>
          <p:cNvPr id="3" name="caption-photo"/>
          <p:cNvSpPr txBox="1"/>
          <p:nvPr/>
        </p:nvSpPr>
        <p:spPr>
          <a:xfrm>
            <a:off x="6720840" y="6172200"/>
            <a:ext cx="5150815" cy="411480"/>
          </a:xfrm>
          <a:prstGeom prst="rect">
            <a:avLst/>
          </a:prstGeom>
          <a:noFill/>
          <a:ln/>
        </p:spPr>
        <p:txBody>
          <a:bodyPr wrap="square" lIns="0" tIns="0" rIns="0" bIns="0" rtlCol="0" anchor="b"/>
          <a:lstStyle/>
          <a:p>
            <a:pPr indent="0" marL="0">
              <a:buNone/>
            </a:pPr>
            <a:r>
              <a:rPr lang="en-US" sz="1200" b="1" dirty="0">
                <a:solidFill>
                  <a:srgbClr val="8FA6B8"/>
                </a:solidFill>
                <a:latin typeface="Calibri" pitchFamily="34" charset="0"/>
                <a:ea typeface="Calibri" pitchFamily="34" charset="-122"/>
                <a:cs typeface="Calibri" pitchFamily="34" charset="-120"/>
              </a:rPr>
              <a:t>Photo: </a:t>
            </a:r>
            <a:r>
              <a:rPr lang="en-US" sz="1200" dirty="0">
                <a:solidFill>
                  <a:srgbClr val="8FA6B8"/>
                </a:solidFill>
                <a:latin typeface="Calibri" pitchFamily="34" charset="0"/>
                <a:ea typeface="Calibri" pitchFamily="34" charset="-122"/>
                <a:cs typeface="Calibri" pitchFamily="34" charset="-120"/>
              </a:rPr>
              <a:t>farmland irrigation in the Sharon (add a real photo)</a:t>
            </a:r>
            <a:endParaRPr lang="en-US" sz="1200" dirty="0"/>
          </a:p>
        </p:txBody>
      </p:sp>
      <p:sp>
        <p:nvSpPr>
          <p:cNvPr id="4" name="title"/>
          <p:cNvSpPr txBox="1"/>
          <p:nvPr/>
        </p:nvSpPr>
        <p:spPr>
          <a:xfrm>
            <a:off x="548640" y="1005840"/>
            <a:ext cx="5486400" cy="1554480"/>
          </a:xfrm>
          <a:prstGeom prst="rect">
            <a:avLst/>
          </a:prstGeom>
          <a:noFill/>
          <a:ln/>
        </p:spPr>
        <p:txBody>
          <a:bodyPr wrap="square" lIns="0" tIns="0" rIns="0" bIns="0" rtlCol="0" anchor="b"/>
          <a:lstStyle/>
          <a:p>
            <a:pPr indent="0" marL="0">
              <a:buNone/>
            </a:pPr>
            <a:r>
              <a:rPr lang="en-US" sz="4800" dirty="0">
                <a:solidFill>
                  <a:srgbClr val="FFFFFF"/>
                </a:solidFill>
                <a:latin typeface="Cambria" pitchFamily="34" charset="0"/>
                <a:ea typeface="Cambria" pitchFamily="34" charset="-122"/>
                <a:cs typeface="Cambria" pitchFamily="34" charset="-120"/>
              </a:rPr>
              <a:t>The cloud is not in the sky.</a:t>
            </a:r>
            <a:endParaRPr lang="en-US" sz="4800" dirty="0"/>
          </a:p>
        </p:txBody>
      </p:sp>
      <p:sp>
        <p:nvSpPr>
          <p:cNvPr id="5" name="title"/>
          <p:cNvSpPr txBox="1"/>
          <p:nvPr/>
        </p:nvSpPr>
        <p:spPr>
          <a:xfrm>
            <a:off x="548640" y="2697480"/>
            <a:ext cx="5486400" cy="548640"/>
          </a:xfrm>
          <a:prstGeom prst="rect">
            <a:avLst/>
          </a:prstGeom>
          <a:noFill/>
          <a:ln/>
        </p:spPr>
        <p:txBody>
          <a:bodyPr wrap="square" lIns="0" tIns="0" rIns="0" bIns="0" rtlCol="0" anchor="ctr"/>
          <a:lstStyle/>
          <a:p>
            <a:pPr indent="0" marL="0">
              <a:buNone/>
            </a:pPr>
            <a:r>
              <a:rPr lang="en-US" sz="2800" i="1" dirty="0">
                <a:solidFill>
                  <a:srgbClr val="F2A33A"/>
                </a:solidFill>
                <a:latin typeface="Cambria" pitchFamily="34" charset="0"/>
                <a:ea typeface="Cambria" pitchFamily="34" charset="-122"/>
                <a:cs typeface="Cambria" pitchFamily="34" charset="-120"/>
              </a:rPr>
              <a:t>It is next door, in the Sharon.</a:t>
            </a:r>
            <a:endParaRPr lang="en-US" sz="2800" dirty="0"/>
          </a:p>
        </p:txBody>
      </p:sp>
      <p:sp>
        <p:nvSpPr>
          <p:cNvPr id="6" name="body"/>
          <p:cNvSpPr txBox="1"/>
          <p:nvPr/>
        </p:nvSpPr>
        <p:spPr>
          <a:xfrm>
            <a:off x="548640" y="3611880"/>
            <a:ext cx="5486400" cy="868680"/>
          </a:xfrm>
          <a:prstGeom prst="rect">
            <a:avLst/>
          </a:prstGeom>
          <a:noFill/>
          <a:ln/>
        </p:spPr>
        <p:txBody>
          <a:bodyPr wrap="square" lIns="0" tIns="0" rIns="0" bIns="0" rtlCol="0" anchor="t"/>
          <a:lstStyle/>
          <a:p>
            <a:pPr indent="0" marL="0">
              <a:buNone/>
            </a:pPr>
            <a:r>
              <a:rPr lang="en-US" sz="2400" dirty="0">
                <a:solidFill>
                  <a:srgbClr val="D3DEE6"/>
                </a:solidFill>
                <a:latin typeface="Calibri" pitchFamily="34" charset="0"/>
                <a:ea typeface="Calibri" pitchFamily="34" charset="-122"/>
                <a:cs typeface="Calibri" pitchFamily="34" charset="-120"/>
              </a:rPr>
              <a:t>Ask two questions:</a:t>
            </a:r>
            <a:endParaRPr lang="en-US" sz="2400" dirty="0"/>
          </a:p>
          <a:p>
            <a:pPr indent="0" marL="0">
              <a:buNone/>
            </a:pPr>
            <a:r>
              <a:rPr lang="en-US" sz="2400" b="1" dirty="0">
                <a:solidFill>
                  <a:srgbClr val="FFFFFF"/>
                </a:solidFill>
                <a:latin typeface="Calibri" pitchFamily="34" charset="0"/>
                <a:ea typeface="Calibri" pitchFamily="34" charset="-122"/>
                <a:cs typeface="Calibri" pitchFamily="34" charset="-120"/>
              </a:rPr>
              <a:t>Who decides? Who pays?</a:t>
            </a:r>
            <a:endParaRPr lang="en-US" sz="2400" dirty="0"/>
          </a:p>
        </p:txBody>
      </p:sp>
      <p:sp>
        <p:nvSpPr>
          <p:cNvPr id="7" name="body"/>
          <p:cNvSpPr txBox="1"/>
          <p:nvPr/>
        </p:nvSpPr>
        <p:spPr>
          <a:xfrm>
            <a:off x="548640" y="4663440"/>
            <a:ext cx="5486400" cy="457200"/>
          </a:xfrm>
          <a:prstGeom prst="rect">
            <a:avLst/>
          </a:prstGeom>
          <a:noFill/>
          <a:ln/>
        </p:spPr>
        <p:txBody>
          <a:bodyPr wrap="square" lIns="0" tIns="0" rIns="0" bIns="0" rtlCol="0" anchor="t"/>
          <a:lstStyle/>
          <a:p>
            <a:pPr indent="0" marL="0">
              <a:buNone/>
            </a:pPr>
            <a:r>
              <a:rPr lang="en-US" sz="2400" dirty="0">
                <a:solidFill>
                  <a:srgbClr val="D3DEE6"/>
                </a:solidFill>
                <a:latin typeface="Calibri" pitchFamily="34" charset="0"/>
                <a:ea typeface="Calibri" pitchFamily="34" charset="-122"/>
                <a:cs typeface="Calibri" pitchFamily="34" charset="-120"/>
              </a:rPr>
              <a:t>Real </a:t>
            </a:r>
            <a:r>
              <a:rPr lang="en-US" sz="2400" b="1" dirty="0">
                <a:solidFill>
                  <a:srgbClr val="FFFFFF"/>
                </a:solidFill>
                <a:latin typeface="Calibri" pitchFamily="34" charset="0"/>
                <a:ea typeface="Calibri" pitchFamily="34" charset="-122"/>
                <a:cs typeface="Calibri" pitchFamily="34" charset="-120"/>
              </a:rPr>
              <a:t>sustainability</a:t>
            </a:r>
            <a:r>
              <a:rPr lang="en-US" sz="2400" dirty="0">
                <a:solidFill>
                  <a:srgbClr val="D3DEE6"/>
                </a:solidFill>
                <a:latin typeface="Calibri" pitchFamily="34" charset="0"/>
                <a:ea typeface="Calibri" pitchFamily="34" charset="-122"/>
                <a:cs typeface="Calibri" pitchFamily="34" charset="-120"/>
              </a:rPr>
              <a:t> includes </a:t>
            </a:r>
            <a:r>
              <a:rPr lang="en-US" sz="2400" b="1" dirty="0">
                <a:solidFill>
                  <a:srgbClr val="FFFFFF"/>
                </a:solidFill>
                <a:latin typeface="Calibri" pitchFamily="34" charset="0"/>
                <a:ea typeface="Calibri" pitchFamily="34" charset="-122"/>
                <a:cs typeface="Calibri" pitchFamily="34" charset="-120"/>
              </a:rPr>
              <a:t>social justice</a:t>
            </a:r>
            <a:endParaRPr lang="en-US" sz="2400" dirty="0"/>
          </a:p>
        </p:txBody>
      </p:sp>
      <p:sp>
        <p:nvSpPr>
          <p:cNvPr id="8" name="body"/>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2000" dirty="0">
                <a:solidFill>
                  <a:srgbClr val="8FA6B8"/>
                </a:solidFill>
                <a:latin typeface="Calibri" pitchFamily="34" charset="0"/>
                <a:ea typeface="Calibri" pitchFamily="34" charset="-122"/>
                <a:cs typeface="Calibri" pitchFamily="34" charset="-120"/>
              </a:rPr>
              <a:t>Thank you!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Water &amp; Power: Who Pays?</dc:title>
  <dc:subject>PptxGenJS Presentation</dc:subject>
  <dc:creator>PptxGenJS</dc:creator>
  <cp:lastModifiedBy>PptxGenJS</cp:lastModifiedBy>
  <cp:revision>1</cp:revision>
  <dcterms:created xsi:type="dcterms:W3CDTF">2026-09-28T06:23:59Z</dcterms:created>
  <dcterms:modified xsi:type="dcterms:W3CDTF">2026-09-28T06:23:59Z</dcterms:modified>
</cp:coreProperties>
</file>